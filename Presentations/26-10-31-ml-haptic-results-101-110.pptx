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1d80f9b-e76c-6bcf-f516-e1e5fa99ea97}">
          <p14:sldIdLst>
            <p14:sldId id="256"/>
            <p14:sldId id="257"/>
            <p14:sldId id="258"/>
          </p14:sldIdLst>
        </p14:section>
        <p14:section name="Definitions" id="{d76d8f0a-8450-ee66-254a-8111afa32a7b}">
          <p14:sldIdLst>
            <p14:sldId id="259"/>
            <p14:sldId id="260"/>
            <p14:sldId id="261"/>
          </p14:sldIdLst>
        </p14:section>
        <p14:section name="Data and methods" id="{2886ba33-68f8-6582-5597-bd869ebf2e5c}">
          <p14:sldIdLst>
            <p14:sldId id="262"/>
            <p14:sldId id="263"/>
            <p14:sldId id="264"/>
            <p14:sldId id="265"/>
            <p14:sldId id="266"/>
            <p14:sldId id="267"/>
          </p14:sldIdLst>
        </p14:section>
        <p14:section name="How people cross" id="{393d6359-e9c5-26fe-032b-72bcd6e6601f}">
          <p14:sldIdLst>
            <p14:sldId id="268"/>
            <p14:sldId id="269"/>
            <p14:sldId id="270"/>
            <p14:sldId id="271"/>
          </p14:sldIdLst>
        </p14:section>
        <p14:section name="Recognising the obstacle" id="{59442eaa-4859-faf4-7a6d-79a719379c2a}">
          <p14:sldIdLst>
            <p14:sldId id="272"/>
            <p14:sldId id="273"/>
            <p14:sldId id="274"/>
            <p14:sldId id="275"/>
            <p14:sldId id="276"/>
            <p14:sldId id="277"/>
            <p14:sldId id="278"/>
            <p14:sldId id="279"/>
            <p14:sldId id="280"/>
            <p14:sldId id="281"/>
          </p14:sldIdLst>
        </p14:section>
        <p14:section name="Device and haptic cue" id="{f4728c17-15f1-1749-18e2-58daba8b1d42}">
          <p14:sldIdLst>
            <p14:sldId id="282"/>
            <p14:sldId id="283"/>
            <p14:sldId id="284"/>
            <p14:sldId id="285"/>
            <p14:sldId id="286"/>
            <p14:sldId id="287"/>
            <p14:sldId id="288"/>
          </p14:sldIdLst>
        </p14:section>
        <p14:section name="Discussion" id="{af1f59b5-e834-3163-13bd-8c801784acb7}">
          <p14:sldIdLst>
            <p14:sldId id="289"/>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Machine-learning, biomechanics and haptic-cue results of the obstacle-crossing study (Tests 101-110). All analyses and all figures are MATLAB (Analysis/ML/crossing_ml_*.m; figures drawn by crossing_ml_figures.m in the step 9 plot template). Every accuracy is for a participant the model never saw. Full details: the ML and haptic report (Reports/26-10-31-ml-haptic-report).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mm: mixed model, leading 10.1 and trailing 11.1 mm of foot lift per cm of obstacle; the camera clearance margin does not change significantly. 92 %: two foot IMUs, person scaling, random-forest vote of the leading and trailing models (95 % CI 87-96). 0.45 s: median time from the leading-foot apex to the trailing toe lift-off (camera). Width: 54-66 % with every input and model; even the camera foot placement gives 57.6 %.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results follow the four research questions: how people cross (Q1), can wearables recognise the obstacle (Q2), what would a device need (Q3), and when and how to give a haptic cue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the vocabulary of the deck. Every number later uses these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 trailing limb: the role is per crossing, from the camera (the IMU pipeline recovers it in 100 % of detected crossings). Obstacle height is set per participant from the measured leg length, so H1-H3 are about 9 / 18 / 27 cm. Balanced accuracy averages the hit rate of each class, so unequal class sizes cannot inflate it. 95 % confidence intervals resample the 10 participants (2000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Medians over 260 crossings, relative to the camera trailing toe lift-off. Leading foot apex IQR -517 to -350 ms; leading landing IQR -300 to -33 ms. The step-4 trailing toe-off event of the IMU pipeline comes +233 ms after the camera lift-off (the toe leaves the floor first). Crossing detection from the leading thigh or foot works from 10-30 % of the leading swing, 0.57-0.71 s before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the dataset, the inputs of the models, the evaluation rule and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built by Analysis/ML/build_crossing_master.m from the processing pipeline (steps 1-9): Crossing_Master_YoungAdults.csv, 349 rows x 193 columns, plus the swing-curve file and the time-aligned file. include_ml = gait events present, Dot data present, no data-quality flag and a valid camera trajectory. Lengths are divided by the leg length in the generic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features are named &lt;limb&gt;_&lt;segment&gt;_&lt;measure&gt;, e.g. lead_thigh_max, trail_zhc_peak_foot_h. ZHC = zero-velocity-update foot trajectory (height and forward progression of the foot sensor). The two toe-height columns are excluded because their sensor-to-toe vector was fitted with the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LOPO: 10 folds, each participant tested once by a model trained on the other nine. Balanced accuracy = mean recall over the classes. Participant bootstrap: 2000 resamples of the 10 participants, accuracy recomputed on the pooled predictions. Permutation test: labels shuffled within participant (keeps each person's class counts), 300-1000 permutations; p &lt;= 0.003 for the main results. Nested selection: the setting (feature set x scaling x model) is chosen inside the nine training participants of each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each feature minus the person's median level-walk value; mm features divided by the leg length (mm). Person scaling: per participant, (x - median) / IQR over that person's obstacle crossings (linear-interpolation quantiles), no height or width labels used. In real time a causal version uses only the earlier crossings of the session. 56-62 % = generic models (logistic regression and random forest); 90 % = person-scaled random-forest vote of both legs (95 % CI 85-95).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median imputation, z-score, L2 penalty with the scikit-learn objective (checked against Python: identical to rounding). Random forest: MATLAB TreeBagger, sqrt(p) predictors per split, uniform class prior. Soft vote: the leading- and trailing-limb models are trained separately, their class probabilities averaged. CNN: conv 5x16 - conv 5x32 - global average pooling - dropout - softmax, 60 epochs, 3 seeds. Offset model: ridge score plus a posterior-mean personal offset. Threshold rules: two ordered thresholds on one signal at one moment, chosen on the training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biomechanics behind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panels: Dot foot lift against the nominal obstacle height, one line per participant; panel titles give the median per-participant slope (10.5 / 11.3 mm per cm). The mixed model with a random slope per participant gives 10.1 (leading) and 11.1 mm (trailing) per cm. Bottom left: one slope per participant, dashed = one-to-one (10 mm per cm). Bottom right: first-crossing effect +11.7 mm (95 % CI +4.7 to +19.9), no trend afterwards; the trailing foot shows no such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Within-person effect size (eta squared) of obstacle height (left) and width (right) at every 2 % of the swing, for the six Dot swing signals of the leading (top, blue) and trailing (bottom, orange) leg; each participant's mean curve removed first. Dashed line = median foot apex. Leading thigh tilt peaks at eta squared 0.47 (60 % of swing).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for each of the 110 Dot features, the share of variance explained by the participant, by the obstacle height and by the height within each participant; the person explains more than the height in 99 of 110 features. Right: t-SNE of all crossings. Raw features cluster by participant (silhouette 0.48); after person scaling they order by height (silhouette 0.26). Participant identification: logistic model, 5-fold, 99.2 % balanced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Q2, recognition of obstacle height and width from the Dot data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logistic regression (generic 62 / 49 / 56 %, person scaling 80 / 78 / 81 % for leading / trailing / fusion). The best setting, the person-scaled random-forest vote of both legs, gives 90.0 % (85-95). Width stays near chance with every setting. Leading or trailing limb from one swing and obstacle vs level stride: 100 %.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on level-walk-calibrated features, one model per feature set; black tick = 95th percentile of the permutation null (labels shuffled within participant, 300 permutations). Height: leading only 62.1 %, all 53.7 %, trailing only 49.1 %. Width: 46-59 %.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 true class, cell = share of the row and number of crossings. Height, all features: H1 62 % right, H2 39 %, H3 60 %. Leading leg only: 72 / 50 / 65 %. This is the signature of a personal offset: each person's whole H1-H2-H3 ladder is shifted, so the middle level is confused with both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on level-walk-calibrated features, each participant tested unseen. With person scaling the per-participant accuracy is 83-100 % for nine participants and 73 % for participant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bar = all participants with 95 % CI, diamond = worst participant; grey = generic, light purple = ranks the person's own crossings, purple = person scaling. Right: generic leading-limb model plus k labelled crossings per height from the new person. Nested selection over 36 settings chose the person-scaled forest vote in every fold. An eight-model soft-vote ensemble reaches 91.5 %.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random forest with person scaling, one model per feature set (shank: trailing 78.2 vs leading 49.8 %). Right: leading-limb data available up to each moment; generic (grey) stays at 41-65 %, person scaling (purple) reaches 80.5 % at 50 % of the leading swing and 85.8 % at the leading landing (0.2 s before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logistic regression on the leading-limb data up to each % of its swing, with the median crossing events. Right: each participant predicted by a model trained on n random other participants (40 draws per n). The limit of the generic model is the difference between people, not the amount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ridge regression left out one height level at a time; the extremes are extrapolated with a bias of about half a step (+4.0 and -5.7 cm); the forest cannot extrapolate. V3: crossing-to-crossing clearance is set mainly by how high the toe goes (camera toe peak 35 / 34 % of the variance), the IMU foot lift explains 20 / 12 %. V4: permutation importance of the feature groups. V5: Brier score 0.18 (person scaling) vs 0.51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side-to-side motion (frontal tilt and heading of thigh, shank and foot) does not carry width either: out-of-plane models reach 53-54 %. The width limit is behavioural: within 5-15 cm, people barely change how they 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Q3 (what would a device need) and Q4 (when and how to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Sensors: thigh pair 80.4 %, shank pair 79.4 %, one foot 82.9 % (right) / 90.9 % (left). Calibration: offset model with one labelled crossing of any height 80.3 %, one per height 87.8 %; person scaling from 10 / 15 random unlabelled crossings 81.2 / 85.1 %, from the first 5-15 crossings of a blocked session 60-68 % (they cover only one or two heights). Confidence: 98.3 % right at p &gt;= 0.8 (46 %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Crossings are detected from the foot-sensor strides (peak height and length), the two legs paired by timing, and the height classified with the person-scaled forest. Scaled to the person's walking only, height drops to 53 %. Causal scaling (only earlier crossings) improves with use: 65 % all correct after 5 crossings, 77 % after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Mixed order simulated by shuffling the recorded crossings (30 orders). Real-time cue: crossing detected online at the leading-foot apex (0.45 s before the deadline) or landing (0.2 s), height decided with the causal person scaling. Detection 99.0 %, about 3 false detections per session. Participant 108 has the least consistent trailing lift (d' 0.9) and the lowest accuracy (73 %).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Person-centred thresholds learned on 9 participants and tested on the 10th, at every 60 Hz sample around the trailing toe lift-off. 72 % = nested choice of the moment and thresholds (the per-sample curve peaks at 77 %). Grey band = last 300 ms before the deadline; dotted line = the step-4 trailing toe-off event of the IMU pipeline (+233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Curves: mean of the 10 participant means, relative to the person's normal walking. Numbers: mean peak of each crossing per height (haptic report, H4); the curves average first, so their peaks are a little lower. Per cm of obstacle: leading thigh +0.95 deg, leading foot +8.6 mm, trailing shank -1.3 deg, trailing foot +10.9 mm; crossing-to-crossing SD 6.6 deg, 48 mm, 5.6 deg and 36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rule (nested, unseen participants): leading thigh &gt;= +5.6 deg above normal walking at 30 % of the leading swing: 97 % sensitivity, 98 % specificity; leading foot &gt;= +18.6 mm: 99 / 98 %; the earliest usable moments are 10 % / 4 % of the leading swing (-682 / -713 ms). Grading: person-centred thresholds on the leading-foot apex height 73.4 % (-479 ms), leading thigh 63.9 % (-345 ms); thresholds referenced only to normal walking reach 45-52 %. Cue reliability: virtual real-time cue with p &gt;= 0.6, 79.1 % (apex) and 81.7 % (landing) of the given cues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interpretation, recommendations for the haptic cue, limitations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result follows from the biomechanics: the obstacle changes how much the foot is lifted, by about the same amount for everybody, but the starting level differs between people by about two thirds of the step between two heights. A model that has never seen the person cannot know that offset; the person's own crossings reveal it without labels, which a worn device collects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reaction time to a vibration was not measured. About 0.45 s remain after a cue at the leading apex (0.35 s for a quarter of the crossings); a simple reaction takes about 0.2 s in young adults and longer in older adults. If it is too long, the earlier crossing detection can trigger a generic "obstacle" warning, followed by the height-specific cue at the apex. A "lift more" feedback could target the person's mean lift for the predicted height, with an alarm one to two crossing-to-crossing SDs below it (untested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Clearance: within a participant x obstacle cell the toe clearance varies with an SD of 37 mm (leading) and 71 mm (trailing); it depends mainly on how high the toe goes, which the foot sensor tracks only partly. Absolute clearance error from the IMU 39 / 65 mm vs 49 / 88 mm for a constant and 34 / 55 mm from the camera toe peak. The step-4 trailing toe-off event comes about 0.23 s after the toe leaves the floor; all timing uses the camera lift-off.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build_crossing_master.m builds the dataset; the nine crossing_ml_*.m scripts write the reports and save the numbers behind their figures; crossing_ml_figures.m draws all 19 figures in the step 9 template. A full rerun takes about an hour and reproduces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take-home messages and the cue design in one line each. Questions welcome; the report has every method, formula and table behind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58952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03320"/>
            <a:ext cx="758952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66160"/>
            <a:ext cx="731520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rtlCol="0"/>
          <a:lstStyle>
            <a:lvl1pPr algn="l" indent="0" marL="0">
              <a:buNone/>
              <a:defRPr lang="en-US" sz="1700" dirty="0">
                <a:solidFill>
                  <a:schemeClr val="tx1"/>
                </a:solidFill>
              </a:defRPr>
            </a:lvl1pPr>
          </a:lstStyle>
          <a:p>
            <a:pPr algn="l" indent="0" marL="0">
              <a:buNone/>
            </a:pPr>
            <a:endParaRPr lang="en-US" sz="17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Obstacle crossing with wearable IMUs  ·  ML and haptic-cue results  ·  n = 10 young adults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4.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4.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5.xml"/><Relationship Id="rId7"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589520" cy="2194560"/>
          </a:xfrm>
          <a:prstGeom prst="rect">
            <a:avLst/>
          </a:prstGeom>
          <a:noFill/>
          <a:ln/>
        </p:spPr>
        <p:txBody>
          <a:bodyPr wrap="square" lIns="0" tIns="0" rIns="0" bIns="0" rtlCol="0" anchor="b"/>
          <a:lstStyle/>
          <a:p>
            <a:pPr algn="l" indent="0" marL="0">
              <a:buNone/>
            </a:pPr>
            <a:r>
              <a:rPr lang="en-US" sz="4000" b="1" dirty="0">
                <a:solidFill>
                  <a:schemeClr val="bg1"/>
                </a:solidFill>
              </a:rPr>
              <a:t>Obstacle crossing with wearable IMUs</a:t>
            </a:r>
            <a:endParaRPr lang="en-US" sz="4000" dirty="0"/>
          </a:p>
        </p:txBody>
      </p:sp>
      <p:sp>
        <p:nvSpPr>
          <p:cNvPr id="3" name="Text 0"/>
          <p:cNvSpPr/>
          <p:nvPr>
            <p:ph idx="101" type="body" hasCustomPrompt="1"/>
          </p:nvPr>
        </p:nvSpPr>
        <p:spPr>
          <a:xfrm>
            <a:off x="731520" y="3703320"/>
            <a:ext cx="7589520" cy="1188720"/>
          </a:xfrm>
          <a:prstGeom prst="rect">
            <a:avLst/>
          </a:prstGeom>
          <a:noFill/>
          <a:ln/>
        </p:spPr>
        <p:txBody>
          <a:bodyPr wrap="square" lIns="0" tIns="0" rIns="0" bIns="0" rtlCol="0" anchor="t"/>
          <a:lstStyle/>
          <a:p>
            <a:pPr algn="l" indent="0" marL="0">
              <a:buNone/>
            </a:pPr>
            <a:r>
              <a:rPr lang="en-US" sz="2000" dirty="0">
                <a:solidFill>
                  <a:schemeClr val="bg2"/>
                </a:solidFill>
              </a:rPr>
              <a:t>What the sensors see, how well a model recognises the obstacle, and when to cue</a:t>
            </a:r>
            <a:endParaRPr lang="en-US" sz="2000" dirty="0"/>
          </a:p>
          <a:p>
            <a:pPr algn="l" indent="0" marL="0">
              <a:buNone/>
            </a:pPr>
            <a:r>
              <a:rPr lang="en-US" sz="2000" dirty="0">
                <a:solidFill>
                  <a:schemeClr val="bg2"/>
                </a:solidFill>
              </a:rPr>
              <a:t>Machine learning and haptic-cue design  ·  10 young adults  ·  Tests 101–110</a:t>
            </a:r>
            <a:endParaRPr lang="en-US" sz="2000" dirty="0"/>
          </a:p>
        </p:txBody>
      </p:sp>
      <p:sp>
        <p:nvSpPr>
          <p:cNvPr id="4" name="presenter"/>
          <p:cNvSpPr txBox="1"/>
          <p:nvPr/>
        </p:nvSpPr>
        <p:spPr>
          <a:xfrm>
            <a:off x="731520" y="5303520"/>
            <a:ext cx="7315200" cy="365760"/>
          </a:xfrm>
          <a:prstGeom prst="rect">
            <a:avLst/>
          </a:prstGeom>
          <a:noFill/>
          <a:ln/>
        </p:spPr>
        <p:txBody>
          <a:bodyPr wrap="square" lIns="0" tIns="0" rIns="0" bIns="0" rtlCol="0" anchor="t"/>
          <a:lstStyle/>
          <a:p>
            <a:pPr indent="0" marL="0">
              <a:buNone/>
            </a:pPr>
            <a:r>
              <a:rPr lang="en-US" sz="1400" dirty="0">
                <a:solidFill>
                  <a:schemeClr val="bg2"/>
                </a:solidFill>
              </a:rPr>
              <a:t>Ehsan Sharafian  ·  31 October 2026</a:t>
            </a:r>
            <a:endParaRPr lang="en-US" sz="1400" dirty="0"/>
          </a:p>
        </p:txBody>
      </p:sp>
      <p:sp>
        <p:nvSpPr>
          <p:cNvPr id="5" name="title foot circle"/>
          <p:cNvSpPr/>
          <p:nvPr/>
        </p:nvSpPr>
        <p:spPr>
          <a:xfrm>
            <a:off x="8778240" y="1188720"/>
            <a:ext cx="2468880" cy="2468880"/>
          </a:xfrm>
          <a:prstGeom prst="ellipse">
            <a:avLst/>
          </a:prstGeom>
          <a:solidFill>
            <a:schemeClr val="accent1"/>
          </a:solidFill>
          <a:ln/>
        </p:spPr>
      </p:sp>
      <p:pic>
        <p:nvPicPr>
          <p:cNvPr id="6" name="title foot icon" descr="preencoded.png">    </p:cNvPr>
          <p:cNvPicPr>
            <a:picLocks noChangeAspect="1"/>
          </p:cNvPicPr>
          <p:nvPr/>
        </p:nvPicPr>
        <p:blipFill>
          <a:blip r:embed="rId1"/>
          <a:stretch>
            <a:fillRect/>
          </a:stretch>
        </p:blipFill>
        <p:spPr>
          <a:xfrm>
            <a:off x="9370771" y="1781251"/>
            <a:ext cx="1283818" cy="1283818"/>
          </a:xfrm>
          <a:prstGeom prst="rect">
            <a:avLst/>
          </a:prstGeom>
        </p:spPr>
      </p:pic>
      <p:sp>
        <p:nvSpPr>
          <p:cNvPr id="7" name="title watch circle"/>
          <p:cNvSpPr/>
          <p:nvPr/>
        </p:nvSpPr>
        <p:spPr>
          <a:xfrm>
            <a:off x="8229600" y="3977640"/>
            <a:ext cx="1280160" cy="1280160"/>
          </a:xfrm>
          <a:prstGeom prst="ellipse">
            <a:avLst/>
          </a:prstGeom>
          <a:solidFill>
            <a:schemeClr val="accent2"/>
          </a:solidFill>
          <a:ln/>
        </p:spPr>
      </p:sp>
      <p:pic>
        <p:nvPicPr>
          <p:cNvPr id="8" name="title watch icon" descr="preencoded.png">    </p:cNvPr>
          <p:cNvPicPr>
            <a:picLocks noChangeAspect="1"/>
          </p:cNvPicPr>
          <p:nvPr/>
        </p:nvPicPr>
        <p:blipFill>
          <a:blip r:embed="rId2"/>
          <a:stretch>
            <a:fillRect/>
          </a:stretch>
        </p:blipFill>
        <p:spPr>
          <a:xfrm>
            <a:off x="8536838" y="4284878"/>
            <a:ext cx="665683" cy="665683"/>
          </a:xfrm>
          <a:prstGeom prst="rect">
            <a:avLst/>
          </a:prstGeom>
        </p:spPr>
      </p:pic>
      <p:sp>
        <p:nvSpPr>
          <p:cNvPr id="9" name="title bell circle"/>
          <p:cNvSpPr/>
          <p:nvPr/>
        </p:nvSpPr>
        <p:spPr>
          <a:xfrm>
            <a:off x="9875520" y="4343400"/>
            <a:ext cx="960120" cy="960120"/>
          </a:xfrm>
          <a:prstGeom prst="ellipse">
            <a:avLst/>
          </a:prstGeom>
          <a:solidFill>
            <a:schemeClr val="accent3"/>
          </a:solidFill>
          <a:ln/>
        </p:spPr>
      </p:sp>
      <p:pic>
        <p:nvPicPr>
          <p:cNvPr id="10" name="title bell icon" descr="preencoded.png">    </p:cNvPr>
          <p:cNvPicPr>
            <a:picLocks noChangeAspect="1"/>
          </p:cNvPicPr>
          <p:nvPr/>
        </p:nvPicPr>
        <p:blipFill>
          <a:blip r:embed="rId3"/>
          <a:stretch>
            <a:fillRect/>
          </a:stretch>
        </p:blipFill>
        <p:spPr>
          <a:xfrm>
            <a:off x="10105949" y="4573829"/>
            <a:ext cx="499262" cy="4992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The answer in brief</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Obstacle height is readable from two foot IMUs once the device knows the person; obstacle width is not.</a:t>
            </a:r>
            <a:endParaRPr lang="en-US" sz="1700" dirty="0"/>
          </a:p>
        </p:txBody>
      </p:sp>
      <p:sp>
        <p:nvSpPr>
          <p:cNvPr id="4" name="message card 1"/>
          <p:cNvSpPr/>
          <p:nvPr/>
        </p:nvSpPr>
        <p:spPr>
          <a:xfrm>
            <a:off x="548640" y="1691640"/>
            <a:ext cx="2560320" cy="3200400"/>
          </a:xfrm>
          <a:prstGeom prst="roundRect">
            <a:avLst>
              <a:gd name="adj" fmla="val 3571"/>
            </a:avLst>
          </a:prstGeom>
          <a:solidFill>
            <a:schemeClr val="bg2"/>
          </a:solidFill>
          <a:ln/>
        </p:spPr>
      </p:sp>
      <p:sp>
        <p:nvSpPr>
          <p:cNvPr id="5" name="message 1 circle"/>
          <p:cNvSpPr/>
          <p:nvPr/>
        </p:nvSpPr>
        <p:spPr>
          <a:xfrm>
            <a:off x="822960" y="1920240"/>
            <a:ext cx="685800" cy="685800"/>
          </a:xfrm>
          <a:prstGeom prst="ellipse">
            <a:avLst/>
          </a:prstGeom>
          <a:solidFill>
            <a:schemeClr val="accent1"/>
          </a:solidFill>
          <a:ln/>
        </p:spPr>
      </p:sp>
      <p:pic>
        <p:nvPicPr>
          <p:cNvPr id="6" name="message 1 icon" descr="preencoded.png">    </p:cNvPr>
          <p:cNvPicPr>
            <a:picLocks noChangeAspect="1"/>
          </p:cNvPicPr>
          <p:nvPr/>
        </p:nvPicPr>
        <p:blipFill>
          <a:blip r:embed="rId1"/>
          <a:stretch>
            <a:fillRect/>
          </a:stretch>
        </p:blipFill>
        <p:spPr>
          <a:xfrm>
            <a:off x="987552" y="2084832"/>
            <a:ext cx="356616" cy="356616"/>
          </a:xfrm>
          <a:prstGeom prst="rect">
            <a:avLst/>
          </a:prstGeom>
        </p:spPr>
      </p:pic>
      <p:sp>
        <p:nvSpPr>
          <p:cNvPr id="7" name="message value 1"/>
          <p:cNvSpPr txBox="1"/>
          <p:nvPr/>
        </p:nvSpPr>
        <p:spPr>
          <a:xfrm>
            <a:off x="822960" y="2743200"/>
            <a:ext cx="2103120" cy="640080"/>
          </a:xfrm>
          <a:prstGeom prst="rect">
            <a:avLst/>
          </a:prstGeom>
          <a:noFill/>
          <a:ln/>
        </p:spPr>
        <p:txBody>
          <a:bodyPr wrap="square" lIns="0" tIns="0" rIns="0" bIns="0" rtlCol="0" anchor="b"/>
          <a:lstStyle/>
          <a:p>
            <a:pPr indent="0" marL="0">
              <a:buNone/>
            </a:pPr>
            <a:r>
              <a:rPr lang="en-US" sz="3600" b="1" dirty="0">
                <a:solidFill>
                  <a:schemeClr val="accent1"/>
                </a:solidFill>
              </a:rPr>
              <a:t>+10 mm</a:t>
            </a:r>
            <a:endParaRPr lang="en-US" sz="3600" dirty="0"/>
          </a:p>
        </p:txBody>
      </p:sp>
      <p:sp>
        <p:nvSpPr>
          <p:cNvPr id="8" name="message label 1"/>
          <p:cNvSpPr txBox="1"/>
          <p:nvPr/>
        </p:nvSpPr>
        <p:spPr>
          <a:xfrm>
            <a:off x="822960" y="3456432"/>
            <a:ext cx="2103120" cy="1325880"/>
          </a:xfrm>
          <a:prstGeom prst="rect">
            <a:avLst/>
          </a:prstGeom>
          <a:noFill/>
          <a:ln/>
        </p:spPr>
        <p:txBody>
          <a:bodyPr wrap="square" lIns="0" tIns="0" rIns="0" bIns="0" rtlCol="0" anchor="t"/>
          <a:lstStyle/>
          <a:p>
            <a:pPr indent="0" marL="0">
              <a:buNone/>
            </a:pPr>
            <a:r>
              <a:rPr lang="en-US" sz="1400" dirty="0">
                <a:solidFill>
                  <a:schemeClr val="tx1"/>
                </a:solidFill>
              </a:rPr>
              <a:t>more foot lift per cm of obstacle; the clearance margin stays about constant</a:t>
            </a:r>
            <a:endParaRPr lang="en-US" sz="1400" dirty="0"/>
          </a:p>
        </p:txBody>
      </p:sp>
      <p:sp>
        <p:nvSpPr>
          <p:cNvPr id="9" name="message card 2"/>
          <p:cNvSpPr/>
          <p:nvPr/>
        </p:nvSpPr>
        <p:spPr>
          <a:xfrm>
            <a:off x="3392424" y="1691640"/>
            <a:ext cx="2560320" cy="3200400"/>
          </a:xfrm>
          <a:prstGeom prst="roundRect">
            <a:avLst>
              <a:gd name="adj" fmla="val 3571"/>
            </a:avLst>
          </a:prstGeom>
          <a:solidFill>
            <a:schemeClr val="bg2"/>
          </a:solidFill>
          <a:ln/>
        </p:spPr>
      </p:sp>
      <p:sp>
        <p:nvSpPr>
          <p:cNvPr id="10" name="message 2 circle"/>
          <p:cNvSpPr/>
          <p:nvPr/>
        </p:nvSpPr>
        <p:spPr>
          <a:xfrm>
            <a:off x="3666744" y="1920240"/>
            <a:ext cx="685800" cy="685800"/>
          </a:xfrm>
          <a:prstGeom prst="ellipse">
            <a:avLst/>
          </a:prstGeom>
          <a:solidFill>
            <a:schemeClr val="accent4"/>
          </a:solidFill>
          <a:ln/>
        </p:spPr>
      </p:sp>
      <p:pic>
        <p:nvPicPr>
          <p:cNvPr id="11" name="message 2 icon" descr="preencoded.png">    </p:cNvPr>
          <p:cNvPicPr>
            <a:picLocks noChangeAspect="1"/>
          </p:cNvPicPr>
          <p:nvPr/>
        </p:nvPicPr>
        <p:blipFill>
          <a:blip r:embed="rId2"/>
          <a:stretch>
            <a:fillRect/>
          </a:stretch>
        </p:blipFill>
        <p:spPr>
          <a:xfrm>
            <a:off x="3831336" y="2084832"/>
            <a:ext cx="356616" cy="356616"/>
          </a:xfrm>
          <a:prstGeom prst="rect">
            <a:avLst/>
          </a:prstGeom>
        </p:spPr>
      </p:pic>
      <p:sp>
        <p:nvSpPr>
          <p:cNvPr id="12" name="message value 2"/>
          <p:cNvSpPr txBox="1"/>
          <p:nvPr/>
        </p:nvSpPr>
        <p:spPr>
          <a:xfrm>
            <a:off x="3666744" y="2743200"/>
            <a:ext cx="2103120" cy="640080"/>
          </a:xfrm>
          <a:prstGeom prst="rect">
            <a:avLst/>
          </a:prstGeom>
          <a:noFill/>
          <a:ln/>
        </p:spPr>
        <p:txBody>
          <a:bodyPr wrap="square" lIns="0" tIns="0" rIns="0" bIns="0" rtlCol="0" anchor="b"/>
          <a:lstStyle/>
          <a:p>
            <a:pPr indent="0" marL="0">
              <a:buNone/>
            </a:pPr>
            <a:r>
              <a:rPr lang="en-US" sz="3600" b="1" dirty="0">
                <a:solidFill>
                  <a:schemeClr val="accent4"/>
                </a:solidFill>
              </a:rPr>
              <a:t>92 %</a:t>
            </a:r>
            <a:endParaRPr lang="en-US" sz="3600" dirty="0"/>
          </a:p>
        </p:txBody>
      </p:sp>
      <p:sp>
        <p:nvSpPr>
          <p:cNvPr id="13" name="message label 2"/>
          <p:cNvSpPr txBox="1"/>
          <p:nvPr/>
        </p:nvSpPr>
        <p:spPr>
          <a:xfrm>
            <a:off x="3666744" y="3456432"/>
            <a:ext cx="2103120" cy="1325880"/>
          </a:xfrm>
          <a:prstGeom prst="rect">
            <a:avLst/>
          </a:prstGeom>
          <a:noFill/>
          <a:ln/>
        </p:spPr>
        <p:txBody>
          <a:bodyPr wrap="square" lIns="0" tIns="0" rIns="0" bIns="0" rtlCol="0" anchor="t"/>
          <a:lstStyle/>
          <a:p>
            <a:pPr indent="0" marL="0">
              <a:buNone/>
            </a:pPr>
            <a:r>
              <a:rPr lang="en-US" sz="1400" dirty="0">
                <a:solidFill>
                  <a:schemeClr val="tx1"/>
                </a:solidFill>
              </a:rPr>
              <a:t>obstacle height (3 levels) for a new person: two foot IMUs, scaled to their own crossings, no labels</a:t>
            </a:r>
            <a:endParaRPr lang="en-US" sz="1400" dirty="0"/>
          </a:p>
        </p:txBody>
      </p:sp>
      <p:sp>
        <p:nvSpPr>
          <p:cNvPr id="14" name="message card 3"/>
          <p:cNvSpPr/>
          <p:nvPr/>
        </p:nvSpPr>
        <p:spPr>
          <a:xfrm>
            <a:off x="6236208" y="1691640"/>
            <a:ext cx="2560320" cy="3200400"/>
          </a:xfrm>
          <a:prstGeom prst="roundRect">
            <a:avLst>
              <a:gd name="adj" fmla="val 3571"/>
            </a:avLst>
          </a:prstGeom>
          <a:solidFill>
            <a:schemeClr val="bg2"/>
          </a:solidFill>
          <a:ln/>
        </p:spPr>
      </p:sp>
      <p:sp>
        <p:nvSpPr>
          <p:cNvPr id="15" name="message 3 circle"/>
          <p:cNvSpPr/>
          <p:nvPr/>
        </p:nvSpPr>
        <p:spPr>
          <a:xfrm>
            <a:off x="6510528" y="1920240"/>
            <a:ext cx="685800" cy="685800"/>
          </a:xfrm>
          <a:prstGeom prst="ellipse">
            <a:avLst/>
          </a:prstGeom>
          <a:solidFill>
            <a:schemeClr val="accent2"/>
          </a:solidFill>
          <a:ln/>
        </p:spPr>
      </p:sp>
      <p:pic>
        <p:nvPicPr>
          <p:cNvPr id="16" name="message 3 icon" descr="preencoded.png">    </p:cNvPr>
          <p:cNvPicPr>
            <a:picLocks noChangeAspect="1"/>
          </p:cNvPicPr>
          <p:nvPr/>
        </p:nvPicPr>
        <p:blipFill>
          <a:blip r:embed="rId3"/>
          <a:stretch>
            <a:fillRect/>
          </a:stretch>
        </p:blipFill>
        <p:spPr>
          <a:xfrm>
            <a:off x="6675120" y="2084832"/>
            <a:ext cx="356616" cy="356616"/>
          </a:xfrm>
          <a:prstGeom prst="rect">
            <a:avLst/>
          </a:prstGeom>
        </p:spPr>
      </p:pic>
      <p:sp>
        <p:nvSpPr>
          <p:cNvPr id="17" name="message value 3"/>
          <p:cNvSpPr txBox="1"/>
          <p:nvPr/>
        </p:nvSpPr>
        <p:spPr>
          <a:xfrm>
            <a:off x="6510528" y="2743200"/>
            <a:ext cx="2103120" cy="640080"/>
          </a:xfrm>
          <a:prstGeom prst="rect">
            <a:avLst/>
          </a:prstGeom>
          <a:noFill/>
          <a:ln/>
        </p:spPr>
        <p:txBody>
          <a:bodyPr wrap="square" lIns="0" tIns="0" rIns="0" bIns="0" rtlCol="0" anchor="b"/>
          <a:lstStyle/>
          <a:p>
            <a:pPr indent="0" marL="0">
              <a:buNone/>
            </a:pPr>
            <a:r>
              <a:rPr lang="en-US" sz="3600" b="1" dirty="0">
                <a:solidFill>
                  <a:schemeClr val="accent2"/>
                </a:solidFill>
              </a:rPr>
              <a:t>0.45 s</a:t>
            </a:r>
            <a:endParaRPr lang="en-US" sz="3600" dirty="0"/>
          </a:p>
        </p:txBody>
      </p:sp>
      <p:sp>
        <p:nvSpPr>
          <p:cNvPr id="18" name="message label 3"/>
          <p:cNvSpPr txBox="1"/>
          <p:nvPr/>
        </p:nvSpPr>
        <p:spPr>
          <a:xfrm>
            <a:off x="6510528" y="3456432"/>
            <a:ext cx="2103120" cy="1325880"/>
          </a:xfrm>
          <a:prstGeom prst="rect">
            <a:avLst/>
          </a:prstGeom>
          <a:noFill/>
          <a:ln/>
        </p:spPr>
        <p:txBody>
          <a:bodyPr wrap="square" lIns="0" tIns="0" rIns="0" bIns="0" rtlCol="0" anchor="t"/>
          <a:lstStyle/>
          <a:p>
            <a:pPr indent="0" marL="0">
              <a:buNone/>
            </a:pPr>
            <a:r>
              <a:rPr lang="en-US" sz="1400" dirty="0">
                <a:solidFill>
                  <a:schemeClr val="tx1"/>
                </a:solidFill>
              </a:rPr>
              <a:t>warning time: height is known at the leading-foot apex, before the trailing toe lifts</a:t>
            </a:r>
            <a:endParaRPr lang="en-US" sz="1400" dirty="0"/>
          </a:p>
        </p:txBody>
      </p:sp>
      <p:sp>
        <p:nvSpPr>
          <p:cNvPr id="19" name="message card 4"/>
          <p:cNvSpPr/>
          <p:nvPr/>
        </p:nvSpPr>
        <p:spPr>
          <a:xfrm>
            <a:off x="9079992" y="1691640"/>
            <a:ext cx="2560320" cy="3200400"/>
          </a:xfrm>
          <a:prstGeom prst="roundRect">
            <a:avLst>
              <a:gd name="adj" fmla="val 3571"/>
            </a:avLst>
          </a:prstGeom>
          <a:solidFill>
            <a:schemeClr val="bg2"/>
          </a:solidFill>
          <a:ln/>
        </p:spPr>
      </p:sp>
      <p:sp>
        <p:nvSpPr>
          <p:cNvPr id="20" name="message 4 circle"/>
          <p:cNvSpPr/>
          <p:nvPr/>
        </p:nvSpPr>
        <p:spPr>
          <a:xfrm>
            <a:off x="9354312" y="1920240"/>
            <a:ext cx="685800" cy="685800"/>
          </a:xfrm>
          <a:prstGeom prst="ellipse">
            <a:avLst/>
          </a:prstGeom>
          <a:solidFill>
            <a:schemeClr val="accent6"/>
          </a:solidFill>
          <a:ln/>
        </p:spPr>
      </p:sp>
      <p:pic>
        <p:nvPicPr>
          <p:cNvPr id="21" name="message 4 icon" descr="preencoded.png">    </p:cNvPr>
          <p:cNvPicPr>
            <a:picLocks noChangeAspect="1"/>
          </p:cNvPicPr>
          <p:nvPr/>
        </p:nvPicPr>
        <p:blipFill>
          <a:blip r:embed="rId4"/>
          <a:stretch>
            <a:fillRect/>
          </a:stretch>
        </p:blipFill>
        <p:spPr>
          <a:xfrm>
            <a:off x="9518904" y="2084832"/>
            <a:ext cx="356616" cy="356616"/>
          </a:xfrm>
          <a:prstGeom prst="rect">
            <a:avLst/>
          </a:prstGeom>
        </p:spPr>
      </p:pic>
      <p:sp>
        <p:nvSpPr>
          <p:cNvPr id="22" name="message value 4"/>
          <p:cNvSpPr txBox="1"/>
          <p:nvPr/>
        </p:nvSpPr>
        <p:spPr>
          <a:xfrm>
            <a:off x="9354312" y="2743200"/>
            <a:ext cx="2103120" cy="640080"/>
          </a:xfrm>
          <a:prstGeom prst="rect">
            <a:avLst/>
          </a:prstGeom>
          <a:noFill/>
          <a:ln/>
        </p:spPr>
        <p:txBody>
          <a:bodyPr wrap="square" lIns="0" tIns="0" rIns="0" bIns="0" rtlCol="0" anchor="b"/>
          <a:lstStyle/>
          <a:p>
            <a:pPr indent="0" marL="0">
              <a:buNone/>
            </a:pPr>
            <a:r>
              <a:rPr lang="en-US" sz="3600" b="1" dirty="0">
                <a:solidFill>
                  <a:schemeClr val="accent6"/>
                </a:solidFill>
              </a:rPr>
              <a:t>54–66 %</a:t>
            </a:r>
            <a:endParaRPr lang="en-US" sz="3600" dirty="0"/>
          </a:p>
        </p:txBody>
      </p:sp>
      <p:sp>
        <p:nvSpPr>
          <p:cNvPr id="23" name="message label 4"/>
          <p:cNvSpPr txBox="1"/>
          <p:nvPr/>
        </p:nvSpPr>
        <p:spPr>
          <a:xfrm>
            <a:off x="9354312" y="3456432"/>
            <a:ext cx="2103120" cy="1325880"/>
          </a:xfrm>
          <a:prstGeom prst="rect">
            <a:avLst/>
          </a:prstGeom>
          <a:noFill/>
          <a:ln/>
        </p:spPr>
        <p:txBody>
          <a:bodyPr wrap="square" lIns="0" tIns="0" rIns="0" bIns="0" rtlCol="0" anchor="t"/>
          <a:lstStyle/>
          <a:p>
            <a:pPr indent="0" marL="0">
              <a:buNone/>
            </a:pPr>
            <a:r>
              <a:rPr lang="en-US" sz="1400" dirty="0">
                <a:solidFill>
                  <a:schemeClr val="tx1"/>
                </a:solidFill>
              </a:rPr>
              <a:t>obstacle width (5 vs 15 cm, chance 50 %): people cross both depths alike</a:t>
            </a:r>
            <a:endParaRPr lang="en-US" sz="1400" dirty="0"/>
          </a:p>
        </p:txBody>
      </p:sp>
      <p:sp>
        <p:nvSpPr>
          <p:cNvPr id="24" name="cue band"/>
          <p:cNvSpPr/>
          <p:nvPr/>
        </p:nvSpPr>
        <p:spPr>
          <a:xfrm>
            <a:off x="548640" y="5120640"/>
            <a:ext cx="11091672" cy="1051560"/>
          </a:xfrm>
          <a:prstGeom prst="roundRect">
            <a:avLst>
              <a:gd name="adj" fmla="val 8696"/>
            </a:avLst>
          </a:prstGeom>
          <a:solidFill>
            <a:schemeClr val="accent3">
              <a:alpha val="14000"/>
            </a:schemeClr>
          </a:solidFill>
          <a:ln/>
        </p:spPr>
      </p:sp>
      <p:sp>
        <p:nvSpPr>
          <p:cNvPr id="25" name="cue circle"/>
          <p:cNvSpPr/>
          <p:nvPr/>
        </p:nvSpPr>
        <p:spPr>
          <a:xfrm>
            <a:off x="822960" y="5321808"/>
            <a:ext cx="640080" cy="640080"/>
          </a:xfrm>
          <a:prstGeom prst="ellipse">
            <a:avLst/>
          </a:prstGeom>
          <a:solidFill>
            <a:schemeClr val="accent3"/>
          </a:solidFill>
          <a:ln/>
        </p:spPr>
      </p:sp>
      <p:pic>
        <p:nvPicPr>
          <p:cNvPr id="26" name="cue icon" descr="preencoded.png">    </p:cNvPr>
          <p:cNvPicPr>
            <a:picLocks noChangeAspect="1"/>
          </p:cNvPicPr>
          <p:nvPr/>
        </p:nvPicPr>
        <p:blipFill>
          <a:blip r:embed="rId5"/>
          <a:stretch>
            <a:fillRect/>
          </a:stretch>
        </p:blipFill>
        <p:spPr>
          <a:xfrm>
            <a:off x="976579" y="5475427"/>
            <a:ext cx="332842" cy="332842"/>
          </a:xfrm>
          <a:prstGeom prst="rect">
            <a:avLst/>
          </a:prstGeom>
        </p:spPr>
      </p:pic>
      <p:sp>
        <p:nvSpPr>
          <p:cNvPr id="27" name="cue text"/>
          <p:cNvSpPr txBox="1"/>
          <p:nvPr/>
        </p:nvSpPr>
        <p:spPr>
          <a:xfrm>
            <a:off x="1691640" y="5120640"/>
            <a:ext cx="9692640" cy="1051560"/>
          </a:xfrm>
          <a:prstGeom prst="rect">
            <a:avLst/>
          </a:prstGeom>
          <a:noFill/>
          <a:ln/>
        </p:spPr>
        <p:txBody>
          <a:bodyPr wrap="square" lIns="0" tIns="0" rIns="0" bIns="0" rtlCol="0" anchor="ctr"/>
          <a:lstStyle/>
          <a:p>
            <a:pPr indent="0" marL="0">
              <a:buNone/>
            </a:pPr>
            <a:r>
              <a:rPr lang="en-US" sz="1600" b="1" dirty="0">
                <a:solidFill>
                  <a:schemeClr val="tx2"/>
                </a:solidFill>
              </a:rPr>
              <a:t>Haptic cue: </a:t>
            </a:r>
            <a:pPr indent="0" marL="0">
              <a:buNone/>
            </a:pPr>
            <a:r>
              <a:rPr lang="en-US" sz="1600" dirty="0">
                <a:solidFill>
                  <a:schemeClr val="tx1"/>
                </a:solidFill>
              </a:rPr>
              <a:t>take it from the leading leg (foot height, or the thigh if only angles are measured), with personal thresholds, at the leading-foot apex at the latest.</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What this deck covers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From the terms and the methods to the results and what they mean for a haptic cue.</a:t>
            </a:r>
            <a:endParaRPr lang="en-US" sz="1700" dirty="0"/>
          </a:p>
        </p:txBody>
      </p:sp>
      <p:sp>
        <p:nvSpPr>
          <p:cNvPr id="4" name="agenda card 1"/>
          <p:cNvSpPr/>
          <p:nvPr/>
        </p:nvSpPr>
        <p:spPr>
          <a:xfrm>
            <a:off x="548640" y="1737360"/>
            <a:ext cx="3493008" cy="2011680"/>
          </a:xfrm>
          <a:prstGeom prst="roundRect">
            <a:avLst>
              <a:gd name="adj" fmla="val 4545"/>
            </a:avLst>
          </a:prstGeom>
          <a:solidFill>
            <a:schemeClr val="bg2"/>
          </a:solidFill>
          <a:ln/>
        </p:spPr>
      </p:sp>
      <p:sp>
        <p:nvSpPr>
          <p:cNvPr id="5" name="agenda 1 circle"/>
          <p:cNvSpPr/>
          <p:nvPr/>
        </p:nvSpPr>
        <p:spPr>
          <a:xfrm>
            <a:off x="822960" y="2011680"/>
            <a:ext cx="640080" cy="640080"/>
          </a:xfrm>
          <a:prstGeom prst="ellipse">
            <a:avLst/>
          </a:prstGeom>
          <a:solidFill>
            <a:schemeClr val="accent1"/>
          </a:solidFill>
          <a:ln/>
        </p:spPr>
      </p:sp>
      <p:pic>
        <p:nvPicPr>
          <p:cNvPr id="6" name="agenda 1 icon" descr="preencoded.png">    </p:cNvPr>
          <p:cNvPicPr>
            <a:picLocks noChangeAspect="1"/>
          </p:cNvPicPr>
          <p:nvPr/>
        </p:nvPicPr>
        <p:blipFill>
          <a:blip r:embed="rId1"/>
          <a:stretch>
            <a:fillRect/>
          </a:stretch>
        </p:blipFill>
        <p:spPr>
          <a:xfrm>
            <a:off x="976579" y="2165299"/>
            <a:ext cx="332842" cy="332842"/>
          </a:xfrm>
          <a:prstGeom prst="rect">
            <a:avLst/>
          </a:prstGeom>
        </p:spPr>
      </p:pic>
      <p:sp>
        <p:nvSpPr>
          <p:cNvPr id="7" name="agenda number 1"/>
          <p:cNvSpPr txBox="1"/>
          <p:nvPr/>
        </p:nvSpPr>
        <p:spPr>
          <a:xfrm>
            <a:off x="3017520" y="2011680"/>
            <a:ext cx="777240" cy="640080"/>
          </a:xfrm>
          <a:prstGeom prst="rect">
            <a:avLst/>
          </a:prstGeom>
          <a:noFill/>
          <a:ln/>
        </p:spPr>
        <p:txBody>
          <a:bodyPr wrap="square" lIns="0" tIns="0" rIns="0" bIns="0" rtlCol="0" anchor="ctr"/>
          <a:lstStyle/>
          <a:p>
            <a:pPr algn="r" indent="0" marL="0">
              <a:buNone/>
            </a:pPr>
            <a:r>
              <a:rPr lang="en-US" sz="2800" b="1" dirty="0">
                <a:solidFill>
                  <a:schemeClr val="accent6"/>
                </a:solidFill>
              </a:rPr>
              <a:t>01</a:t>
            </a:r>
            <a:endParaRPr lang="en-US" sz="2800" dirty="0"/>
          </a:p>
        </p:txBody>
      </p:sp>
      <p:sp>
        <p:nvSpPr>
          <p:cNvPr id="8" name="agenda head 1"/>
          <p:cNvSpPr txBox="1"/>
          <p:nvPr/>
        </p:nvSpPr>
        <p:spPr>
          <a:xfrm>
            <a:off x="822960" y="2761488"/>
            <a:ext cx="2971800" cy="365760"/>
          </a:xfrm>
          <a:prstGeom prst="rect">
            <a:avLst/>
          </a:prstGeom>
          <a:noFill/>
          <a:ln/>
        </p:spPr>
        <p:txBody>
          <a:bodyPr wrap="square" lIns="0" tIns="0" rIns="0" bIns="0" rtlCol="0" anchor="t"/>
          <a:lstStyle/>
          <a:p>
            <a:pPr indent="0" marL="0">
              <a:buNone/>
            </a:pPr>
            <a:r>
              <a:rPr lang="en-US" sz="1800" b="1" dirty="0">
                <a:solidFill>
                  <a:schemeClr val="tx2"/>
                </a:solidFill>
              </a:rPr>
              <a:t>Definitions</a:t>
            </a:r>
            <a:endParaRPr lang="en-US" sz="1800" dirty="0"/>
          </a:p>
        </p:txBody>
      </p:sp>
      <p:sp>
        <p:nvSpPr>
          <p:cNvPr id="9" name="agenda body 1"/>
          <p:cNvSpPr txBox="1"/>
          <p:nvPr/>
        </p:nvSpPr>
        <p:spPr>
          <a:xfrm>
            <a:off x="822960" y="3127248"/>
            <a:ext cx="3017520" cy="548640"/>
          </a:xfrm>
          <a:prstGeom prst="rect">
            <a:avLst/>
          </a:prstGeom>
          <a:noFill/>
          <a:ln/>
        </p:spPr>
        <p:txBody>
          <a:bodyPr wrap="square" lIns="0" tIns="0" rIns="0" bIns="0" rtlCol="0" anchor="t"/>
          <a:lstStyle/>
          <a:p>
            <a:pPr indent="0" marL="0">
              <a:buNone/>
            </a:pPr>
            <a:r>
              <a:rPr lang="en-US" sz="1400" dirty="0">
                <a:solidFill>
                  <a:schemeClr val="tx1"/>
                </a:solidFill>
              </a:rPr>
              <a:t>Terms, obstacle levels and the crossing timeline</a:t>
            </a:r>
            <a:endParaRPr lang="en-US" sz="1400" dirty="0"/>
          </a:p>
        </p:txBody>
      </p:sp>
      <p:sp>
        <p:nvSpPr>
          <p:cNvPr id="10" name="agenda card 2"/>
          <p:cNvSpPr/>
          <p:nvPr/>
        </p:nvSpPr>
        <p:spPr>
          <a:xfrm>
            <a:off x="4347972" y="1737360"/>
            <a:ext cx="3493008" cy="2011680"/>
          </a:xfrm>
          <a:prstGeom prst="roundRect">
            <a:avLst>
              <a:gd name="adj" fmla="val 4545"/>
            </a:avLst>
          </a:prstGeom>
          <a:solidFill>
            <a:schemeClr val="bg2"/>
          </a:solidFill>
          <a:ln/>
        </p:spPr>
      </p:sp>
      <p:sp>
        <p:nvSpPr>
          <p:cNvPr id="11" name="agenda 2 circle"/>
          <p:cNvSpPr/>
          <p:nvPr/>
        </p:nvSpPr>
        <p:spPr>
          <a:xfrm>
            <a:off x="4622292" y="2011680"/>
            <a:ext cx="640080" cy="640080"/>
          </a:xfrm>
          <a:prstGeom prst="ellipse">
            <a:avLst/>
          </a:prstGeom>
          <a:solidFill>
            <a:schemeClr val="accent1"/>
          </a:solidFill>
          <a:ln/>
        </p:spPr>
      </p:sp>
      <p:pic>
        <p:nvPicPr>
          <p:cNvPr id="12" name="agenda 2 icon" descr="preencoded.png">    </p:cNvPr>
          <p:cNvPicPr>
            <a:picLocks noChangeAspect="1"/>
          </p:cNvPicPr>
          <p:nvPr/>
        </p:nvPicPr>
        <p:blipFill>
          <a:blip r:embed="rId2"/>
          <a:stretch>
            <a:fillRect/>
          </a:stretch>
        </p:blipFill>
        <p:spPr>
          <a:xfrm>
            <a:off x="4775911" y="2165299"/>
            <a:ext cx="332842" cy="332842"/>
          </a:xfrm>
          <a:prstGeom prst="rect">
            <a:avLst/>
          </a:prstGeom>
        </p:spPr>
      </p:pic>
      <p:sp>
        <p:nvSpPr>
          <p:cNvPr id="13" name="agenda number 2"/>
          <p:cNvSpPr txBox="1"/>
          <p:nvPr/>
        </p:nvSpPr>
        <p:spPr>
          <a:xfrm>
            <a:off x="6816852" y="2011680"/>
            <a:ext cx="777240" cy="640080"/>
          </a:xfrm>
          <a:prstGeom prst="rect">
            <a:avLst/>
          </a:prstGeom>
          <a:noFill/>
          <a:ln/>
        </p:spPr>
        <p:txBody>
          <a:bodyPr wrap="square" lIns="0" tIns="0" rIns="0" bIns="0" rtlCol="0" anchor="ctr"/>
          <a:lstStyle/>
          <a:p>
            <a:pPr algn="r" indent="0" marL="0">
              <a:buNone/>
            </a:pPr>
            <a:r>
              <a:rPr lang="en-US" sz="2800" b="1" dirty="0">
                <a:solidFill>
                  <a:schemeClr val="accent6"/>
                </a:solidFill>
              </a:rPr>
              <a:t>02</a:t>
            </a:r>
            <a:endParaRPr lang="en-US" sz="2800" dirty="0"/>
          </a:p>
        </p:txBody>
      </p:sp>
      <p:sp>
        <p:nvSpPr>
          <p:cNvPr id="14" name="agenda head 2"/>
          <p:cNvSpPr txBox="1"/>
          <p:nvPr/>
        </p:nvSpPr>
        <p:spPr>
          <a:xfrm>
            <a:off x="4622292" y="2761488"/>
            <a:ext cx="2971800" cy="365760"/>
          </a:xfrm>
          <a:prstGeom prst="rect">
            <a:avLst/>
          </a:prstGeom>
          <a:noFill/>
          <a:ln/>
        </p:spPr>
        <p:txBody>
          <a:bodyPr wrap="square" lIns="0" tIns="0" rIns="0" bIns="0" rtlCol="0" anchor="t"/>
          <a:lstStyle/>
          <a:p>
            <a:pPr indent="0" marL="0">
              <a:buNone/>
            </a:pPr>
            <a:r>
              <a:rPr lang="en-US" sz="1800" b="1" dirty="0">
                <a:solidFill>
                  <a:schemeClr val="tx2"/>
                </a:solidFill>
              </a:rPr>
              <a:t>Data and methods</a:t>
            </a:r>
            <a:endParaRPr lang="en-US" sz="1800" dirty="0"/>
          </a:p>
        </p:txBody>
      </p:sp>
      <p:sp>
        <p:nvSpPr>
          <p:cNvPr id="15" name="agenda body 2"/>
          <p:cNvSpPr txBox="1"/>
          <p:nvPr/>
        </p:nvSpPr>
        <p:spPr>
          <a:xfrm>
            <a:off x="4622292" y="3127248"/>
            <a:ext cx="3017520" cy="548640"/>
          </a:xfrm>
          <a:prstGeom prst="rect">
            <a:avLst/>
          </a:prstGeom>
          <a:noFill/>
          <a:ln/>
        </p:spPr>
        <p:txBody>
          <a:bodyPr wrap="square" lIns="0" tIns="0" rIns="0" bIns="0" rtlCol="0" anchor="t"/>
          <a:lstStyle/>
          <a:p>
            <a:pPr indent="0" marL="0">
              <a:buNone/>
            </a:pPr>
            <a:r>
              <a:rPr lang="en-US" sz="1400" dirty="0">
                <a:solidFill>
                  <a:schemeClr val="tx1"/>
                </a:solidFill>
              </a:rPr>
              <a:t>Dataset, features, how the models were tested, models</a:t>
            </a:r>
            <a:endParaRPr lang="en-US" sz="1400" dirty="0"/>
          </a:p>
        </p:txBody>
      </p:sp>
      <p:sp>
        <p:nvSpPr>
          <p:cNvPr id="16" name="agenda card 3"/>
          <p:cNvSpPr/>
          <p:nvPr/>
        </p:nvSpPr>
        <p:spPr>
          <a:xfrm>
            <a:off x="8147304" y="1737360"/>
            <a:ext cx="3493008" cy="2011680"/>
          </a:xfrm>
          <a:prstGeom prst="roundRect">
            <a:avLst>
              <a:gd name="adj" fmla="val 4545"/>
            </a:avLst>
          </a:prstGeom>
          <a:solidFill>
            <a:schemeClr val="bg2"/>
          </a:solidFill>
          <a:ln/>
        </p:spPr>
      </p:sp>
      <p:sp>
        <p:nvSpPr>
          <p:cNvPr id="17" name="agenda 3 circle"/>
          <p:cNvSpPr/>
          <p:nvPr/>
        </p:nvSpPr>
        <p:spPr>
          <a:xfrm>
            <a:off x="8421624" y="2011680"/>
            <a:ext cx="640080" cy="640080"/>
          </a:xfrm>
          <a:prstGeom prst="ellipse">
            <a:avLst/>
          </a:prstGeom>
          <a:solidFill>
            <a:schemeClr val="accent3"/>
          </a:solidFill>
          <a:ln/>
        </p:spPr>
      </p:sp>
      <p:pic>
        <p:nvPicPr>
          <p:cNvPr id="18" name="agenda 3 icon" descr="preencoded.png">    </p:cNvPr>
          <p:cNvPicPr>
            <a:picLocks noChangeAspect="1"/>
          </p:cNvPicPr>
          <p:nvPr/>
        </p:nvPicPr>
        <p:blipFill>
          <a:blip r:embed="rId3"/>
          <a:stretch>
            <a:fillRect/>
          </a:stretch>
        </p:blipFill>
        <p:spPr>
          <a:xfrm>
            <a:off x="8575243" y="2165299"/>
            <a:ext cx="332842" cy="332842"/>
          </a:xfrm>
          <a:prstGeom prst="rect">
            <a:avLst/>
          </a:prstGeom>
        </p:spPr>
      </p:pic>
      <p:sp>
        <p:nvSpPr>
          <p:cNvPr id="19" name="agenda number 3"/>
          <p:cNvSpPr txBox="1"/>
          <p:nvPr/>
        </p:nvSpPr>
        <p:spPr>
          <a:xfrm>
            <a:off x="10616184" y="2011680"/>
            <a:ext cx="777240" cy="640080"/>
          </a:xfrm>
          <a:prstGeom prst="rect">
            <a:avLst/>
          </a:prstGeom>
          <a:noFill/>
          <a:ln/>
        </p:spPr>
        <p:txBody>
          <a:bodyPr wrap="square" lIns="0" tIns="0" rIns="0" bIns="0" rtlCol="0" anchor="ctr"/>
          <a:lstStyle/>
          <a:p>
            <a:pPr algn="r" indent="0" marL="0">
              <a:buNone/>
            </a:pPr>
            <a:r>
              <a:rPr lang="en-US" sz="2800" b="1" dirty="0">
                <a:solidFill>
                  <a:schemeClr val="accent6"/>
                </a:solidFill>
              </a:rPr>
              <a:t>03</a:t>
            </a:r>
            <a:endParaRPr lang="en-US" sz="2800" dirty="0"/>
          </a:p>
        </p:txBody>
      </p:sp>
      <p:sp>
        <p:nvSpPr>
          <p:cNvPr id="20" name="agenda head 3"/>
          <p:cNvSpPr txBox="1"/>
          <p:nvPr/>
        </p:nvSpPr>
        <p:spPr>
          <a:xfrm>
            <a:off x="8421624" y="2761488"/>
            <a:ext cx="2971800" cy="365760"/>
          </a:xfrm>
          <a:prstGeom prst="rect">
            <a:avLst/>
          </a:prstGeom>
          <a:noFill/>
          <a:ln/>
        </p:spPr>
        <p:txBody>
          <a:bodyPr wrap="square" lIns="0" tIns="0" rIns="0" bIns="0" rtlCol="0" anchor="t"/>
          <a:lstStyle/>
          <a:p>
            <a:pPr indent="0" marL="0">
              <a:buNone/>
            </a:pPr>
            <a:r>
              <a:rPr lang="en-US" sz="1800" b="1" dirty="0">
                <a:solidFill>
                  <a:schemeClr val="tx2"/>
                </a:solidFill>
              </a:rPr>
              <a:t>How people cross</a:t>
            </a:r>
            <a:endParaRPr lang="en-US" sz="1800" dirty="0"/>
          </a:p>
        </p:txBody>
      </p:sp>
      <p:sp>
        <p:nvSpPr>
          <p:cNvPr id="21" name="agenda body 3"/>
          <p:cNvSpPr txBox="1"/>
          <p:nvPr/>
        </p:nvSpPr>
        <p:spPr>
          <a:xfrm>
            <a:off x="8421624" y="3127248"/>
            <a:ext cx="3017520" cy="548640"/>
          </a:xfrm>
          <a:prstGeom prst="rect">
            <a:avLst/>
          </a:prstGeom>
          <a:noFill/>
          <a:ln/>
        </p:spPr>
        <p:txBody>
          <a:bodyPr wrap="square" lIns="0" tIns="0" rIns="0" bIns="0" rtlCol="0" anchor="t"/>
          <a:lstStyle/>
          <a:p>
            <a:pPr indent="0" marL="0">
              <a:buNone/>
            </a:pPr>
            <a:r>
              <a:rPr lang="en-US" sz="1400" dirty="0">
                <a:solidFill>
                  <a:schemeClr val="tx1"/>
                </a:solidFill>
              </a:rPr>
              <a:t>Foot lift, where the height shows, the walking signature</a:t>
            </a:r>
            <a:endParaRPr lang="en-US" sz="1400" dirty="0"/>
          </a:p>
        </p:txBody>
      </p:sp>
      <p:sp>
        <p:nvSpPr>
          <p:cNvPr id="22" name="agenda card 4"/>
          <p:cNvSpPr/>
          <p:nvPr/>
        </p:nvSpPr>
        <p:spPr>
          <a:xfrm>
            <a:off x="548640" y="4023360"/>
            <a:ext cx="3493008" cy="2011680"/>
          </a:xfrm>
          <a:prstGeom prst="roundRect">
            <a:avLst>
              <a:gd name="adj" fmla="val 4545"/>
            </a:avLst>
          </a:prstGeom>
          <a:solidFill>
            <a:schemeClr val="bg2"/>
          </a:solidFill>
          <a:ln/>
        </p:spPr>
      </p:sp>
      <p:sp>
        <p:nvSpPr>
          <p:cNvPr id="23" name="agenda 4 circle"/>
          <p:cNvSpPr/>
          <p:nvPr/>
        </p:nvSpPr>
        <p:spPr>
          <a:xfrm>
            <a:off x="822960" y="4297680"/>
            <a:ext cx="640080" cy="640080"/>
          </a:xfrm>
          <a:prstGeom prst="ellipse">
            <a:avLst/>
          </a:prstGeom>
          <a:solidFill>
            <a:schemeClr val="accent4"/>
          </a:solidFill>
          <a:ln/>
        </p:spPr>
      </p:sp>
      <p:pic>
        <p:nvPicPr>
          <p:cNvPr id="24" name="agenda 4 icon" descr="preencoded.png">    </p:cNvPr>
          <p:cNvPicPr>
            <a:picLocks noChangeAspect="1"/>
          </p:cNvPicPr>
          <p:nvPr/>
        </p:nvPicPr>
        <p:blipFill>
          <a:blip r:embed="rId4"/>
          <a:stretch>
            <a:fillRect/>
          </a:stretch>
        </p:blipFill>
        <p:spPr>
          <a:xfrm>
            <a:off x="976579" y="4451299"/>
            <a:ext cx="332842" cy="332842"/>
          </a:xfrm>
          <a:prstGeom prst="rect">
            <a:avLst/>
          </a:prstGeom>
        </p:spPr>
      </p:pic>
      <p:sp>
        <p:nvSpPr>
          <p:cNvPr id="25" name="agenda number 4"/>
          <p:cNvSpPr txBox="1"/>
          <p:nvPr/>
        </p:nvSpPr>
        <p:spPr>
          <a:xfrm>
            <a:off x="3017520" y="4297680"/>
            <a:ext cx="777240" cy="640080"/>
          </a:xfrm>
          <a:prstGeom prst="rect">
            <a:avLst/>
          </a:prstGeom>
          <a:noFill/>
          <a:ln/>
        </p:spPr>
        <p:txBody>
          <a:bodyPr wrap="square" lIns="0" tIns="0" rIns="0" bIns="0" rtlCol="0" anchor="ctr"/>
          <a:lstStyle/>
          <a:p>
            <a:pPr algn="r" indent="0" marL="0">
              <a:buNone/>
            </a:pPr>
            <a:r>
              <a:rPr lang="en-US" sz="2800" b="1" dirty="0">
                <a:solidFill>
                  <a:schemeClr val="accent6"/>
                </a:solidFill>
              </a:rPr>
              <a:t>04</a:t>
            </a:r>
            <a:endParaRPr lang="en-US" sz="2800" dirty="0"/>
          </a:p>
        </p:txBody>
      </p:sp>
      <p:sp>
        <p:nvSpPr>
          <p:cNvPr id="26" name="agenda head 4"/>
          <p:cNvSpPr txBox="1"/>
          <p:nvPr/>
        </p:nvSpPr>
        <p:spPr>
          <a:xfrm>
            <a:off x="822960" y="5047488"/>
            <a:ext cx="2971800" cy="365760"/>
          </a:xfrm>
          <a:prstGeom prst="rect">
            <a:avLst/>
          </a:prstGeom>
          <a:noFill/>
          <a:ln/>
        </p:spPr>
        <p:txBody>
          <a:bodyPr wrap="square" lIns="0" tIns="0" rIns="0" bIns="0" rtlCol="0" anchor="t"/>
          <a:lstStyle/>
          <a:p>
            <a:pPr indent="0" marL="0">
              <a:buNone/>
            </a:pPr>
            <a:r>
              <a:rPr lang="en-US" sz="1800" b="1" dirty="0">
                <a:solidFill>
                  <a:schemeClr val="tx2"/>
                </a:solidFill>
              </a:rPr>
              <a:t>Recognising the obstacle</a:t>
            </a:r>
            <a:endParaRPr lang="en-US" sz="1800" dirty="0"/>
          </a:p>
        </p:txBody>
      </p:sp>
      <p:sp>
        <p:nvSpPr>
          <p:cNvPr id="27" name="agenda body 4"/>
          <p:cNvSpPr txBox="1"/>
          <p:nvPr/>
        </p:nvSpPr>
        <p:spPr>
          <a:xfrm>
            <a:off x="822960" y="5413248"/>
            <a:ext cx="3017520" cy="548640"/>
          </a:xfrm>
          <a:prstGeom prst="rect">
            <a:avLst/>
          </a:prstGeom>
          <a:noFill/>
          <a:ln/>
        </p:spPr>
        <p:txBody>
          <a:bodyPr wrap="square" lIns="0" tIns="0" rIns="0" bIns="0" rtlCol="0" anchor="t"/>
          <a:lstStyle/>
          <a:p>
            <a:pPr indent="0" marL="0">
              <a:buNone/>
            </a:pPr>
            <a:r>
              <a:rPr lang="en-US" sz="1400" dirty="0">
                <a:solidFill>
                  <a:schemeClr val="tx1"/>
                </a:solidFill>
              </a:rPr>
              <a:t>Height and width for a new person, checks of trust</a:t>
            </a:r>
            <a:endParaRPr lang="en-US" sz="1400" dirty="0"/>
          </a:p>
        </p:txBody>
      </p:sp>
      <p:sp>
        <p:nvSpPr>
          <p:cNvPr id="28" name="agenda card 5"/>
          <p:cNvSpPr/>
          <p:nvPr/>
        </p:nvSpPr>
        <p:spPr>
          <a:xfrm>
            <a:off x="4347972" y="4023360"/>
            <a:ext cx="3493008" cy="2011680"/>
          </a:xfrm>
          <a:prstGeom prst="roundRect">
            <a:avLst>
              <a:gd name="adj" fmla="val 4545"/>
            </a:avLst>
          </a:prstGeom>
          <a:solidFill>
            <a:schemeClr val="bg2"/>
          </a:solidFill>
          <a:ln/>
        </p:spPr>
      </p:sp>
      <p:sp>
        <p:nvSpPr>
          <p:cNvPr id="29" name="agenda 5 circle"/>
          <p:cNvSpPr/>
          <p:nvPr/>
        </p:nvSpPr>
        <p:spPr>
          <a:xfrm>
            <a:off x="4622292" y="4297680"/>
            <a:ext cx="640080" cy="640080"/>
          </a:xfrm>
          <a:prstGeom prst="ellipse">
            <a:avLst/>
          </a:prstGeom>
          <a:solidFill>
            <a:schemeClr val="accent2"/>
          </a:solidFill>
          <a:ln/>
        </p:spPr>
      </p:sp>
      <p:pic>
        <p:nvPicPr>
          <p:cNvPr id="30" name="agenda 5 icon" descr="preencoded.png">    </p:cNvPr>
          <p:cNvPicPr>
            <a:picLocks noChangeAspect="1"/>
          </p:cNvPicPr>
          <p:nvPr/>
        </p:nvPicPr>
        <p:blipFill>
          <a:blip r:embed="rId5"/>
          <a:stretch>
            <a:fillRect/>
          </a:stretch>
        </p:blipFill>
        <p:spPr>
          <a:xfrm>
            <a:off x="4775911" y="4451299"/>
            <a:ext cx="332842" cy="332842"/>
          </a:xfrm>
          <a:prstGeom prst="rect">
            <a:avLst/>
          </a:prstGeom>
        </p:spPr>
      </p:pic>
      <p:sp>
        <p:nvSpPr>
          <p:cNvPr id="31" name="agenda number 5"/>
          <p:cNvSpPr txBox="1"/>
          <p:nvPr/>
        </p:nvSpPr>
        <p:spPr>
          <a:xfrm>
            <a:off x="6816852" y="4297680"/>
            <a:ext cx="777240" cy="640080"/>
          </a:xfrm>
          <a:prstGeom prst="rect">
            <a:avLst/>
          </a:prstGeom>
          <a:noFill/>
          <a:ln/>
        </p:spPr>
        <p:txBody>
          <a:bodyPr wrap="square" lIns="0" tIns="0" rIns="0" bIns="0" rtlCol="0" anchor="ctr"/>
          <a:lstStyle/>
          <a:p>
            <a:pPr algn="r" indent="0" marL="0">
              <a:buNone/>
            </a:pPr>
            <a:r>
              <a:rPr lang="en-US" sz="2800" b="1" dirty="0">
                <a:solidFill>
                  <a:schemeClr val="accent6"/>
                </a:solidFill>
              </a:rPr>
              <a:t>05</a:t>
            </a:r>
            <a:endParaRPr lang="en-US" sz="2800" dirty="0"/>
          </a:p>
        </p:txBody>
      </p:sp>
      <p:sp>
        <p:nvSpPr>
          <p:cNvPr id="32" name="agenda head 5"/>
          <p:cNvSpPr txBox="1"/>
          <p:nvPr/>
        </p:nvSpPr>
        <p:spPr>
          <a:xfrm>
            <a:off x="4622292" y="5047488"/>
            <a:ext cx="2971800" cy="365760"/>
          </a:xfrm>
          <a:prstGeom prst="rect">
            <a:avLst/>
          </a:prstGeom>
          <a:noFill/>
          <a:ln/>
        </p:spPr>
        <p:txBody>
          <a:bodyPr wrap="square" lIns="0" tIns="0" rIns="0" bIns="0" rtlCol="0" anchor="t"/>
          <a:lstStyle/>
          <a:p>
            <a:pPr indent="0" marL="0">
              <a:buNone/>
            </a:pPr>
            <a:r>
              <a:rPr lang="en-US" sz="1800" b="1" dirty="0">
                <a:solidFill>
                  <a:schemeClr val="tx2"/>
                </a:solidFill>
              </a:rPr>
              <a:t>Device and haptic cue</a:t>
            </a:r>
            <a:endParaRPr lang="en-US" sz="1800" dirty="0"/>
          </a:p>
        </p:txBody>
      </p:sp>
      <p:sp>
        <p:nvSpPr>
          <p:cNvPr id="33" name="agenda body 5"/>
          <p:cNvSpPr txBox="1"/>
          <p:nvPr/>
        </p:nvSpPr>
        <p:spPr>
          <a:xfrm>
            <a:off x="4622292" y="5413248"/>
            <a:ext cx="3017520" cy="548640"/>
          </a:xfrm>
          <a:prstGeom prst="rect">
            <a:avLst/>
          </a:prstGeom>
          <a:noFill/>
          <a:ln/>
        </p:spPr>
        <p:txBody>
          <a:bodyPr wrap="square" lIns="0" tIns="0" rIns="0" bIns="0" rtlCol="0" anchor="t"/>
          <a:lstStyle/>
          <a:p>
            <a:pPr indent="0" marL="0">
              <a:buNone/>
            </a:pPr>
            <a:r>
              <a:rPr lang="en-US" sz="1400" dirty="0">
                <a:solidFill>
                  <a:schemeClr val="tx1"/>
                </a:solidFill>
              </a:rPr>
              <a:t>Sensors, calibration, no camera, a real session, when to cue</a:t>
            </a:r>
            <a:endParaRPr lang="en-US" sz="1400" dirty="0"/>
          </a:p>
        </p:txBody>
      </p:sp>
      <p:sp>
        <p:nvSpPr>
          <p:cNvPr id="34" name="agenda card 6"/>
          <p:cNvSpPr/>
          <p:nvPr/>
        </p:nvSpPr>
        <p:spPr>
          <a:xfrm>
            <a:off x="8147304" y="4023360"/>
            <a:ext cx="3493008" cy="2011680"/>
          </a:xfrm>
          <a:prstGeom prst="roundRect">
            <a:avLst>
              <a:gd name="adj" fmla="val 4545"/>
            </a:avLst>
          </a:prstGeom>
          <a:solidFill>
            <a:schemeClr val="bg2"/>
          </a:solidFill>
          <a:ln/>
        </p:spPr>
      </p:sp>
      <p:sp>
        <p:nvSpPr>
          <p:cNvPr id="35" name="agenda 6 circle"/>
          <p:cNvSpPr/>
          <p:nvPr/>
        </p:nvSpPr>
        <p:spPr>
          <a:xfrm>
            <a:off x="8421624" y="4297680"/>
            <a:ext cx="640080" cy="640080"/>
          </a:xfrm>
          <a:prstGeom prst="ellipse">
            <a:avLst/>
          </a:prstGeom>
          <a:solidFill>
            <a:schemeClr val="tx2"/>
          </a:solidFill>
          <a:ln/>
        </p:spPr>
      </p:sp>
      <p:pic>
        <p:nvPicPr>
          <p:cNvPr id="36" name="agenda 6 icon" descr="preencoded.png">    </p:cNvPr>
          <p:cNvPicPr>
            <a:picLocks noChangeAspect="1"/>
          </p:cNvPicPr>
          <p:nvPr/>
        </p:nvPicPr>
        <p:blipFill>
          <a:blip r:embed="rId6"/>
          <a:stretch>
            <a:fillRect/>
          </a:stretch>
        </p:blipFill>
        <p:spPr>
          <a:xfrm>
            <a:off x="8575243" y="4451299"/>
            <a:ext cx="332842" cy="332842"/>
          </a:xfrm>
          <a:prstGeom prst="rect">
            <a:avLst/>
          </a:prstGeom>
        </p:spPr>
      </p:pic>
      <p:sp>
        <p:nvSpPr>
          <p:cNvPr id="37" name="agenda number 6"/>
          <p:cNvSpPr txBox="1"/>
          <p:nvPr/>
        </p:nvSpPr>
        <p:spPr>
          <a:xfrm>
            <a:off x="10616184" y="4297680"/>
            <a:ext cx="777240" cy="640080"/>
          </a:xfrm>
          <a:prstGeom prst="rect">
            <a:avLst/>
          </a:prstGeom>
          <a:noFill/>
          <a:ln/>
        </p:spPr>
        <p:txBody>
          <a:bodyPr wrap="square" lIns="0" tIns="0" rIns="0" bIns="0" rtlCol="0" anchor="ctr"/>
          <a:lstStyle/>
          <a:p>
            <a:pPr algn="r" indent="0" marL="0">
              <a:buNone/>
            </a:pPr>
            <a:r>
              <a:rPr lang="en-US" sz="2800" b="1" dirty="0">
                <a:solidFill>
                  <a:schemeClr val="accent6"/>
                </a:solidFill>
              </a:rPr>
              <a:t>06</a:t>
            </a:r>
            <a:endParaRPr lang="en-US" sz="2800" dirty="0"/>
          </a:p>
        </p:txBody>
      </p:sp>
      <p:sp>
        <p:nvSpPr>
          <p:cNvPr id="38" name="agenda head 6"/>
          <p:cNvSpPr txBox="1"/>
          <p:nvPr/>
        </p:nvSpPr>
        <p:spPr>
          <a:xfrm>
            <a:off x="8421624" y="5047488"/>
            <a:ext cx="2971800" cy="365760"/>
          </a:xfrm>
          <a:prstGeom prst="rect">
            <a:avLst/>
          </a:prstGeom>
          <a:noFill/>
          <a:ln/>
        </p:spPr>
        <p:txBody>
          <a:bodyPr wrap="square" lIns="0" tIns="0" rIns="0" bIns="0" rtlCol="0" anchor="t"/>
          <a:lstStyle/>
          <a:p>
            <a:pPr indent="0" marL="0">
              <a:buNone/>
            </a:pPr>
            <a:r>
              <a:rPr lang="en-US" sz="1800" b="1" dirty="0">
                <a:solidFill>
                  <a:schemeClr val="tx2"/>
                </a:solidFill>
              </a:rPr>
              <a:t>Discussion</a:t>
            </a:r>
            <a:endParaRPr lang="en-US" sz="1800" dirty="0"/>
          </a:p>
        </p:txBody>
      </p:sp>
      <p:sp>
        <p:nvSpPr>
          <p:cNvPr id="39" name="agenda body 6"/>
          <p:cNvSpPr txBox="1"/>
          <p:nvPr/>
        </p:nvSpPr>
        <p:spPr>
          <a:xfrm>
            <a:off x="8421624" y="5413248"/>
            <a:ext cx="3017520" cy="548640"/>
          </a:xfrm>
          <a:prstGeom prst="rect">
            <a:avLst/>
          </a:prstGeom>
          <a:noFill/>
          <a:ln/>
        </p:spPr>
        <p:txBody>
          <a:bodyPr wrap="square" lIns="0" tIns="0" rIns="0" bIns="0" rtlCol="0" anchor="t"/>
          <a:lstStyle/>
          <a:p>
            <a:pPr indent="0" marL="0">
              <a:buNone/>
            </a:pPr>
            <a:r>
              <a:rPr lang="en-US" sz="1400" dirty="0">
                <a:solidFill>
                  <a:schemeClr val="tx1"/>
                </a:solidFill>
              </a:rPr>
              <a:t>Meaning, recommendations, limitations, next steps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914400"/>
          </a:xfrm>
          <a:prstGeom prst="rect">
            <a:avLst/>
          </a:prstGeom>
          <a:noFill/>
          <a:ln/>
        </p:spPr>
        <p:txBody>
          <a:bodyPr wrap="square" lIns="0" tIns="0" rIns="0" bIns="0" rtlCol="0" anchor="ctr"/>
          <a:lstStyle/>
          <a:p>
            <a:pPr algn="l" indent="0" marL="0">
              <a:buNone/>
            </a:pPr>
            <a:r>
              <a:rPr lang="en-US" sz="4000" b="1" dirty="0">
                <a:solidFill>
                  <a:schemeClr val="bg1"/>
                </a:solidFill>
              </a:rPr>
              <a:t>Definitions</a:t>
            </a:r>
            <a:endParaRPr lang="en-US" sz="4000" dirty="0"/>
          </a:p>
        </p:txBody>
      </p:sp>
      <p:sp>
        <p:nvSpPr>
          <p:cNvPr id="3" name="Text 0"/>
          <p:cNvSpPr/>
          <p:nvPr>
            <p:ph idx="101" type="body" hasCustomPrompt="1"/>
          </p:nvPr>
        </p:nvSpPr>
        <p:spPr>
          <a:xfrm>
            <a:off x="731520" y="356616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The terms and the timeline used throughout</a:t>
            </a:r>
            <a:endParaRPr lang="en-US" sz="2000" dirty="0"/>
          </a:p>
        </p:txBody>
      </p:sp>
      <p:sp>
        <p:nvSpPr>
          <p:cNvPr id="4" name="section number"/>
          <p:cNvSpPr txBox="1"/>
          <p:nvPr/>
        </p:nvSpPr>
        <p:spPr>
          <a:xfrm>
            <a:off x="731520" y="1417320"/>
            <a:ext cx="2743200" cy="914400"/>
          </a:xfrm>
          <a:prstGeom prst="rect">
            <a:avLst/>
          </a:prstGeom>
          <a:noFill/>
          <a:ln/>
        </p:spPr>
        <p:txBody>
          <a:bodyPr wrap="square" lIns="0" tIns="0" rIns="0" bIns="0" rtlCol="0" anchor="b"/>
          <a:lstStyle/>
          <a:p>
            <a:pPr indent="0" marL="0">
              <a:buNone/>
            </a:pPr>
            <a:r>
              <a:rPr lang="en-US" sz="5400" b="1" dirty="0">
                <a:solidFill>
                  <a:schemeClr val="accent2"/>
                </a:solidFill>
              </a:rPr>
              <a:t>01</a:t>
            </a:r>
            <a:endParaRPr lang="en-US" sz="5400" dirty="0"/>
          </a:p>
        </p:txBody>
      </p:sp>
      <p:sp>
        <p:nvSpPr>
          <p:cNvPr id="5" name="section circle"/>
          <p:cNvSpPr/>
          <p:nvPr/>
        </p:nvSpPr>
        <p:spPr>
          <a:xfrm>
            <a:off x="8915400" y="2011680"/>
            <a:ext cx="2468880" cy="2468880"/>
          </a:xfrm>
          <a:prstGeom prst="ellipse">
            <a:avLst/>
          </a:prstGeom>
          <a:solidFill>
            <a:schemeClr val="accent1"/>
          </a:solidFill>
          <a:ln/>
        </p:spPr>
      </p:sp>
      <p:pic>
        <p:nvPicPr>
          <p:cNvPr id="6" name="section icon" descr="preencoded.png">    </p:cNvPr>
          <p:cNvPicPr>
            <a:picLocks noChangeAspect="1"/>
          </p:cNvPicPr>
          <p:nvPr/>
        </p:nvPicPr>
        <p:blipFill>
          <a:blip r:embed="rId1"/>
          <a:stretch>
            <a:fillRect/>
          </a:stretch>
        </p:blipFill>
        <p:spPr>
          <a:xfrm>
            <a:off x="9507931" y="2604211"/>
            <a:ext cx="1283818" cy="1283818"/>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Terms used in this deck</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Every result is for an unseen participant and is reported as balanced accuracy.</a:t>
            </a:r>
            <a:endParaRPr lang="en-US" sz="1700" dirty="0"/>
          </a:p>
        </p:txBody>
      </p:sp>
      <p:sp>
        <p:nvSpPr>
          <p:cNvPr id="4" name="term card 1"/>
          <p:cNvSpPr/>
          <p:nvPr/>
        </p:nvSpPr>
        <p:spPr>
          <a:xfrm>
            <a:off x="548640" y="1645920"/>
            <a:ext cx="5431536" cy="1005840"/>
          </a:xfrm>
          <a:prstGeom prst="roundRect">
            <a:avLst>
              <a:gd name="adj" fmla="val 9091"/>
            </a:avLst>
          </a:prstGeom>
          <a:solidFill>
            <a:schemeClr val="bg2"/>
          </a:solidFill>
          <a:ln/>
        </p:spPr>
      </p:sp>
      <p:sp>
        <p:nvSpPr>
          <p:cNvPr id="5" name="term 1 circle"/>
          <p:cNvSpPr/>
          <p:nvPr/>
        </p:nvSpPr>
        <p:spPr>
          <a:xfrm>
            <a:off x="749808" y="1874520"/>
            <a:ext cx="548640" cy="548640"/>
          </a:xfrm>
          <a:prstGeom prst="ellipse">
            <a:avLst/>
          </a:prstGeom>
          <a:solidFill>
            <a:schemeClr val="accent1"/>
          </a:solidFill>
          <a:ln/>
        </p:spPr>
      </p:sp>
      <p:pic>
        <p:nvPicPr>
          <p:cNvPr id="6" name="term 1 icon" descr="preencoded.png">    </p:cNvPr>
          <p:cNvPicPr>
            <a:picLocks noChangeAspect="1"/>
          </p:cNvPicPr>
          <p:nvPr/>
        </p:nvPicPr>
        <p:blipFill>
          <a:blip r:embed="rId1"/>
          <a:stretch>
            <a:fillRect/>
          </a:stretch>
        </p:blipFill>
        <p:spPr>
          <a:xfrm>
            <a:off x="881482" y="2006194"/>
            <a:ext cx="285293" cy="285293"/>
          </a:xfrm>
          <a:prstGeom prst="rect">
            <a:avLst/>
          </a:prstGeom>
        </p:spPr>
      </p:pic>
      <p:sp>
        <p:nvSpPr>
          <p:cNvPr id="7" name="term head 1"/>
          <p:cNvSpPr txBox="1"/>
          <p:nvPr/>
        </p:nvSpPr>
        <p:spPr>
          <a:xfrm>
            <a:off x="1508760" y="1737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Leading / trailing limb</a:t>
            </a:r>
            <a:endParaRPr lang="en-US" sz="1600" dirty="0"/>
          </a:p>
        </p:txBody>
      </p:sp>
      <p:sp>
        <p:nvSpPr>
          <p:cNvPr id="8" name="term body 1"/>
          <p:cNvSpPr txBox="1"/>
          <p:nvPr/>
        </p:nvSpPr>
        <p:spPr>
          <a:xfrm>
            <a:off x="1508760" y="2084832"/>
            <a:ext cx="4297680" cy="512064"/>
          </a:xfrm>
          <a:prstGeom prst="rect">
            <a:avLst/>
          </a:prstGeom>
          <a:noFill/>
          <a:ln/>
        </p:spPr>
        <p:txBody>
          <a:bodyPr wrap="square" lIns="0" tIns="0" rIns="0" bIns="0" rtlCol="0" anchor="t"/>
          <a:lstStyle/>
          <a:p>
            <a:pPr indent="0" marL="0">
              <a:buNone/>
            </a:pPr>
            <a:r>
              <a:rPr lang="en-US" sz="1400" dirty="0">
                <a:solidFill>
                  <a:schemeClr val="tx1"/>
                </a:solidFill>
              </a:rPr>
              <a:t>The first / second leg to step over the obstacle.</a:t>
            </a:r>
            <a:endParaRPr lang="en-US" sz="1400" dirty="0"/>
          </a:p>
        </p:txBody>
      </p:sp>
      <p:sp>
        <p:nvSpPr>
          <p:cNvPr id="9" name="term card 2"/>
          <p:cNvSpPr/>
          <p:nvPr/>
        </p:nvSpPr>
        <p:spPr>
          <a:xfrm>
            <a:off x="6208776" y="1645920"/>
            <a:ext cx="5431536" cy="1005840"/>
          </a:xfrm>
          <a:prstGeom prst="roundRect">
            <a:avLst>
              <a:gd name="adj" fmla="val 9091"/>
            </a:avLst>
          </a:prstGeom>
          <a:solidFill>
            <a:schemeClr val="bg2"/>
          </a:solidFill>
          <a:ln/>
        </p:spPr>
      </p:sp>
      <p:sp>
        <p:nvSpPr>
          <p:cNvPr id="10" name="term 2 circle"/>
          <p:cNvSpPr/>
          <p:nvPr/>
        </p:nvSpPr>
        <p:spPr>
          <a:xfrm>
            <a:off x="6409944" y="1874520"/>
            <a:ext cx="548640" cy="548640"/>
          </a:xfrm>
          <a:prstGeom prst="ellipse">
            <a:avLst/>
          </a:prstGeom>
          <a:solidFill>
            <a:schemeClr val="accent2"/>
          </a:solidFill>
          <a:ln/>
        </p:spPr>
      </p:sp>
      <p:pic>
        <p:nvPicPr>
          <p:cNvPr id="11" name="term 2 icon" descr="preencoded.png">    </p:cNvPr>
          <p:cNvPicPr>
            <a:picLocks noChangeAspect="1"/>
          </p:cNvPicPr>
          <p:nvPr/>
        </p:nvPicPr>
        <p:blipFill>
          <a:blip r:embed="rId2"/>
          <a:stretch>
            <a:fillRect/>
          </a:stretch>
        </p:blipFill>
        <p:spPr>
          <a:xfrm>
            <a:off x="6541618" y="2006194"/>
            <a:ext cx="285293" cy="285293"/>
          </a:xfrm>
          <a:prstGeom prst="rect">
            <a:avLst/>
          </a:prstGeom>
        </p:spPr>
      </p:pic>
      <p:sp>
        <p:nvSpPr>
          <p:cNvPr id="12" name="term head 2"/>
          <p:cNvSpPr txBox="1"/>
          <p:nvPr/>
        </p:nvSpPr>
        <p:spPr>
          <a:xfrm>
            <a:off x="7168896" y="1737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Heights H1–H3, widths W1–W2</a:t>
            </a:r>
            <a:endParaRPr lang="en-US" sz="1600" dirty="0"/>
          </a:p>
        </p:txBody>
      </p:sp>
      <p:sp>
        <p:nvSpPr>
          <p:cNvPr id="13" name="term body 2"/>
          <p:cNvSpPr txBox="1"/>
          <p:nvPr/>
        </p:nvSpPr>
        <p:spPr>
          <a:xfrm>
            <a:off x="7168896" y="2084832"/>
            <a:ext cx="4297680" cy="512064"/>
          </a:xfrm>
          <a:prstGeom prst="rect">
            <a:avLst/>
          </a:prstGeom>
          <a:noFill/>
          <a:ln/>
        </p:spPr>
        <p:txBody>
          <a:bodyPr wrap="square" lIns="0" tIns="0" rIns="0" bIns="0" rtlCol="0" anchor="t"/>
          <a:lstStyle/>
          <a:p>
            <a:pPr indent="0" marL="0">
              <a:buNone/>
            </a:pPr>
            <a:r>
              <a:rPr lang="en-US" sz="1400" dirty="0">
                <a:solidFill>
                  <a:schemeClr val="tx1"/>
                </a:solidFill>
              </a:rPr>
              <a:t>H = 10 / 20 / 30 % of the leg length; W = 5 / 15 cm deep along the walkway.</a:t>
            </a:r>
            <a:endParaRPr lang="en-US" sz="1400" dirty="0"/>
          </a:p>
        </p:txBody>
      </p:sp>
      <p:sp>
        <p:nvSpPr>
          <p:cNvPr id="14" name="term card 3"/>
          <p:cNvSpPr/>
          <p:nvPr/>
        </p:nvSpPr>
        <p:spPr>
          <a:xfrm>
            <a:off x="548640" y="2788920"/>
            <a:ext cx="5431536" cy="1005840"/>
          </a:xfrm>
          <a:prstGeom prst="roundRect">
            <a:avLst>
              <a:gd name="adj" fmla="val 9091"/>
            </a:avLst>
          </a:prstGeom>
          <a:solidFill>
            <a:schemeClr val="bg2"/>
          </a:solidFill>
          <a:ln/>
        </p:spPr>
      </p:sp>
      <p:sp>
        <p:nvSpPr>
          <p:cNvPr id="15" name="term 3 circle"/>
          <p:cNvSpPr/>
          <p:nvPr/>
        </p:nvSpPr>
        <p:spPr>
          <a:xfrm>
            <a:off x="749808" y="3017520"/>
            <a:ext cx="548640" cy="548640"/>
          </a:xfrm>
          <a:prstGeom prst="ellipse">
            <a:avLst/>
          </a:prstGeom>
          <a:solidFill>
            <a:schemeClr val="accent3"/>
          </a:solidFill>
          <a:ln/>
        </p:spPr>
      </p:sp>
      <p:pic>
        <p:nvPicPr>
          <p:cNvPr id="16" name="term 3 icon" descr="preencoded.png">    </p:cNvPr>
          <p:cNvPicPr>
            <a:picLocks noChangeAspect="1"/>
          </p:cNvPicPr>
          <p:nvPr/>
        </p:nvPicPr>
        <p:blipFill>
          <a:blip r:embed="rId3"/>
          <a:stretch>
            <a:fillRect/>
          </a:stretch>
        </p:blipFill>
        <p:spPr>
          <a:xfrm>
            <a:off x="881482" y="3149194"/>
            <a:ext cx="285293" cy="285293"/>
          </a:xfrm>
          <a:prstGeom prst="rect">
            <a:avLst/>
          </a:prstGeom>
        </p:spPr>
      </p:pic>
      <p:sp>
        <p:nvSpPr>
          <p:cNvPr id="17" name="term head 3"/>
          <p:cNvSpPr txBox="1"/>
          <p:nvPr/>
        </p:nvSpPr>
        <p:spPr>
          <a:xfrm>
            <a:off x="1508760" y="2880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Swing and foot apex</a:t>
            </a:r>
            <a:endParaRPr lang="en-US" sz="1600" dirty="0"/>
          </a:p>
        </p:txBody>
      </p:sp>
      <p:sp>
        <p:nvSpPr>
          <p:cNvPr id="18" name="term body 3"/>
          <p:cNvSpPr txBox="1"/>
          <p:nvPr/>
        </p:nvSpPr>
        <p:spPr>
          <a:xfrm>
            <a:off x="1508760" y="3227832"/>
            <a:ext cx="4297680" cy="512064"/>
          </a:xfrm>
          <a:prstGeom prst="rect">
            <a:avLst/>
          </a:prstGeom>
          <a:noFill/>
          <a:ln/>
        </p:spPr>
        <p:txBody>
          <a:bodyPr wrap="square" lIns="0" tIns="0" rIns="0" bIns="0" rtlCol="0" anchor="t"/>
          <a:lstStyle/>
          <a:p>
            <a:pPr indent="0" marL="0">
              <a:buNone/>
            </a:pPr>
            <a:r>
              <a:rPr lang="en-US" sz="1400" dirty="0">
                <a:solidFill>
                  <a:schemeClr val="tx1"/>
                </a:solidFill>
              </a:rPr>
              <a:t>Swing = toe-off to heel strike of one leg; apex = highest point of the foot.</a:t>
            </a:r>
            <a:endParaRPr lang="en-US" sz="1400" dirty="0"/>
          </a:p>
        </p:txBody>
      </p:sp>
      <p:sp>
        <p:nvSpPr>
          <p:cNvPr id="19" name="term card 4"/>
          <p:cNvSpPr/>
          <p:nvPr/>
        </p:nvSpPr>
        <p:spPr>
          <a:xfrm>
            <a:off x="6208776" y="2788920"/>
            <a:ext cx="5431536" cy="1005840"/>
          </a:xfrm>
          <a:prstGeom prst="roundRect">
            <a:avLst>
              <a:gd name="adj" fmla="val 9091"/>
            </a:avLst>
          </a:prstGeom>
          <a:solidFill>
            <a:schemeClr val="bg2"/>
          </a:solidFill>
          <a:ln/>
        </p:spPr>
      </p:sp>
      <p:sp>
        <p:nvSpPr>
          <p:cNvPr id="20" name="term 4 circle"/>
          <p:cNvSpPr/>
          <p:nvPr/>
        </p:nvSpPr>
        <p:spPr>
          <a:xfrm>
            <a:off x="6409944" y="3017520"/>
            <a:ext cx="548640" cy="548640"/>
          </a:xfrm>
          <a:prstGeom prst="ellipse">
            <a:avLst/>
          </a:prstGeom>
          <a:solidFill>
            <a:schemeClr val="accent5"/>
          </a:solidFill>
          <a:ln/>
        </p:spPr>
      </p:sp>
      <p:pic>
        <p:nvPicPr>
          <p:cNvPr id="21" name="term 4 icon" descr="preencoded.png">    </p:cNvPr>
          <p:cNvPicPr>
            <a:picLocks noChangeAspect="1"/>
          </p:cNvPicPr>
          <p:nvPr/>
        </p:nvPicPr>
        <p:blipFill>
          <a:blip r:embed="rId4"/>
          <a:stretch>
            <a:fillRect/>
          </a:stretch>
        </p:blipFill>
        <p:spPr>
          <a:xfrm>
            <a:off x="6541618" y="3149194"/>
            <a:ext cx="285293" cy="285293"/>
          </a:xfrm>
          <a:prstGeom prst="rect">
            <a:avLst/>
          </a:prstGeom>
        </p:spPr>
      </p:pic>
      <p:sp>
        <p:nvSpPr>
          <p:cNvPr id="22" name="term head 4"/>
          <p:cNvSpPr txBox="1"/>
          <p:nvPr/>
        </p:nvSpPr>
        <p:spPr>
          <a:xfrm>
            <a:off x="7168896" y="2880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Time 0 = trailing toe lift-off</a:t>
            </a:r>
            <a:endParaRPr lang="en-US" sz="1600" dirty="0"/>
          </a:p>
        </p:txBody>
      </p:sp>
      <p:sp>
        <p:nvSpPr>
          <p:cNvPr id="23" name="term body 4"/>
          <p:cNvSpPr txBox="1"/>
          <p:nvPr/>
        </p:nvSpPr>
        <p:spPr>
          <a:xfrm>
            <a:off x="7168896" y="3227832"/>
            <a:ext cx="4297680" cy="512064"/>
          </a:xfrm>
          <a:prstGeom prst="rect">
            <a:avLst/>
          </a:prstGeom>
          <a:noFill/>
          <a:ln/>
        </p:spPr>
        <p:txBody>
          <a:bodyPr wrap="square" lIns="0" tIns="0" rIns="0" bIns="0" rtlCol="0" anchor="t"/>
          <a:lstStyle/>
          <a:p>
            <a:pPr indent="0" marL="0">
              <a:buNone/>
            </a:pPr>
            <a:r>
              <a:rPr lang="en-US" sz="1400" dirty="0">
                <a:solidFill>
                  <a:schemeClr val="tx1"/>
                </a:solidFill>
              </a:rPr>
              <a:t>The trailing toe leaves the floor (camera): the deadline for a cue to that leg.</a:t>
            </a:r>
            <a:endParaRPr lang="en-US" sz="1400" dirty="0"/>
          </a:p>
        </p:txBody>
      </p:sp>
      <p:sp>
        <p:nvSpPr>
          <p:cNvPr id="24" name="term card 5"/>
          <p:cNvSpPr/>
          <p:nvPr/>
        </p:nvSpPr>
        <p:spPr>
          <a:xfrm>
            <a:off x="548640" y="3931920"/>
            <a:ext cx="5431536" cy="1005840"/>
          </a:xfrm>
          <a:prstGeom prst="roundRect">
            <a:avLst>
              <a:gd name="adj" fmla="val 9091"/>
            </a:avLst>
          </a:prstGeom>
          <a:solidFill>
            <a:schemeClr val="bg2"/>
          </a:solidFill>
          <a:ln/>
        </p:spPr>
      </p:sp>
      <p:sp>
        <p:nvSpPr>
          <p:cNvPr id="25" name="term 5 circle"/>
          <p:cNvSpPr/>
          <p:nvPr/>
        </p:nvSpPr>
        <p:spPr>
          <a:xfrm>
            <a:off x="749808" y="4160520"/>
            <a:ext cx="548640" cy="548640"/>
          </a:xfrm>
          <a:prstGeom prst="ellipse">
            <a:avLst/>
          </a:prstGeom>
          <a:solidFill>
            <a:schemeClr val="tx2"/>
          </a:solidFill>
          <a:ln/>
        </p:spPr>
      </p:sp>
      <p:pic>
        <p:nvPicPr>
          <p:cNvPr id="26" name="term 5 icon" descr="preencoded.png">    </p:cNvPr>
          <p:cNvPicPr>
            <a:picLocks noChangeAspect="1"/>
          </p:cNvPicPr>
          <p:nvPr/>
        </p:nvPicPr>
        <p:blipFill>
          <a:blip r:embed="rId5"/>
          <a:stretch>
            <a:fillRect/>
          </a:stretch>
        </p:blipFill>
        <p:spPr>
          <a:xfrm>
            <a:off x="881482" y="4292194"/>
            <a:ext cx="285293" cy="285293"/>
          </a:xfrm>
          <a:prstGeom prst="rect">
            <a:avLst/>
          </a:prstGeom>
        </p:spPr>
      </p:pic>
      <p:sp>
        <p:nvSpPr>
          <p:cNvPr id="27" name="term head 5"/>
          <p:cNvSpPr txBox="1"/>
          <p:nvPr/>
        </p:nvSpPr>
        <p:spPr>
          <a:xfrm>
            <a:off x="1508760" y="4023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Unseen participant (LOPO)</a:t>
            </a:r>
            <a:endParaRPr lang="en-US" sz="1600" dirty="0"/>
          </a:p>
        </p:txBody>
      </p:sp>
      <p:sp>
        <p:nvSpPr>
          <p:cNvPr id="28" name="term body 5"/>
          <p:cNvSpPr txBox="1"/>
          <p:nvPr/>
        </p:nvSpPr>
        <p:spPr>
          <a:xfrm>
            <a:off x="1508760" y="4370832"/>
            <a:ext cx="4297680" cy="512064"/>
          </a:xfrm>
          <a:prstGeom prst="rect">
            <a:avLst/>
          </a:prstGeom>
          <a:noFill/>
          <a:ln/>
        </p:spPr>
        <p:txBody>
          <a:bodyPr wrap="square" lIns="0" tIns="0" rIns="0" bIns="0" rtlCol="0" anchor="t"/>
          <a:lstStyle/>
          <a:p>
            <a:pPr indent="0" marL="0">
              <a:buNone/>
            </a:pPr>
            <a:r>
              <a:rPr lang="en-US" sz="1400" dirty="0">
                <a:solidFill>
                  <a:schemeClr val="tx1"/>
                </a:solidFill>
              </a:rPr>
              <a:t>Train on 9 people, test on the 10th; repeated for all 10.</a:t>
            </a:r>
            <a:endParaRPr lang="en-US" sz="1400" dirty="0"/>
          </a:p>
        </p:txBody>
      </p:sp>
      <p:sp>
        <p:nvSpPr>
          <p:cNvPr id="29" name="term card 6"/>
          <p:cNvSpPr/>
          <p:nvPr/>
        </p:nvSpPr>
        <p:spPr>
          <a:xfrm>
            <a:off x="6208776" y="3931920"/>
            <a:ext cx="5431536" cy="1005840"/>
          </a:xfrm>
          <a:prstGeom prst="roundRect">
            <a:avLst>
              <a:gd name="adj" fmla="val 9091"/>
            </a:avLst>
          </a:prstGeom>
          <a:solidFill>
            <a:schemeClr val="bg2"/>
          </a:solidFill>
          <a:ln/>
        </p:spPr>
      </p:sp>
      <p:sp>
        <p:nvSpPr>
          <p:cNvPr id="30" name="term 6 circle"/>
          <p:cNvSpPr/>
          <p:nvPr/>
        </p:nvSpPr>
        <p:spPr>
          <a:xfrm>
            <a:off x="6409944" y="4160520"/>
            <a:ext cx="548640" cy="548640"/>
          </a:xfrm>
          <a:prstGeom prst="ellipse">
            <a:avLst/>
          </a:prstGeom>
          <a:solidFill>
            <a:schemeClr val="accent1"/>
          </a:solidFill>
          <a:ln/>
        </p:spPr>
      </p:sp>
      <p:pic>
        <p:nvPicPr>
          <p:cNvPr id="31" name="term 6 icon" descr="preencoded.png">    </p:cNvPr>
          <p:cNvPicPr>
            <a:picLocks noChangeAspect="1"/>
          </p:cNvPicPr>
          <p:nvPr/>
        </p:nvPicPr>
        <p:blipFill>
          <a:blip r:embed="rId6"/>
          <a:stretch>
            <a:fillRect/>
          </a:stretch>
        </p:blipFill>
        <p:spPr>
          <a:xfrm>
            <a:off x="6541618" y="4292194"/>
            <a:ext cx="285293" cy="285293"/>
          </a:xfrm>
          <a:prstGeom prst="rect">
            <a:avLst/>
          </a:prstGeom>
        </p:spPr>
      </p:pic>
      <p:sp>
        <p:nvSpPr>
          <p:cNvPr id="32" name="term head 6"/>
          <p:cNvSpPr txBox="1"/>
          <p:nvPr/>
        </p:nvSpPr>
        <p:spPr>
          <a:xfrm>
            <a:off x="7168896" y="4023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Balanced accuracy</a:t>
            </a:r>
            <a:endParaRPr lang="en-US" sz="1600" dirty="0"/>
          </a:p>
        </p:txBody>
      </p:sp>
      <p:sp>
        <p:nvSpPr>
          <p:cNvPr id="33" name="term body 6"/>
          <p:cNvSpPr txBox="1"/>
          <p:nvPr/>
        </p:nvSpPr>
        <p:spPr>
          <a:xfrm>
            <a:off x="7168896" y="4370832"/>
            <a:ext cx="4297680" cy="512064"/>
          </a:xfrm>
          <a:prstGeom prst="rect">
            <a:avLst/>
          </a:prstGeom>
          <a:noFill/>
          <a:ln/>
        </p:spPr>
        <p:txBody>
          <a:bodyPr wrap="square" lIns="0" tIns="0" rIns="0" bIns="0" rtlCol="0" anchor="t"/>
          <a:lstStyle/>
          <a:p>
            <a:pPr indent="0" marL="0">
              <a:buNone/>
            </a:pPr>
            <a:r>
              <a:rPr lang="en-US" sz="1400" dirty="0">
                <a:solidFill>
                  <a:schemeClr val="tx1"/>
                </a:solidFill>
              </a:rPr>
              <a:t>Mean of the per-class hit rates; chance = 33 % for height, 50 % for width.</a:t>
            </a:r>
            <a:endParaRPr lang="en-US" sz="1400" dirty="0"/>
          </a:p>
        </p:txBody>
      </p:sp>
      <p:sp>
        <p:nvSpPr>
          <p:cNvPr id="34" name="term card 7"/>
          <p:cNvSpPr/>
          <p:nvPr/>
        </p:nvSpPr>
        <p:spPr>
          <a:xfrm>
            <a:off x="548640" y="5074920"/>
            <a:ext cx="5431536" cy="1005840"/>
          </a:xfrm>
          <a:prstGeom prst="roundRect">
            <a:avLst>
              <a:gd name="adj" fmla="val 9091"/>
            </a:avLst>
          </a:prstGeom>
          <a:solidFill>
            <a:schemeClr val="bg2"/>
          </a:solidFill>
          <a:ln/>
        </p:spPr>
      </p:sp>
      <p:sp>
        <p:nvSpPr>
          <p:cNvPr id="35" name="term 7 circle"/>
          <p:cNvSpPr/>
          <p:nvPr/>
        </p:nvSpPr>
        <p:spPr>
          <a:xfrm>
            <a:off x="749808" y="5303520"/>
            <a:ext cx="548640" cy="548640"/>
          </a:xfrm>
          <a:prstGeom prst="ellipse">
            <a:avLst/>
          </a:prstGeom>
          <a:solidFill>
            <a:schemeClr val="accent6"/>
          </a:solidFill>
          <a:ln/>
        </p:spPr>
      </p:sp>
      <p:pic>
        <p:nvPicPr>
          <p:cNvPr id="36" name="term 7 icon" descr="preencoded.png">    </p:cNvPr>
          <p:cNvPicPr>
            <a:picLocks noChangeAspect="1"/>
          </p:cNvPicPr>
          <p:nvPr/>
        </p:nvPicPr>
        <p:blipFill>
          <a:blip r:embed="rId7"/>
          <a:stretch>
            <a:fillRect/>
          </a:stretch>
        </p:blipFill>
        <p:spPr>
          <a:xfrm>
            <a:off x="881482" y="5435194"/>
            <a:ext cx="285293" cy="285293"/>
          </a:xfrm>
          <a:prstGeom prst="rect">
            <a:avLst/>
          </a:prstGeom>
        </p:spPr>
      </p:pic>
      <p:sp>
        <p:nvSpPr>
          <p:cNvPr id="37" name="term head 7"/>
          <p:cNvSpPr txBox="1"/>
          <p:nvPr/>
        </p:nvSpPr>
        <p:spPr>
          <a:xfrm>
            <a:off x="1508760" y="5166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Generic model</a:t>
            </a:r>
            <a:endParaRPr lang="en-US" sz="1600" dirty="0"/>
          </a:p>
        </p:txBody>
      </p:sp>
      <p:sp>
        <p:nvSpPr>
          <p:cNvPr id="38" name="term body 7"/>
          <p:cNvSpPr txBox="1"/>
          <p:nvPr/>
        </p:nvSpPr>
        <p:spPr>
          <a:xfrm>
            <a:off x="1508760" y="5513832"/>
            <a:ext cx="4297680" cy="512064"/>
          </a:xfrm>
          <a:prstGeom prst="rect">
            <a:avLst/>
          </a:prstGeom>
          <a:noFill/>
          <a:ln/>
        </p:spPr>
        <p:txBody>
          <a:bodyPr wrap="square" lIns="0" tIns="0" rIns="0" bIns="0" rtlCol="0" anchor="t"/>
          <a:lstStyle/>
          <a:p>
            <a:pPr indent="0" marL="0">
              <a:buNone/>
            </a:pPr>
            <a:r>
              <a:rPr lang="en-US" sz="1400" dirty="0">
                <a:solidFill>
                  <a:schemeClr val="tx1"/>
                </a:solidFill>
              </a:rPr>
              <a:t>Features referenced only to the person's normal walking and leg length.</a:t>
            </a:r>
            <a:endParaRPr lang="en-US" sz="1400" dirty="0"/>
          </a:p>
        </p:txBody>
      </p:sp>
      <p:sp>
        <p:nvSpPr>
          <p:cNvPr id="39" name="term card 8"/>
          <p:cNvSpPr/>
          <p:nvPr/>
        </p:nvSpPr>
        <p:spPr>
          <a:xfrm>
            <a:off x="6208776" y="5074920"/>
            <a:ext cx="5431536" cy="1005840"/>
          </a:xfrm>
          <a:prstGeom prst="roundRect">
            <a:avLst>
              <a:gd name="adj" fmla="val 9091"/>
            </a:avLst>
          </a:prstGeom>
          <a:solidFill>
            <a:schemeClr val="bg2"/>
          </a:solidFill>
          <a:ln/>
        </p:spPr>
      </p:sp>
      <p:sp>
        <p:nvSpPr>
          <p:cNvPr id="40" name="term 8 circle"/>
          <p:cNvSpPr/>
          <p:nvPr/>
        </p:nvSpPr>
        <p:spPr>
          <a:xfrm>
            <a:off x="6409944" y="5303520"/>
            <a:ext cx="548640" cy="548640"/>
          </a:xfrm>
          <a:prstGeom prst="ellipse">
            <a:avLst/>
          </a:prstGeom>
          <a:solidFill>
            <a:schemeClr val="accent4"/>
          </a:solidFill>
          <a:ln/>
        </p:spPr>
      </p:sp>
      <p:pic>
        <p:nvPicPr>
          <p:cNvPr id="41" name="term 8 icon" descr="preencoded.png">    </p:cNvPr>
          <p:cNvPicPr>
            <a:picLocks noChangeAspect="1"/>
          </p:cNvPicPr>
          <p:nvPr/>
        </p:nvPicPr>
        <p:blipFill>
          <a:blip r:embed="rId8"/>
          <a:stretch>
            <a:fillRect/>
          </a:stretch>
        </p:blipFill>
        <p:spPr>
          <a:xfrm>
            <a:off x="6541618" y="5435194"/>
            <a:ext cx="285293" cy="285293"/>
          </a:xfrm>
          <a:prstGeom prst="rect">
            <a:avLst/>
          </a:prstGeom>
        </p:spPr>
      </p:pic>
      <p:sp>
        <p:nvSpPr>
          <p:cNvPr id="42" name="term head 8"/>
          <p:cNvSpPr txBox="1"/>
          <p:nvPr/>
        </p:nvSpPr>
        <p:spPr>
          <a:xfrm>
            <a:off x="7168896" y="5166360"/>
            <a:ext cx="4297680" cy="347472"/>
          </a:xfrm>
          <a:prstGeom prst="rect">
            <a:avLst/>
          </a:prstGeom>
          <a:noFill/>
          <a:ln/>
        </p:spPr>
        <p:txBody>
          <a:bodyPr wrap="square" lIns="0" tIns="0" rIns="0" bIns="0" rtlCol="0" anchor="ctr"/>
          <a:lstStyle/>
          <a:p>
            <a:pPr indent="0" marL="0">
              <a:buNone/>
            </a:pPr>
            <a:r>
              <a:rPr lang="en-US" sz="1600" b="1" dirty="0">
                <a:solidFill>
                  <a:schemeClr val="tx2"/>
                </a:solidFill>
              </a:rPr>
              <a:t>Person scaling</a:t>
            </a:r>
            <a:endParaRPr lang="en-US" sz="1600" dirty="0"/>
          </a:p>
        </p:txBody>
      </p:sp>
      <p:sp>
        <p:nvSpPr>
          <p:cNvPr id="43" name="term body 8"/>
          <p:cNvSpPr txBox="1"/>
          <p:nvPr/>
        </p:nvSpPr>
        <p:spPr>
          <a:xfrm>
            <a:off x="7168896" y="5513832"/>
            <a:ext cx="4297680" cy="512064"/>
          </a:xfrm>
          <a:prstGeom prst="rect">
            <a:avLst/>
          </a:prstGeom>
          <a:noFill/>
          <a:ln/>
        </p:spPr>
        <p:txBody>
          <a:bodyPr wrap="square" lIns="0" tIns="0" rIns="0" bIns="0" rtlCol="0" anchor="t"/>
          <a:lstStyle/>
          <a:p>
            <a:pPr indent="0" marL="0">
              <a:buNone/>
            </a:pPr>
            <a:r>
              <a:rPr lang="en-US" sz="1400" dirty="0">
                <a:solidFill>
                  <a:schemeClr val="tx1"/>
                </a:solidFill>
              </a:rPr>
              <a:t>Features scaled by the person's own crossings (median, IQR); no labels needed.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The crossing timeline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Median times relative to the trailing toe lift-off (camera), 260 crossings.</a:t>
            </a:r>
            <a:endParaRPr lang="en-US" sz="1700" dirty="0"/>
          </a:p>
        </p:txBody>
      </p:sp>
      <p:sp>
        <p:nvSpPr>
          <p:cNvPr id="4" name="zone 1"/>
          <p:cNvSpPr/>
          <p:nvPr/>
        </p:nvSpPr>
        <p:spPr>
          <a:xfrm>
            <a:off x="2051971" y="2194560"/>
            <a:ext cx="939832" cy="3611880"/>
          </a:xfrm>
          <a:prstGeom prst="rect">
            <a:avLst/>
          </a:prstGeom>
          <a:solidFill>
            <a:schemeClr val="accent3">
              <a:alpha val="14000"/>
            </a:schemeClr>
          </a:solidFill>
          <a:ln/>
        </p:spPr>
      </p:sp>
      <p:sp>
        <p:nvSpPr>
          <p:cNvPr id="5" name="zone label 1"/>
          <p:cNvSpPr txBox="1"/>
          <p:nvPr/>
        </p:nvSpPr>
        <p:spPr>
          <a:xfrm>
            <a:off x="1698927" y="1600200"/>
            <a:ext cx="1645920" cy="548640"/>
          </a:xfrm>
          <a:prstGeom prst="rect">
            <a:avLst/>
          </a:prstGeom>
          <a:noFill/>
          <a:ln/>
        </p:spPr>
        <p:txBody>
          <a:bodyPr wrap="square" lIns="0" tIns="0" rIns="0" bIns="0" rtlCol="0" anchor="b"/>
          <a:lstStyle/>
          <a:p>
            <a:pPr algn="ctr" indent="0" marL="0">
              <a:buNone/>
            </a:pPr>
            <a:r>
              <a:rPr lang="en-US" sz="1300" b="1" dirty="0">
                <a:solidFill>
                  <a:schemeClr val="accent3"/>
                </a:solidFill>
              </a:rPr>
              <a:t>detect the</a:t>
            </a:r>
            <a:endParaRPr lang="en-US" sz="1300" dirty="0"/>
          </a:p>
          <a:p>
            <a:pPr algn="ctr" indent="0" marL="0">
              <a:buNone/>
            </a:pPr>
            <a:r>
              <a:rPr lang="en-US" sz="1300" b="1" dirty="0">
                <a:solidFill>
                  <a:schemeClr val="accent3"/>
                </a:solidFill>
              </a:rPr>
              <a:t>crossing</a:t>
            </a:r>
            <a:endParaRPr lang="en-US" sz="1300" dirty="0"/>
          </a:p>
        </p:txBody>
      </p:sp>
      <p:sp>
        <p:nvSpPr>
          <p:cNvPr id="6" name="zone 2"/>
          <p:cNvSpPr/>
          <p:nvPr/>
        </p:nvSpPr>
        <p:spPr>
          <a:xfrm>
            <a:off x="3780473" y="2194560"/>
            <a:ext cx="1643063" cy="3611880"/>
          </a:xfrm>
          <a:prstGeom prst="rect">
            <a:avLst/>
          </a:prstGeom>
          <a:solidFill>
            <a:schemeClr val="accent1">
              <a:alpha val="14000"/>
            </a:schemeClr>
          </a:solidFill>
          <a:ln/>
        </p:spPr>
      </p:sp>
      <p:sp>
        <p:nvSpPr>
          <p:cNvPr id="7" name="zone label 2"/>
          <p:cNvSpPr txBox="1"/>
          <p:nvPr/>
        </p:nvSpPr>
        <p:spPr>
          <a:xfrm>
            <a:off x="3779044" y="1600200"/>
            <a:ext cx="1645920" cy="548640"/>
          </a:xfrm>
          <a:prstGeom prst="rect">
            <a:avLst/>
          </a:prstGeom>
          <a:noFill/>
          <a:ln/>
        </p:spPr>
        <p:txBody>
          <a:bodyPr wrap="square" lIns="0" tIns="0" rIns="0" bIns="0" rtlCol="0" anchor="b"/>
          <a:lstStyle/>
          <a:p>
            <a:pPr algn="ctr" indent="0" marL="0">
              <a:buNone/>
            </a:pPr>
            <a:r>
              <a:rPr lang="en-US" sz="1300" b="1" dirty="0">
                <a:solidFill>
                  <a:schemeClr val="accent1"/>
                </a:solidFill>
              </a:rPr>
              <a:t>height known:</a:t>
            </a:r>
            <a:endParaRPr lang="en-US" sz="1300" dirty="0"/>
          </a:p>
          <a:p>
            <a:pPr algn="ctr" indent="0" marL="0">
              <a:buNone/>
            </a:pPr>
            <a:r>
              <a:rPr lang="en-US" sz="1300" b="1" dirty="0">
                <a:solidFill>
                  <a:schemeClr val="accent1"/>
                </a:solidFill>
              </a:rPr>
              <a:t>cue now</a:t>
            </a:r>
            <a:endParaRPr lang="en-US" sz="1300" dirty="0"/>
          </a:p>
        </p:txBody>
      </p:sp>
      <p:sp>
        <p:nvSpPr>
          <p:cNvPr id="8" name="zone 3"/>
          <p:cNvSpPr/>
          <p:nvPr/>
        </p:nvSpPr>
        <p:spPr>
          <a:xfrm>
            <a:off x="5423535" y="2194560"/>
            <a:ext cx="1314450" cy="3611880"/>
          </a:xfrm>
          <a:prstGeom prst="rect">
            <a:avLst/>
          </a:prstGeom>
          <a:solidFill>
            <a:schemeClr val="accent5">
              <a:alpha val="14000"/>
            </a:schemeClr>
          </a:solidFill>
          <a:ln/>
        </p:spPr>
      </p:sp>
      <p:sp>
        <p:nvSpPr>
          <p:cNvPr id="9" name="zone label 3"/>
          <p:cNvSpPr txBox="1"/>
          <p:nvPr/>
        </p:nvSpPr>
        <p:spPr>
          <a:xfrm>
            <a:off x="5257800" y="1600200"/>
            <a:ext cx="1645920" cy="548640"/>
          </a:xfrm>
          <a:prstGeom prst="rect">
            <a:avLst/>
          </a:prstGeom>
          <a:noFill/>
          <a:ln/>
        </p:spPr>
        <p:txBody>
          <a:bodyPr wrap="square" lIns="0" tIns="0" rIns="0" bIns="0" rtlCol="0" anchor="b"/>
          <a:lstStyle/>
          <a:p>
            <a:pPr algn="ctr" indent="0" marL="0">
              <a:buNone/>
            </a:pPr>
            <a:r>
              <a:rPr lang="en-US" sz="1300" b="1" dirty="0">
                <a:solidFill>
                  <a:schemeClr val="accent5"/>
                </a:solidFill>
              </a:rPr>
              <a:t>too late</a:t>
            </a:r>
            <a:endParaRPr lang="en-US" sz="1300" dirty="0"/>
          </a:p>
          <a:p>
            <a:pPr algn="ctr" indent="0" marL="0">
              <a:buNone/>
            </a:pPr>
            <a:r>
              <a:rPr lang="en-US" sz="1300" b="1" dirty="0">
                <a:solidFill>
                  <a:schemeClr val="accent5"/>
                </a:solidFill>
              </a:rPr>
              <a:t>for most</a:t>
            </a:r>
            <a:endParaRPr lang="en-US" sz="1300" dirty="0"/>
          </a:p>
        </p:txBody>
      </p:sp>
      <p:sp>
        <p:nvSpPr>
          <p:cNvPr id="10" name="time axis"/>
          <p:cNvSpPr/>
          <p:nvPr/>
        </p:nvSpPr>
        <p:spPr>
          <a:xfrm>
            <a:off x="822960" y="3931920"/>
            <a:ext cx="10515600" cy="0"/>
          </a:xfrm>
          <a:prstGeom prst="line">
            <a:avLst/>
          </a:prstGeom>
          <a:noFill/>
          <a:ln w="25400">
            <a:solidFill>
              <a:schemeClr val="tx1"/>
            </a:solidFill>
            <a:prstDash val="solid"/>
          </a:ln>
        </p:spPr>
      </p:sp>
      <p:sp>
        <p:nvSpPr>
          <p:cNvPr id="11" name="tick -800"/>
          <p:cNvSpPr/>
          <p:nvPr/>
        </p:nvSpPr>
        <p:spPr>
          <a:xfrm>
            <a:off x="1480185" y="3877056"/>
            <a:ext cx="0" cy="109728"/>
          </a:xfrm>
          <a:prstGeom prst="line">
            <a:avLst/>
          </a:prstGeom>
          <a:noFill/>
          <a:ln w="19050">
            <a:solidFill>
              <a:schemeClr val="tx1"/>
            </a:solidFill>
            <a:prstDash val="solid"/>
          </a:ln>
        </p:spPr>
      </p:sp>
      <p:sp>
        <p:nvSpPr>
          <p:cNvPr id="12" name="tick label -800"/>
          <p:cNvSpPr txBox="1"/>
          <p:nvPr/>
        </p:nvSpPr>
        <p:spPr>
          <a:xfrm>
            <a:off x="1160145" y="4023360"/>
            <a:ext cx="640080" cy="228600"/>
          </a:xfrm>
          <a:prstGeom prst="rect">
            <a:avLst/>
          </a:prstGeom>
          <a:noFill/>
          <a:ln/>
        </p:spPr>
        <p:txBody>
          <a:bodyPr wrap="square" lIns="0" tIns="0" rIns="0" bIns="0" rtlCol="0" anchor="t"/>
          <a:lstStyle/>
          <a:p>
            <a:pPr algn="ctr" indent="0" marL="0">
              <a:buNone/>
            </a:pPr>
            <a:r>
              <a:rPr lang="en-US" sz="1100" dirty="0">
                <a:solidFill>
                  <a:schemeClr val="accent6"/>
                </a:solidFill>
              </a:rPr>
              <a:t>−800</a:t>
            </a:r>
            <a:endParaRPr lang="en-US" sz="1100" dirty="0"/>
          </a:p>
        </p:txBody>
      </p:sp>
      <p:sp>
        <p:nvSpPr>
          <p:cNvPr id="13" name="tick -600"/>
          <p:cNvSpPr/>
          <p:nvPr/>
        </p:nvSpPr>
        <p:spPr>
          <a:xfrm>
            <a:off x="2794635" y="3877056"/>
            <a:ext cx="0" cy="109728"/>
          </a:xfrm>
          <a:prstGeom prst="line">
            <a:avLst/>
          </a:prstGeom>
          <a:noFill/>
          <a:ln w="19050">
            <a:solidFill>
              <a:schemeClr val="tx1"/>
            </a:solidFill>
            <a:prstDash val="solid"/>
          </a:ln>
        </p:spPr>
      </p:sp>
      <p:sp>
        <p:nvSpPr>
          <p:cNvPr id="14" name="tick label -600"/>
          <p:cNvSpPr txBox="1"/>
          <p:nvPr/>
        </p:nvSpPr>
        <p:spPr>
          <a:xfrm>
            <a:off x="2474595" y="4023360"/>
            <a:ext cx="640080" cy="228600"/>
          </a:xfrm>
          <a:prstGeom prst="rect">
            <a:avLst/>
          </a:prstGeom>
          <a:noFill/>
          <a:ln/>
        </p:spPr>
        <p:txBody>
          <a:bodyPr wrap="square" lIns="0" tIns="0" rIns="0" bIns="0" rtlCol="0" anchor="t"/>
          <a:lstStyle/>
          <a:p>
            <a:pPr algn="ctr" indent="0" marL="0">
              <a:buNone/>
            </a:pPr>
            <a:r>
              <a:rPr lang="en-US" sz="1100" dirty="0">
                <a:solidFill>
                  <a:schemeClr val="accent6"/>
                </a:solidFill>
              </a:rPr>
              <a:t>−600</a:t>
            </a:r>
            <a:endParaRPr lang="en-US" sz="1100" dirty="0"/>
          </a:p>
        </p:txBody>
      </p:sp>
      <p:sp>
        <p:nvSpPr>
          <p:cNvPr id="15" name="tick -400"/>
          <p:cNvSpPr/>
          <p:nvPr/>
        </p:nvSpPr>
        <p:spPr>
          <a:xfrm>
            <a:off x="4109085" y="3877056"/>
            <a:ext cx="0" cy="109728"/>
          </a:xfrm>
          <a:prstGeom prst="line">
            <a:avLst/>
          </a:prstGeom>
          <a:noFill/>
          <a:ln w="19050">
            <a:solidFill>
              <a:schemeClr val="tx1"/>
            </a:solidFill>
            <a:prstDash val="solid"/>
          </a:ln>
        </p:spPr>
      </p:sp>
      <p:sp>
        <p:nvSpPr>
          <p:cNvPr id="16" name="tick label -400"/>
          <p:cNvSpPr txBox="1"/>
          <p:nvPr/>
        </p:nvSpPr>
        <p:spPr>
          <a:xfrm>
            <a:off x="3789045" y="4023360"/>
            <a:ext cx="640080" cy="228600"/>
          </a:xfrm>
          <a:prstGeom prst="rect">
            <a:avLst/>
          </a:prstGeom>
          <a:noFill/>
          <a:ln/>
        </p:spPr>
        <p:txBody>
          <a:bodyPr wrap="square" lIns="0" tIns="0" rIns="0" bIns="0" rtlCol="0" anchor="t"/>
          <a:lstStyle/>
          <a:p>
            <a:pPr algn="ctr" indent="0" marL="0">
              <a:buNone/>
            </a:pPr>
            <a:r>
              <a:rPr lang="en-US" sz="1100" dirty="0">
                <a:solidFill>
                  <a:schemeClr val="accent6"/>
                </a:solidFill>
              </a:rPr>
              <a:t>−400</a:t>
            </a:r>
            <a:endParaRPr lang="en-US" sz="1100" dirty="0"/>
          </a:p>
        </p:txBody>
      </p:sp>
      <p:sp>
        <p:nvSpPr>
          <p:cNvPr id="17" name="tick -200"/>
          <p:cNvSpPr/>
          <p:nvPr/>
        </p:nvSpPr>
        <p:spPr>
          <a:xfrm>
            <a:off x="5423535" y="3877056"/>
            <a:ext cx="0" cy="109728"/>
          </a:xfrm>
          <a:prstGeom prst="line">
            <a:avLst/>
          </a:prstGeom>
          <a:noFill/>
          <a:ln w="19050">
            <a:solidFill>
              <a:schemeClr val="tx1"/>
            </a:solidFill>
            <a:prstDash val="solid"/>
          </a:ln>
        </p:spPr>
      </p:sp>
      <p:sp>
        <p:nvSpPr>
          <p:cNvPr id="18" name="tick label -200"/>
          <p:cNvSpPr txBox="1"/>
          <p:nvPr/>
        </p:nvSpPr>
        <p:spPr>
          <a:xfrm>
            <a:off x="5103495" y="4023360"/>
            <a:ext cx="640080" cy="228600"/>
          </a:xfrm>
          <a:prstGeom prst="rect">
            <a:avLst/>
          </a:prstGeom>
          <a:noFill/>
          <a:ln/>
        </p:spPr>
        <p:txBody>
          <a:bodyPr wrap="square" lIns="0" tIns="0" rIns="0" bIns="0" rtlCol="0" anchor="t"/>
          <a:lstStyle/>
          <a:p>
            <a:pPr algn="ctr" indent="0" marL="0">
              <a:buNone/>
            </a:pPr>
            <a:r>
              <a:rPr lang="en-US" sz="1100" dirty="0">
                <a:solidFill>
                  <a:schemeClr val="accent6"/>
                </a:solidFill>
              </a:rPr>
              <a:t>−200</a:t>
            </a:r>
            <a:endParaRPr lang="en-US" sz="1100" dirty="0"/>
          </a:p>
        </p:txBody>
      </p:sp>
      <p:sp>
        <p:nvSpPr>
          <p:cNvPr id="19" name="tick 0"/>
          <p:cNvSpPr/>
          <p:nvPr/>
        </p:nvSpPr>
        <p:spPr>
          <a:xfrm>
            <a:off x="6737985" y="3877056"/>
            <a:ext cx="0" cy="109728"/>
          </a:xfrm>
          <a:prstGeom prst="line">
            <a:avLst/>
          </a:prstGeom>
          <a:noFill/>
          <a:ln w="19050">
            <a:solidFill>
              <a:schemeClr val="tx1"/>
            </a:solidFill>
            <a:prstDash val="solid"/>
          </a:ln>
        </p:spPr>
      </p:sp>
      <p:sp>
        <p:nvSpPr>
          <p:cNvPr id="20" name="tick 200"/>
          <p:cNvSpPr/>
          <p:nvPr/>
        </p:nvSpPr>
        <p:spPr>
          <a:xfrm>
            <a:off x="8052435" y="3877056"/>
            <a:ext cx="0" cy="109728"/>
          </a:xfrm>
          <a:prstGeom prst="line">
            <a:avLst/>
          </a:prstGeom>
          <a:noFill/>
          <a:ln w="19050">
            <a:solidFill>
              <a:schemeClr val="tx1"/>
            </a:solidFill>
            <a:prstDash val="solid"/>
          </a:ln>
        </p:spPr>
      </p:sp>
      <p:sp>
        <p:nvSpPr>
          <p:cNvPr id="21" name="tick 400"/>
          <p:cNvSpPr/>
          <p:nvPr/>
        </p:nvSpPr>
        <p:spPr>
          <a:xfrm>
            <a:off x="9366885" y="3877056"/>
            <a:ext cx="0" cy="109728"/>
          </a:xfrm>
          <a:prstGeom prst="line">
            <a:avLst/>
          </a:prstGeom>
          <a:noFill/>
          <a:ln w="19050">
            <a:solidFill>
              <a:schemeClr val="tx1"/>
            </a:solidFill>
            <a:prstDash val="solid"/>
          </a:ln>
        </p:spPr>
      </p:sp>
      <p:sp>
        <p:nvSpPr>
          <p:cNvPr id="22" name="tick label 400"/>
          <p:cNvSpPr txBox="1"/>
          <p:nvPr/>
        </p:nvSpPr>
        <p:spPr>
          <a:xfrm>
            <a:off x="9046845" y="4023360"/>
            <a:ext cx="640080" cy="228600"/>
          </a:xfrm>
          <a:prstGeom prst="rect">
            <a:avLst/>
          </a:prstGeom>
          <a:noFill/>
          <a:ln/>
        </p:spPr>
        <p:txBody>
          <a:bodyPr wrap="square" lIns="0" tIns="0" rIns="0" bIns="0" rtlCol="0" anchor="t"/>
          <a:lstStyle/>
          <a:p>
            <a:pPr algn="ctr" indent="0" marL="0">
              <a:buNone/>
            </a:pPr>
            <a:r>
              <a:rPr lang="en-US" sz="1100" dirty="0">
                <a:solidFill>
                  <a:schemeClr val="accent6"/>
                </a:solidFill>
              </a:rPr>
              <a:t>+400</a:t>
            </a:r>
            <a:endParaRPr lang="en-US" sz="1100" dirty="0"/>
          </a:p>
        </p:txBody>
      </p:sp>
      <p:sp>
        <p:nvSpPr>
          <p:cNvPr id="23" name="tick 600"/>
          <p:cNvSpPr/>
          <p:nvPr/>
        </p:nvSpPr>
        <p:spPr>
          <a:xfrm>
            <a:off x="10681335" y="3877056"/>
            <a:ext cx="0" cy="109728"/>
          </a:xfrm>
          <a:prstGeom prst="line">
            <a:avLst/>
          </a:prstGeom>
          <a:noFill/>
          <a:ln w="19050">
            <a:solidFill>
              <a:schemeClr val="tx1"/>
            </a:solidFill>
            <a:prstDash val="solid"/>
          </a:ln>
        </p:spPr>
      </p:sp>
      <p:sp>
        <p:nvSpPr>
          <p:cNvPr id="24" name="tick label 600"/>
          <p:cNvSpPr txBox="1"/>
          <p:nvPr/>
        </p:nvSpPr>
        <p:spPr>
          <a:xfrm>
            <a:off x="10361295" y="4023360"/>
            <a:ext cx="640080" cy="228600"/>
          </a:xfrm>
          <a:prstGeom prst="rect">
            <a:avLst/>
          </a:prstGeom>
          <a:noFill/>
          <a:ln/>
        </p:spPr>
        <p:txBody>
          <a:bodyPr wrap="square" lIns="0" tIns="0" rIns="0" bIns="0" rtlCol="0" anchor="t"/>
          <a:lstStyle/>
          <a:p>
            <a:pPr algn="ctr" indent="0" marL="0">
              <a:buNone/>
            </a:pPr>
            <a:r>
              <a:rPr lang="en-US" sz="1100" dirty="0">
                <a:solidFill>
                  <a:schemeClr val="accent6"/>
                </a:solidFill>
              </a:rPr>
              <a:t>+600</a:t>
            </a:r>
            <a:endParaRPr lang="en-US" sz="1100" dirty="0"/>
          </a:p>
        </p:txBody>
      </p:sp>
      <p:sp>
        <p:nvSpPr>
          <p:cNvPr id="25" name="axis unit"/>
          <p:cNvSpPr txBox="1"/>
          <p:nvPr/>
        </p:nvSpPr>
        <p:spPr>
          <a:xfrm>
            <a:off x="11292840" y="4023360"/>
            <a:ext cx="365760" cy="228600"/>
          </a:xfrm>
          <a:prstGeom prst="rect">
            <a:avLst/>
          </a:prstGeom>
          <a:noFill/>
          <a:ln/>
        </p:spPr>
        <p:txBody>
          <a:bodyPr wrap="square" lIns="0" tIns="0" rIns="0" bIns="0" rtlCol="0" anchor="t"/>
          <a:lstStyle/>
          <a:p>
            <a:pPr indent="0" marL="0">
              <a:buNone/>
            </a:pPr>
            <a:r>
              <a:rPr lang="en-US" sz="1100" dirty="0">
                <a:solidFill>
                  <a:schemeClr val="accent6"/>
                </a:solidFill>
              </a:rPr>
              <a:t>ms</a:t>
            </a:r>
            <a:endParaRPr lang="en-US" sz="1100" dirty="0"/>
          </a:p>
        </p:txBody>
      </p:sp>
      <p:sp>
        <p:nvSpPr>
          <p:cNvPr id="26" name="event line -733"/>
          <p:cNvSpPr/>
          <p:nvPr/>
        </p:nvSpPr>
        <p:spPr>
          <a:xfrm>
            <a:off x="1920526" y="3401568"/>
            <a:ext cx="0" cy="530352"/>
          </a:xfrm>
          <a:prstGeom prst="line">
            <a:avLst/>
          </a:prstGeom>
          <a:noFill/>
          <a:ln w="15875">
            <a:solidFill>
              <a:schemeClr val="accent1"/>
            </a:solidFill>
            <a:prstDash val="dash"/>
          </a:ln>
        </p:spPr>
      </p:sp>
      <p:sp>
        <p:nvSpPr>
          <p:cNvPr id="27" name="event marker -733"/>
          <p:cNvSpPr/>
          <p:nvPr/>
        </p:nvSpPr>
        <p:spPr>
          <a:xfrm>
            <a:off x="1819942" y="3831336"/>
            <a:ext cx="201168" cy="201168"/>
          </a:xfrm>
          <a:prstGeom prst="ellipse">
            <a:avLst/>
          </a:prstGeom>
          <a:solidFill>
            <a:schemeClr val="accent1"/>
          </a:solidFill>
          <a:ln w="12700">
            <a:solidFill>
              <a:schemeClr val="bg1"/>
            </a:solidFill>
            <a:prstDash val="solid"/>
          </a:ln>
        </p:spPr>
      </p:sp>
      <p:sp>
        <p:nvSpPr>
          <p:cNvPr id="28" name="event label -733"/>
          <p:cNvSpPr txBox="1"/>
          <p:nvPr/>
        </p:nvSpPr>
        <p:spPr>
          <a:xfrm>
            <a:off x="1051846" y="2834640"/>
            <a:ext cx="1737360" cy="566928"/>
          </a:xfrm>
          <a:prstGeom prst="rect">
            <a:avLst/>
          </a:prstGeom>
          <a:noFill/>
          <a:ln/>
        </p:spPr>
        <p:txBody>
          <a:bodyPr wrap="square" lIns="0" tIns="0" rIns="0" bIns="0" rtlCol="0" anchor="b"/>
          <a:lstStyle/>
          <a:p>
            <a:pPr algn="ctr" indent="0" marL="0">
              <a:buNone/>
            </a:pPr>
            <a:r>
              <a:rPr lang="en-US" sz="1300" dirty="0">
                <a:solidFill>
                  <a:schemeClr val="accent1"/>
                </a:solidFill>
              </a:rPr>
              <a:t>leading toe-off</a:t>
            </a:r>
            <a:endParaRPr lang="en-US" sz="1300" dirty="0"/>
          </a:p>
          <a:p>
            <a:pPr algn="ctr" indent="0" marL="0">
              <a:buNone/>
            </a:pPr>
            <a:r>
              <a:rPr lang="en-US" sz="1300" dirty="0">
                <a:solidFill>
                  <a:schemeClr val="accent1"/>
                </a:solidFill>
              </a:rPr>
              <a:t>−733 ms</a:t>
            </a:r>
            <a:endParaRPr lang="en-US" sz="1300" dirty="0"/>
          </a:p>
        </p:txBody>
      </p:sp>
      <p:sp>
        <p:nvSpPr>
          <p:cNvPr id="29" name="event line -450"/>
          <p:cNvSpPr/>
          <p:nvPr/>
        </p:nvSpPr>
        <p:spPr>
          <a:xfrm>
            <a:off x="3780473" y="3401568"/>
            <a:ext cx="0" cy="530352"/>
          </a:xfrm>
          <a:prstGeom prst="line">
            <a:avLst/>
          </a:prstGeom>
          <a:noFill/>
          <a:ln w="15875">
            <a:solidFill>
              <a:schemeClr val="accent1"/>
            </a:solidFill>
            <a:prstDash val="dash"/>
          </a:ln>
        </p:spPr>
      </p:sp>
      <p:sp>
        <p:nvSpPr>
          <p:cNvPr id="30" name="event marker -450"/>
          <p:cNvSpPr/>
          <p:nvPr/>
        </p:nvSpPr>
        <p:spPr>
          <a:xfrm>
            <a:off x="3679889" y="3831336"/>
            <a:ext cx="201168" cy="201168"/>
          </a:xfrm>
          <a:prstGeom prst="ellipse">
            <a:avLst/>
          </a:prstGeom>
          <a:solidFill>
            <a:schemeClr val="accent1"/>
          </a:solidFill>
          <a:ln w="12700">
            <a:solidFill>
              <a:schemeClr val="bg1"/>
            </a:solidFill>
            <a:prstDash val="solid"/>
          </a:ln>
        </p:spPr>
      </p:sp>
      <p:sp>
        <p:nvSpPr>
          <p:cNvPr id="31" name="event label -450"/>
          <p:cNvSpPr txBox="1"/>
          <p:nvPr/>
        </p:nvSpPr>
        <p:spPr>
          <a:xfrm>
            <a:off x="2911793" y="2834640"/>
            <a:ext cx="1737360" cy="566928"/>
          </a:xfrm>
          <a:prstGeom prst="rect">
            <a:avLst/>
          </a:prstGeom>
          <a:noFill/>
          <a:ln/>
        </p:spPr>
        <p:txBody>
          <a:bodyPr wrap="square" lIns="0" tIns="0" rIns="0" bIns="0" rtlCol="0" anchor="b"/>
          <a:lstStyle/>
          <a:p>
            <a:pPr algn="ctr" indent="0" marL="0">
              <a:buNone/>
            </a:pPr>
            <a:r>
              <a:rPr lang="en-US" sz="1300" dirty="0">
                <a:solidFill>
                  <a:schemeClr val="accent1"/>
                </a:solidFill>
              </a:rPr>
              <a:t>leading foot apex</a:t>
            </a:r>
            <a:endParaRPr lang="en-US" sz="1300" dirty="0"/>
          </a:p>
          <a:p>
            <a:pPr algn="ctr" indent="0" marL="0">
              <a:buNone/>
            </a:pPr>
            <a:r>
              <a:rPr lang="en-US" sz="1300" dirty="0">
                <a:solidFill>
                  <a:schemeClr val="accent1"/>
                </a:solidFill>
              </a:rPr>
              <a:t>−450 ms</a:t>
            </a:r>
            <a:endParaRPr lang="en-US" sz="1300" dirty="0"/>
          </a:p>
        </p:txBody>
      </p:sp>
      <p:sp>
        <p:nvSpPr>
          <p:cNvPr id="32" name="event line -200"/>
          <p:cNvSpPr/>
          <p:nvPr/>
        </p:nvSpPr>
        <p:spPr>
          <a:xfrm>
            <a:off x="5423535" y="3401568"/>
            <a:ext cx="0" cy="530352"/>
          </a:xfrm>
          <a:prstGeom prst="line">
            <a:avLst/>
          </a:prstGeom>
          <a:noFill/>
          <a:ln w="15875">
            <a:solidFill>
              <a:schemeClr val="accent1"/>
            </a:solidFill>
            <a:prstDash val="dash"/>
          </a:ln>
        </p:spPr>
      </p:sp>
      <p:sp>
        <p:nvSpPr>
          <p:cNvPr id="33" name="event marker -200"/>
          <p:cNvSpPr/>
          <p:nvPr/>
        </p:nvSpPr>
        <p:spPr>
          <a:xfrm>
            <a:off x="5322951" y="3831336"/>
            <a:ext cx="201168" cy="201168"/>
          </a:xfrm>
          <a:prstGeom prst="ellipse">
            <a:avLst/>
          </a:prstGeom>
          <a:solidFill>
            <a:schemeClr val="accent1"/>
          </a:solidFill>
          <a:ln w="12700">
            <a:solidFill>
              <a:schemeClr val="bg1"/>
            </a:solidFill>
            <a:prstDash val="solid"/>
          </a:ln>
        </p:spPr>
      </p:sp>
      <p:sp>
        <p:nvSpPr>
          <p:cNvPr id="34" name="event label -200"/>
          <p:cNvSpPr txBox="1"/>
          <p:nvPr/>
        </p:nvSpPr>
        <p:spPr>
          <a:xfrm>
            <a:off x="4554855" y="2834640"/>
            <a:ext cx="1737360" cy="566928"/>
          </a:xfrm>
          <a:prstGeom prst="rect">
            <a:avLst/>
          </a:prstGeom>
          <a:noFill/>
          <a:ln/>
        </p:spPr>
        <p:txBody>
          <a:bodyPr wrap="square" lIns="0" tIns="0" rIns="0" bIns="0" rtlCol="0" anchor="b"/>
          <a:lstStyle/>
          <a:p>
            <a:pPr algn="ctr" indent="0" marL="0">
              <a:buNone/>
            </a:pPr>
            <a:r>
              <a:rPr lang="en-US" sz="1300" dirty="0">
                <a:solidFill>
                  <a:schemeClr val="accent1"/>
                </a:solidFill>
              </a:rPr>
              <a:t>leading landing</a:t>
            </a:r>
            <a:endParaRPr lang="en-US" sz="1300" dirty="0"/>
          </a:p>
          <a:p>
            <a:pPr algn="ctr" indent="0" marL="0">
              <a:buNone/>
            </a:pPr>
            <a:r>
              <a:rPr lang="en-US" sz="1300" dirty="0">
                <a:solidFill>
                  <a:schemeClr val="accent1"/>
                </a:solidFill>
              </a:rPr>
              <a:t>−200 ms</a:t>
            </a:r>
            <a:endParaRPr lang="en-US" sz="1300" dirty="0"/>
          </a:p>
        </p:txBody>
      </p:sp>
      <p:sp>
        <p:nvSpPr>
          <p:cNvPr id="35" name="event line 0"/>
          <p:cNvSpPr/>
          <p:nvPr/>
        </p:nvSpPr>
        <p:spPr>
          <a:xfrm>
            <a:off x="6737985" y="3931920"/>
            <a:ext cx="0" cy="502920"/>
          </a:xfrm>
          <a:prstGeom prst="line">
            <a:avLst/>
          </a:prstGeom>
          <a:noFill/>
          <a:ln w="15875">
            <a:solidFill>
              <a:schemeClr val="accent2"/>
            </a:solidFill>
            <a:prstDash val="dash"/>
          </a:ln>
        </p:spPr>
      </p:sp>
      <p:sp>
        <p:nvSpPr>
          <p:cNvPr id="36" name="event marker 0"/>
          <p:cNvSpPr/>
          <p:nvPr/>
        </p:nvSpPr>
        <p:spPr>
          <a:xfrm>
            <a:off x="6637401" y="3831336"/>
            <a:ext cx="201168" cy="201168"/>
          </a:xfrm>
          <a:prstGeom prst="ellipse">
            <a:avLst/>
          </a:prstGeom>
          <a:solidFill>
            <a:schemeClr val="accent2"/>
          </a:solidFill>
          <a:ln w="12700">
            <a:solidFill>
              <a:schemeClr val="bg1"/>
            </a:solidFill>
            <a:prstDash val="solid"/>
          </a:ln>
        </p:spPr>
      </p:sp>
      <p:sp>
        <p:nvSpPr>
          <p:cNvPr id="37" name="event label 0"/>
          <p:cNvSpPr txBox="1"/>
          <p:nvPr/>
        </p:nvSpPr>
        <p:spPr>
          <a:xfrm>
            <a:off x="5869305" y="4434840"/>
            <a:ext cx="1737360" cy="566928"/>
          </a:xfrm>
          <a:prstGeom prst="rect">
            <a:avLst/>
          </a:prstGeom>
          <a:noFill/>
          <a:ln/>
        </p:spPr>
        <p:txBody>
          <a:bodyPr wrap="square" lIns="0" tIns="0" rIns="0" bIns="0" rtlCol="0" anchor="t"/>
          <a:lstStyle/>
          <a:p>
            <a:pPr algn="ctr" indent="0" marL="0">
              <a:buNone/>
            </a:pPr>
            <a:r>
              <a:rPr lang="en-US" sz="1300" b="1" dirty="0">
                <a:solidFill>
                  <a:schemeClr val="accent2"/>
                </a:solidFill>
              </a:rPr>
              <a:t>trailing toe lift-off</a:t>
            </a:r>
            <a:endParaRPr lang="en-US" sz="1300" dirty="0"/>
          </a:p>
          <a:p>
            <a:pPr algn="ctr" indent="0" marL="0">
              <a:buNone/>
            </a:pPr>
            <a:r>
              <a:rPr lang="en-US" sz="1300" b="1" dirty="0">
                <a:solidFill>
                  <a:schemeClr val="accent2"/>
                </a:solidFill>
              </a:rPr>
              <a:t>0 = deadline</a:t>
            </a:r>
            <a:endParaRPr lang="en-US" sz="1300" dirty="0"/>
          </a:p>
        </p:txBody>
      </p:sp>
      <p:sp>
        <p:nvSpPr>
          <p:cNvPr id="38" name="event line 184"/>
          <p:cNvSpPr/>
          <p:nvPr/>
        </p:nvSpPr>
        <p:spPr>
          <a:xfrm>
            <a:off x="7947279" y="3931920"/>
            <a:ext cx="0" cy="1143000"/>
          </a:xfrm>
          <a:prstGeom prst="line">
            <a:avLst/>
          </a:prstGeom>
          <a:noFill/>
          <a:ln w="15875">
            <a:solidFill>
              <a:schemeClr val="accent2"/>
            </a:solidFill>
            <a:prstDash val="dash"/>
          </a:ln>
        </p:spPr>
      </p:sp>
      <p:sp>
        <p:nvSpPr>
          <p:cNvPr id="39" name="event marker 184"/>
          <p:cNvSpPr/>
          <p:nvPr/>
        </p:nvSpPr>
        <p:spPr>
          <a:xfrm>
            <a:off x="7846695" y="3831336"/>
            <a:ext cx="201168" cy="201168"/>
          </a:xfrm>
          <a:prstGeom prst="ellipse">
            <a:avLst/>
          </a:prstGeom>
          <a:solidFill>
            <a:schemeClr val="accent2"/>
          </a:solidFill>
          <a:ln w="12700">
            <a:solidFill>
              <a:schemeClr val="bg1"/>
            </a:solidFill>
            <a:prstDash val="solid"/>
          </a:ln>
        </p:spPr>
      </p:sp>
      <p:sp>
        <p:nvSpPr>
          <p:cNvPr id="40" name="event label 184"/>
          <p:cNvSpPr txBox="1"/>
          <p:nvPr/>
        </p:nvSpPr>
        <p:spPr>
          <a:xfrm>
            <a:off x="7078599" y="5074920"/>
            <a:ext cx="1737360" cy="566928"/>
          </a:xfrm>
          <a:prstGeom prst="rect">
            <a:avLst/>
          </a:prstGeom>
          <a:noFill/>
          <a:ln/>
        </p:spPr>
        <p:txBody>
          <a:bodyPr wrap="square" lIns="0" tIns="0" rIns="0" bIns="0" rtlCol="0" anchor="t"/>
          <a:lstStyle/>
          <a:p>
            <a:pPr algn="ctr" indent="0" marL="0">
              <a:buNone/>
            </a:pPr>
            <a:r>
              <a:rPr lang="en-US" sz="1300" dirty="0">
                <a:solidFill>
                  <a:schemeClr val="accent2"/>
                </a:solidFill>
              </a:rPr>
              <a:t>trailing toe over</a:t>
            </a:r>
            <a:endParaRPr lang="en-US" sz="1300" dirty="0"/>
          </a:p>
          <a:p>
            <a:pPr algn="ctr" indent="0" marL="0">
              <a:buNone/>
            </a:pPr>
            <a:r>
              <a:rPr lang="en-US" sz="1300" dirty="0">
                <a:solidFill>
                  <a:schemeClr val="accent2"/>
                </a:solidFill>
              </a:rPr>
              <a:t>the obstacle +184</a:t>
            </a:r>
            <a:endParaRPr lang="en-US" sz="1300" dirty="0"/>
          </a:p>
        </p:txBody>
      </p:sp>
      <p:sp>
        <p:nvSpPr>
          <p:cNvPr id="41" name="event line 300"/>
          <p:cNvSpPr/>
          <p:nvPr/>
        </p:nvSpPr>
        <p:spPr>
          <a:xfrm>
            <a:off x="8709660" y="3931920"/>
            <a:ext cx="0" cy="502920"/>
          </a:xfrm>
          <a:prstGeom prst="line">
            <a:avLst/>
          </a:prstGeom>
          <a:noFill/>
          <a:ln w="15875">
            <a:solidFill>
              <a:schemeClr val="accent2"/>
            </a:solidFill>
            <a:prstDash val="dash"/>
          </a:ln>
        </p:spPr>
      </p:sp>
      <p:sp>
        <p:nvSpPr>
          <p:cNvPr id="42" name="event marker 300"/>
          <p:cNvSpPr/>
          <p:nvPr/>
        </p:nvSpPr>
        <p:spPr>
          <a:xfrm>
            <a:off x="8609076" y="3831336"/>
            <a:ext cx="201168" cy="201168"/>
          </a:xfrm>
          <a:prstGeom prst="ellipse">
            <a:avLst/>
          </a:prstGeom>
          <a:solidFill>
            <a:schemeClr val="accent2"/>
          </a:solidFill>
          <a:ln w="12700">
            <a:solidFill>
              <a:schemeClr val="bg1"/>
            </a:solidFill>
            <a:prstDash val="solid"/>
          </a:ln>
        </p:spPr>
      </p:sp>
      <p:sp>
        <p:nvSpPr>
          <p:cNvPr id="43" name="event label 300"/>
          <p:cNvSpPr txBox="1"/>
          <p:nvPr/>
        </p:nvSpPr>
        <p:spPr>
          <a:xfrm>
            <a:off x="7840980" y="4434840"/>
            <a:ext cx="1737360" cy="566928"/>
          </a:xfrm>
          <a:prstGeom prst="rect">
            <a:avLst/>
          </a:prstGeom>
          <a:noFill/>
          <a:ln/>
        </p:spPr>
        <p:txBody>
          <a:bodyPr wrap="square" lIns="0" tIns="0" rIns="0" bIns="0" rtlCol="0" anchor="t"/>
          <a:lstStyle/>
          <a:p>
            <a:pPr algn="ctr" indent="0" marL="0">
              <a:buNone/>
            </a:pPr>
            <a:r>
              <a:rPr lang="en-US" sz="1300" dirty="0">
                <a:solidFill>
                  <a:schemeClr val="accent2"/>
                </a:solidFill>
              </a:rPr>
              <a:t>trailing foot apex</a:t>
            </a:r>
            <a:endParaRPr lang="en-US" sz="1300" dirty="0"/>
          </a:p>
          <a:p>
            <a:pPr algn="ctr" indent="0" marL="0">
              <a:buNone/>
            </a:pPr>
            <a:r>
              <a:rPr lang="en-US" sz="1300" dirty="0">
                <a:solidFill>
                  <a:schemeClr val="accent2"/>
                </a:solidFill>
              </a:rPr>
              <a:t>+300 ms</a:t>
            </a:r>
            <a:endParaRPr lang="en-US" sz="1300" dirty="0"/>
          </a:p>
        </p:txBody>
      </p:sp>
      <p:sp>
        <p:nvSpPr>
          <p:cNvPr id="44" name="event line 633"/>
          <p:cNvSpPr/>
          <p:nvPr/>
        </p:nvSpPr>
        <p:spPr>
          <a:xfrm>
            <a:off x="10898219" y="3931920"/>
            <a:ext cx="0" cy="502920"/>
          </a:xfrm>
          <a:prstGeom prst="line">
            <a:avLst/>
          </a:prstGeom>
          <a:noFill/>
          <a:ln w="15875">
            <a:solidFill>
              <a:schemeClr val="accent2"/>
            </a:solidFill>
            <a:prstDash val="dash"/>
          </a:ln>
        </p:spPr>
      </p:sp>
      <p:sp>
        <p:nvSpPr>
          <p:cNvPr id="45" name="event marker 633"/>
          <p:cNvSpPr/>
          <p:nvPr/>
        </p:nvSpPr>
        <p:spPr>
          <a:xfrm>
            <a:off x="10797635" y="3831336"/>
            <a:ext cx="201168" cy="201168"/>
          </a:xfrm>
          <a:prstGeom prst="ellipse">
            <a:avLst/>
          </a:prstGeom>
          <a:solidFill>
            <a:schemeClr val="accent2"/>
          </a:solidFill>
          <a:ln w="12700">
            <a:solidFill>
              <a:schemeClr val="bg1"/>
            </a:solidFill>
            <a:prstDash val="solid"/>
          </a:ln>
        </p:spPr>
      </p:sp>
      <p:sp>
        <p:nvSpPr>
          <p:cNvPr id="46" name="event label 633"/>
          <p:cNvSpPr txBox="1"/>
          <p:nvPr/>
        </p:nvSpPr>
        <p:spPr>
          <a:xfrm>
            <a:off x="10029539" y="4434840"/>
            <a:ext cx="1737360" cy="566928"/>
          </a:xfrm>
          <a:prstGeom prst="rect">
            <a:avLst/>
          </a:prstGeom>
          <a:noFill/>
          <a:ln/>
        </p:spPr>
        <p:txBody>
          <a:bodyPr wrap="square" lIns="0" tIns="0" rIns="0" bIns="0" rtlCol="0" anchor="t"/>
          <a:lstStyle/>
          <a:p>
            <a:pPr algn="ctr" indent="0" marL="0">
              <a:buNone/>
            </a:pPr>
            <a:r>
              <a:rPr lang="en-US" sz="1300" dirty="0">
                <a:solidFill>
                  <a:schemeClr val="accent2"/>
                </a:solidFill>
              </a:rPr>
              <a:t>trailing landing</a:t>
            </a:r>
            <a:endParaRPr lang="en-US" sz="1300" dirty="0"/>
          </a:p>
          <a:p>
            <a:pPr algn="ctr" indent="0" marL="0">
              <a:buNone/>
            </a:pPr>
            <a:r>
              <a:rPr lang="en-US" sz="1300" dirty="0">
                <a:solidFill>
                  <a:schemeClr val="accent2"/>
                </a:solidFill>
              </a:rPr>
              <a:t>+633 ms</a:t>
            </a:r>
            <a:endParaRPr lang="en-US" sz="1300" dirty="0"/>
          </a:p>
        </p:txBody>
      </p:sp>
      <p:sp>
        <p:nvSpPr>
          <p:cNvPr id="47" name="timeline note"/>
          <p:cNvSpPr txBox="1"/>
          <p:nvPr/>
        </p:nvSpPr>
        <p:spPr>
          <a:xfrm>
            <a:off x="548640" y="5897880"/>
            <a:ext cx="11091672" cy="365760"/>
          </a:xfrm>
          <a:prstGeom prst="rect">
            <a:avLst/>
          </a:prstGeom>
          <a:noFill/>
          <a:ln/>
        </p:spPr>
        <p:txBody>
          <a:bodyPr wrap="square" lIns="0" tIns="0" rIns="0" bIns="0" rtlCol="0" anchor="t"/>
          <a:lstStyle/>
          <a:p>
            <a:pPr indent="0" marL="0">
              <a:buNone/>
            </a:pPr>
            <a:r>
              <a:rPr lang="en-US" sz="1400" b="1" dirty="0">
                <a:solidFill>
                  <a:schemeClr val="tx2"/>
                </a:solidFill>
              </a:rPr>
              <a:t>In 22 % of crossings </a:t>
            </a:r>
            <a:pPr indent="0" marL="0">
              <a:buNone/>
            </a:pPr>
            <a:r>
              <a:rPr lang="en-US" sz="1400" dirty="0">
                <a:solidFill>
                  <a:schemeClr val="tx1"/>
                </a:solidFill>
              </a:rPr>
              <a:t>the trailing toe has already lifted before the leading foot lands, so a cue at the leading landing is too late.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914400"/>
          </a:xfrm>
          <a:prstGeom prst="rect">
            <a:avLst/>
          </a:prstGeom>
          <a:noFill/>
          <a:ln/>
        </p:spPr>
        <p:txBody>
          <a:bodyPr wrap="square" lIns="0" tIns="0" rIns="0" bIns="0" rtlCol="0" anchor="ctr"/>
          <a:lstStyle/>
          <a:p>
            <a:pPr algn="l" indent="0" marL="0">
              <a:buNone/>
            </a:pPr>
            <a:r>
              <a:rPr lang="en-US" sz="4000" b="1" dirty="0">
                <a:solidFill>
                  <a:schemeClr val="bg1"/>
                </a:solidFill>
              </a:rPr>
              <a:t>Data and methods</a:t>
            </a:r>
            <a:endParaRPr lang="en-US" sz="4000" dirty="0"/>
          </a:p>
        </p:txBody>
      </p:sp>
      <p:sp>
        <p:nvSpPr>
          <p:cNvPr id="3" name="Text 0"/>
          <p:cNvSpPr/>
          <p:nvPr>
            <p:ph idx="101" type="body" hasCustomPrompt="1"/>
          </p:nvPr>
        </p:nvSpPr>
        <p:spPr>
          <a:xfrm>
            <a:off x="731520" y="356616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Who walked, what was measured, and how the models were built and tested</a:t>
            </a:r>
            <a:endParaRPr lang="en-US" sz="2000" dirty="0"/>
          </a:p>
        </p:txBody>
      </p:sp>
      <p:sp>
        <p:nvSpPr>
          <p:cNvPr id="4" name="section number"/>
          <p:cNvSpPr txBox="1"/>
          <p:nvPr/>
        </p:nvSpPr>
        <p:spPr>
          <a:xfrm>
            <a:off x="731520" y="1417320"/>
            <a:ext cx="2743200" cy="914400"/>
          </a:xfrm>
          <a:prstGeom prst="rect">
            <a:avLst/>
          </a:prstGeom>
          <a:noFill/>
          <a:ln/>
        </p:spPr>
        <p:txBody>
          <a:bodyPr wrap="square" lIns="0" tIns="0" rIns="0" bIns="0" rtlCol="0" anchor="b"/>
          <a:lstStyle/>
          <a:p>
            <a:pPr indent="0" marL="0">
              <a:buNone/>
            </a:pPr>
            <a:r>
              <a:rPr lang="en-US" sz="5400" b="1" dirty="0">
                <a:solidFill>
                  <a:schemeClr val="accent2"/>
                </a:solidFill>
              </a:rPr>
              <a:t>02</a:t>
            </a:r>
            <a:endParaRPr lang="en-US" sz="5400" dirty="0"/>
          </a:p>
        </p:txBody>
      </p:sp>
      <p:sp>
        <p:nvSpPr>
          <p:cNvPr id="5" name="section circle"/>
          <p:cNvSpPr/>
          <p:nvPr/>
        </p:nvSpPr>
        <p:spPr>
          <a:xfrm>
            <a:off x="8915400" y="2011680"/>
            <a:ext cx="2468880" cy="2468880"/>
          </a:xfrm>
          <a:prstGeom prst="ellipse">
            <a:avLst/>
          </a:prstGeom>
          <a:solidFill>
            <a:schemeClr val="accent1"/>
          </a:solidFill>
          <a:ln/>
        </p:spPr>
      </p:sp>
      <p:pic>
        <p:nvPicPr>
          <p:cNvPr id="6" name="section icon" descr="preencoded.png">    </p:cNvPr>
          <p:cNvPicPr>
            <a:picLocks noChangeAspect="1"/>
          </p:cNvPicPr>
          <p:nvPr/>
        </p:nvPicPr>
        <p:blipFill>
          <a:blip r:embed="rId1"/>
          <a:stretch>
            <a:fillRect/>
          </a:stretch>
        </p:blipFill>
        <p:spPr>
          <a:xfrm>
            <a:off x="9507931" y="2604211"/>
            <a:ext cx="1283818" cy="1283818"/>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Study and dataset</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Ten young adults, six obstacles, six IMUs; one dataset row per obstacle crossing.</a:t>
            </a:r>
            <a:endParaRPr lang="en-US" sz="1700" dirty="0"/>
          </a:p>
        </p:txBody>
      </p:sp>
      <p:sp>
        <p:nvSpPr>
          <p:cNvPr id="4" name="study 1 circle"/>
          <p:cNvSpPr/>
          <p:nvPr/>
        </p:nvSpPr>
        <p:spPr>
          <a:xfrm>
            <a:off x="548640" y="1691640"/>
            <a:ext cx="566928" cy="566928"/>
          </a:xfrm>
          <a:prstGeom prst="ellipse">
            <a:avLst/>
          </a:prstGeom>
          <a:solidFill>
            <a:schemeClr val="accent1"/>
          </a:solidFill>
          <a:ln/>
        </p:spPr>
      </p:sp>
      <p:pic>
        <p:nvPicPr>
          <p:cNvPr id="5" name="study 1 icon" descr="preencoded.png">    </p:cNvPr>
          <p:cNvPicPr>
            <a:picLocks noChangeAspect="1"/>
          </p:cNvPicPr>
          <p:nvPr/>
        </p:nvPicPr>
        <p:blipFill>
          <a:blip r:embed="rId1"/>
          <a:stretch>
            <a:fillRect/>
          </a:stretch>
        </p:blipFill>
        <p:spPr>
          <a:xfrm>
            <a:off x="684703" y="1827703"/>
            <a:ext cx="294803" cy="294803"/>
          </a:xfrm>
          <a:prstGeom prst="rect">
            <a:avLst/>
          </a:prstGeom>
        </p:spPr>
      </p:pic>
      <p:sp>
        <p:nvSpPr>
          <p:cNvPr id="6" name="study text 1"/>
          <p:cNvSpPr txBox="1"/>
          <p:nvPr/>
        </p:nvSpPr>
        <p:spPr>
          <a:xfrm>
            <a:off x="1298448" y="1673352"/>
            <a:ext cx="4526280" cy="8686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10 young adults</a:t>
            </a:r>
            <a:endParaRPr lang="en-US" sz="1600" dirty="0"/>
          </a:p>
          <a:p>
            <a:pPr indent="0" marL="0">
              <a:spcAft>
                <a:spcPts val="200"/>
              </a:spcAft>
              <a:buNone/>
            </a:pPr>
            <a:r>
              <a:rPr lang="en-US" sz="1400" dirty="0">
                <a:solidFill>
                  <a:schemeClr val="tx1"/>
                </a:solidFill>
              </a:rPr>
              <a:t>6 women, 4 men, 20–31 years; about 5 crossings per obstacle, plus level walks</a:t>
            </a:r>
            <a:endParaRPr lang="en-US" sz="1600" dirty="0"/>
          </a:p>
        </p:txBody>
      </p:sp>
      <p:sp>
        <p:nvSpPr>
          <p:cNvPr id="7" name="study 2 circle"/>
          <p:cNvSpPr/>
          <p:nvPr/>
        </p:nvSpPr>
        <p:spPr>
          <a:xfrm>
            <a:off x="548640" y="2624328"/>
            <a:ext cx="566928" cy="566928"/>
          </a:xfrm>
          <a:prstGeom prst="ellipse">
            <a:avLst/>
          </a:prstGeom>
          <a:solidFill>
            <a:schemeClr val="accent1"/>
          </a:solidFill>
          <a:ln/>
        </p:spPr>
      </p:sp>
      <p:pic>
        <p:nvPicPr>
          <p:cNvPr id="8" name="study 2 icon" descr="preencoded.png">    </p:cNvPr>
          <p:cNvPicPr>
            <a:picLocks noChangeAspect="1"/>
          </p:cNvPicPr>
          <p:nvPr/>
        </p:nvPicPr>
        <p:blipFill>
          <a:blip r:embed="rId2"/>
          <a:stretch>
            <a:fillRect/>
          </a:stretch>
        </p:blipFill>
        <p:spPr>
          <a:xfrm>
            <a:off x="684703" y="2760391"/>
            <a:ext cx="294803" cy="294803"/>
          </a:xfrm>
          <a:prstGeom prst="rect">
            <a:avLst/>
          </a:prstGeom>
        </p:spPr>
      </p:pic>
      <p:sp>
        <p:nvSpPr>
          <p:cNvPr id="9" name="study text 2"/>
          <p:cNvSpPr txBox="1"/>
          <p:nvPr/>
        </p:nvSpPr>
        <p:spPr>
          <a:xfrm>
            <a:off x="1298448" y="2606040"/>
            <a:ext cx="4526280" cy="8686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6 Movella Dot IMUs, 60 Hz</a:t>
            </a:r>
            <a:endParaRPr lang="en-US" sz="1600" dirty="0"/>
          </a:p>
          <a:p>
            <a:pPr indent="0" marL="0">
              <a:spcAft>
                <a:spcPts val="200"/>
              </a:spcAft>
              <a:buNone/>
            </a:pPr>
            <a:r>
              <a:rPr lang="en-US" sz="1400" dirty="0">
                <a:solidFill>
                  <a:schemeClr val="tx1"/>
                </a:solidFill>
              </a:rPr>
              <a:t>thigh, shank and foot of both legs; camera motion capture as the reference</a:t>
            </a:r>
            <a:endParaRPr lang="en-US" sz="1600" dirty="0"/>
          </a:p>
        </p:txBody>
      </p:sp>
      <p:sp>
        <p:nvSpPr>
          <p:cNvPr id="10" name="study 3 circle"/>
          <p:cNvSpPr/>
          <p:nvPr/>
        </p:nvSpPr>
        <p:spPr>
          <a:xfrm>
            <a:off x="548640" y="3557016"/>
            <a:ext cx="566928" cy="566928"/>
          </a:xfrm>
          <a:prstGeom prst="ellipse">
            <a:avLst/>
          </a:prstGeom>
          <a:solidFill>
            <a:schemeClr val="accent1"/>
          </a:solidFill>
          <a:ln/>
        </p:spPr>
      </p:sp>
      <p:pic>
        <p:nvPicPr>
          <p:cNvPr id="11" name="study 3 icon" descr="preencoded.png">    </p:cNvPr>
          <p:cNvPicPr>
            <a:picLocks noChangeAspect="1"/>
          </p:cNvPicPr>
          <p:nvPr/>
        </p:nvPicPr>
        <p:blipFill>
          <a:blip r:embed="rId3"/>
          <a:stretch>
            <a:fillRect/>
          </a:stretch>
        </p:blipFill>
        <p:spPr>
          <a:xfrm>
            <a:off x="684703" y="3693079"/>
            <a:ext cx="294803" cy="294803"/>
          </a:xfrm>
          <a:prstGeom prst="rect">
            <a:avLst/>
          </a:prstGeom>
        </p:spPr>
      </p:pic>
      <p:sp>
        <p:nvSpPr>
          <p:cNvPr id="12" name="study text 3"/>
          <p:cNvSpPr txBox="1"/>
          <p:nvPr/>
        </p:nvSpPr>
        <p:spPr>
          <a:xfrm>
            <a:off x="1298448" y="3538728"/>
            <a:ext cx="4526280" cy="8686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6 obstacles in blocks</a:t>
            </a:r>
            <a:endParaRPr lang="en-US" sz="1600" dirty="0"/>
          </a:p>
          <a:p>
            <a:pPr indent="0" marL="0">
              <a:spcAft>
                <a:spcPts val="200"/>
              </a:spcAft>
              <a:buNone/>
            </a:pPr>
            <a:r>
              <a:rPr lang="en-US" sz="1400" dirty="0">
                <a:solidFill>
                  <a:schemeClr val="tx1"/>
                </a:solidFill>
              </a:rPr>
              <a:t>3 heights (10 / 20 / 30 % of leg length) × 2 widths (5 / 15 cm)</a:t>
            </a:r>
            <a:endParaRPr lang="en-US" sz="1600" dirty="0"/>
          </a:p>
        </p:txBody>
      </p:sp>
      <p:sp>
        <p:nvSpPr>
          <p:cNvPr id="13" name="ground"/>
          <p:cNvSpPr/>
          <p:nvPr/>
        </p:nvSpPr>
        <p:spPr>
          <a:xfrm>
            <a:off x="685800" y="5870448"/>
            <a:ext cx="5029200" cy="0"/>
          </a:xfrm>
          <a:prstGeom prst="line">
            <a:avLst/>
          </a:prstGeom>
          <a:noFill/>
          <a:ln w="15875">
            <a:solidFill>
              <a:schemeClr val="accent6"/>
            </a:solidFill>
            <a:prstDash val="solid"/>
          </a:ln>
        </p:spPr>
      </p:sp>
      <p:sp>
        <p:nvSpPr>
          <p:cNvPr id="14" name="width label 1"/>
          <p:cNvSpPr txBox="1"/>
          <p:nvPr/>
        </p:nvSpPr>
        <p:spPr>
          <a:xfrm>
            <a:off x="914400" y="4681728"/>
            <a:ext cx="2194560" cy="274320"/>
          </a:xfrm>
          <a:prstGeom prst="rect">
            <a:avLst/>
          </a:prstGeom>
          <a:noFill/>
          <a:ln/>
        </p:spPr>
        <p:txBody>
          <a:bodyPr wrap="square" lIns="0" tIns="0" rIns="0" bIns="0" rtlCol="0" anchor="t"/>
          <a:lstStyle/>
          <a:p>
            <a:pPr indent="0" marL="0">
              <a:buNone/>
            </a:pPr>
            <a:r>
              <a:rPr lang="en-US" sz="1200" b="1" dirty="0">
                <a:solidFill>
                  <a:schemeClr val="tx2"/>
                </a:solidFill>
              </a:rPr>
              <a:t>width 5 cm</a:t>
            </a:r>
            <a:endParaRPr lang="en-US" sz="1200" dirty="0"/>
          </a:p>
        </p:txBody>
      </p:sp>
      <p:sp>
        <p:nvSpPr>
          <p:cNvPr id="15" name="obstacle 1-1"/>
          <p:cNvSpPr/>
          <p:nvPr/>
        </p:nvSpPr>
        <p:spPr>
          <a:xfrm>
            <a:off x="1051560" y="5596128"/>
            <a:ext cx="137160" cy="274320"/>
          </a:xfrm>
          <a:prstGeom prst="rect">
            <a:avLst/>
          </a:prstGeom>
          <a:solidFill>
            <a:schemeClr val="tx2"/>
          </a:solidFill>
          <a:ln/>
        </p:spPr>
      </p:sp>
      <p:sp>
        <p:nvSpPr>
          <p:cNvPr id="16" name="height label 1-1"/>
          <p:cNvSpPr txBox="1"/>
          <p:nvPr/>
        </p:nvSpPr>
        <p:spPr>
          <a:xfrm>
            <a:off x="800100" y="5916168"/>
            <a:ext cx="640080" cy="256032"/>
          </a:xfrm>
          <a:prstGeom prst="rect">
            <a:avLst/>
          </a:prstGeom>
          <a:noFill/>
          <a:ln/>
        </p:spPr>
        <p:txBody>
          <a:bodyPr wrap="square" lIns="0" tIns="0" rIns="0" bIns="0" rtlCol="0" anchor="t"/>
          <a:lstStyle/>
          <a:p>
            <a:pPr algn="ctr" indent="0" marL="0">
              <a:buNone/>
            </a:pPr>
            <a:r>
              <a:rPr lang="en-US" sz="1200" dirty="0">
                <a:solidFill>
                  <a:schemeClr val="tx1"/>
                </a:solidFill>
              </a:rPr>
              <a:t>H1</a:t>
            </a:r>
            <a:endParaRPr lang="en-US" sz="1200" dirty="0"/>
          </a:p>
        </p:txBody>
      </p:sp>
      <p:sp>
        <p:nvSpPr>
          <p:cNvPr id="17" name="obstacle 1-2"/>
          <p:cNvSpPr/>
          <p:nvPr/>
        </p:nvSpPr>
        <p:spPr>
          <a:xfrm>
            <a:off x="1783080" y="5321808"/>
            <a:ext cx="137160" cy="548640"/>
          </a:xfrm>
          <a:prstGeom prst="rect">
            <a:avLst/>
          </a:prstGeom>
          <a:solidFill>
            <a:schemeClr val="tx2"/>
          </a:solidFill>
          <a:ln/>
        </p:spPr>
      </p:sp>
      <p:sp>
        <p:nvSpPr>
          <p:cNvPr id="18" name="height label 1-2"/>
          <p:cNvSpPr txBox="1"/>
          <p:nvPr/>
        </p:nvSpPr>
        <p:spPr>
          <a:xfrm>
            <a:off x="1531620" y="5916168"/>
            <a:ext cx="640080" cy="256032"/>
          </a:xfrm>
          <a:prstGeom prst="rect">
            <a:avLst/>
          </a:prstGeom>
          <a:noFill/>
          <a:ln/>
        </p:spPr>
        <p:txBody>
          <a:bodyPr wrap="square" lIns="0" tIns="0" rIns="0" bIns="0" rtlCol="0" anchor="t"/>
          <a:lstStyle/>
          <a:p>
            <a:pPr algn="ctr" indent="0" marL="0">
              <a:buNone/>
            </a:pPr>
            <a:r>
              <a:rPr lang="en-US" sz="1200" dirty="0">
                <a:solidFill>
                  <a:schemeClr val="tx1"/>
                </a:solidFill>
              </a:rPr>
              <a:t>H2</a:t>
            </a:r>
            <a:endParaRPr lang="en-US" sz="1200" dirty="0"/>
          </a:p>
        </p:txBody>
      </p:sp>
      <p:sp>
        <p:nvSpPr>
          <p:cNvPr id="19" name="obstacle 1-3"/>
          <p:cNvSpPr/>
          <p:nvPr/>
        </p:nvSpPr>
        <p:spPr>
          <a:xfrm>
            <a:off x="2514600" y="5047488"/>
            <a:ext cx="137160" cy="822960"/>
          </a:xfrm>
          <a:prstGeom prst="rect">
            <a:avLst/>
          </a:prstGeom>
          <a:solidFill>
            <a:schemeClr val="tx2"/>
          </a:solidFill>
          <a:ln/>
        </p:spPr>
      </p:sp>
      <p:sp>
        <p:nvSpPr>
          <p:cNvPr id="20" name="height label 1-3"/>
          <p:cNvSpPr txBox="1"/>
          <p:nvPr/>
        </p:nvSpPr>
        <p:spPr>
          <a:xfrm>
            <a:off x="2263140" y="5916168"/>
            <a:ext cx="640080" cy="256032"/>
          </a:xfrm>
          <a:prstGeom prst="rect">
            <a:avLst/>
          </a:prstGeom>
          <a:noFill/>
          <a:ln/>
        </p:spPr>
        <p:txBody>
          <a:bodyPr wrap="square" lIns="0" tIns="0" rIns="0" bIns="0" rtlCol="0" anchor="t"/>
          <a:lstStyle/>
          <a:p>
            <a:pPr algn="ctr" indent="0" marL="0">
              <a:buNone/>
            </a:pPr>
            <a:r>
              <a:rPr lang="en-US" sz="1200" dirty="0">
                <a:solidFill>
                  <a:schemeClr val="tx1"/>
                </a:solidFill>
              </a:rPr>
              <a:t>H3</a:t>
            </a:r>
            <a:endParaRPr lang="en-US" sz="1200" dirty="0"/>
          </a:p>
        </p:txBody>
      </p:sp>
      <p:sp>
        <p:nvSpPr>
          <p:cNvPr id="21" name="width label 2"/>
          <p:cNvSpPr txBox="1"/>
          <p:nvPr/>
        </p:nvSpPr>
        <p:spPr>
          <a:xfrm>
            <a:off x="3200400" y="4681728"/>
            <a:ext cx="2194560" cy="274320"/>
          </a:xfrm>
          <a:prstGeom prst="rect">
            <a:avLst/>
          </a:prstGeom>
          <a:noFill/>
          <a:ln/>
        </p:spPr>
        <p:txBody>
          <a:bodyPr wrap="square" lIns="0" tIns="0" rIns="0" bIns="0" rtlCol="0" anchor="t"/>
          <a:lstStyle/>
          <a:p>
            <a:pPr indent="0" marL="0">
              <a:buNone/>
            </a:pPr>
            <a:r>
              <a:rPr lang="en-US" sz="1200" b="1" dirty="0">
                <a:solidFill>
                  <a:schemeClr val="tx2"/>
                </a:solidFill>
              </a:rPr>
              <a:t>width 15 cm</a:t>
            </a:r>
            <a:endParaRPr lang="en-US" sz="1200" dirty="0"/>
          </a:p>
        </p:txBody>
      </p:sp>
      <p:sp>
        <p:nvSpPr>
          <p:cNvPr id="22" name="obstacle 2-1"/>
          <p:cNvSpPr/>
          <p:nvPr/>
        </p:nvSpPr>
        <p:spPr>
          <a:xfrm>
            <a:off x="3337560" y="5596128"/>
            <a:ext cx="411480" cy="274320"/>
          </a:xfrm>
          <a:prstGeom prst="rect">
            <a:avLst/>
          </a:prstGeom>
          <a:solidFill>
            <a:schemeClr val="tx2"/>
          </a:solidFill>
          <a:ln/>
        </p:spPr>
      </p:sp>
      <p:sp>
        <p:nvSpPr>
          <p:cNvPr id="23" name="height label 2-1"/>
          <p:cNvSpPr txBox="1"/>
          <p:nvPr/>
        </p:nvSpPr>
        <p:spPr>
          <a:xfrm>
            <a:off x="3223260" y="5916168"/>
            <a:ext cx="640080" cy="256032"/>
          </a:xfrm>
          <a:prstGeom prst="rect">
            <a:avLst/>
          </a:prstGeom>
          <a:noFill/>
          <a:ln/>
        </p:spPr>
        <p:txBody>
          <a:bodyPr wrap="square" lIns="0" tIns="0" rIns="0" bIns="0" rtlCol="0" anchor="t"/>
          <a:lstStyle/>
          <a:p>
            <a:pPr algn="ctr" indent="0" marL="0">
              <a:buNone/>
            </a:pPr>
            <a:r>
              <a:rPr lang="en-US" sz="1200" dirty="0">
                <a:solidFill>
                  <a:schemeClr val="tx1"/>
                </a:solidFill>
              </a:rPr>
              <a:t>H1</a:t>
            </a:r>
            <a:endParaRPr lang="en-US" sz="1200" dirty="0"/>
          </a:p>
        </p:txBody>
      </p:sp>
      <p:sp>
        <p:nvSpPr>
          <p:cNvPr id="24" name="obstacle 2-2"/>
          <p:cNvSpPr/>
          <p:nvPr/>
        </p:nvSpPr>
        <p:spPr>
          <a:xfrm>
            <a:off x="4069080" y="5321808"/>
            <a:ext cx="411480" cy="548640"/>
          </a:xfrm>
          <a:prstGeom prst="rect">
            <a:avLst/>
          </a:prstGeom>
          <a:solidFill>
            <a:schemeClr val="tx2"/>
          </a:solidFill>
          <a:ln/>
        </p:spPr>
      </p:sp>
      <p:sp>
        <p:nvSpPr>
          <p:cNvPr id="25" name="height label 2-2"/>
          <p:cNvSpPr txBox="1"/>
          <p:nvPr/>
        </p:nvSpPr>
        <p:spPr>
          <a:xfrm>
            <a:off x="3954780" y="5916168"/>
            <a:ext cx="640080" cy="256032"/>
          </a:xfrm>
          <a:prstGeom prst="rect">
            <a:avLst/>
          </a:prstGeom>
          <a:noFill/>
          <a:ln/>
        </p:spPr>
        <p:txBody>
          <a:bodyPr wrap="square" lIns="0" tIns="0" rIns="0" bIns="0" rtlCol="0" anchor="t"/>
          <a:lstStyle/>
          <a:p>
            <a:pPr algn="ctr" indent="0" marL="0">
              <a:buNone/>
            </a:pPr>
            <a:r>
              <a:rPr lang="en-US" sz="1200" dirty="0">
                <a:solidFill>
                  <a:schemeClr val="tx1"/>
                </a:solidFill>
              </a:rPr>
              <a:t>H2</a:t>
            </a:r>
            <a:endParaRPr lang="en-US" sz="1200" dirty="0"/>
          </a:p>
        </p:txBody>
      </p:sp>
      <p:sp>
        <p:nvSpPr>
          <p:cNvPr id="26" name="obstacle 2-3"/>
          <p:cNvSpPr/>
          <p:nvPr/>
        </p:nvSpPr>
        <p:spPr>
          <a:xfrm>
            <a:off x="4800600" y="5047488"/>
            <a:ext cx="411480" cy="822960"/>
          </a:xfrm>
          <a:prstGeom prst="rect">
            <a:avLst/>
          </a:prstGeom>
          <a:solidFill>
            <a:schemeClr val="tx2"/>
          </a:solidFill>
          <a:ln/>
        </p:spPr>
      </p:sp>
      <p:sp>
        <p:nvSpPr>
          <p:cNvPr id="27" name="height label 2-3"/>
          <p:cNvSpPr txBox="1"/>
          <p:nvPr/>
        </p:nvSpPr>
        <p:spPr>
          <a:xfrm>
            <a:off x="4686300" y="5916168"/>
            <a:ext cx="640080" cy="256032"/>
          </a:xfrm>
          <a:prstGeom prst="rect">
            <a:avLst/>
          </a:prstGeom>
          <a:noFill/>
          <a:ln/>
        </p:spPr>
        <p:txBody>
          <a:bodyPr wrap="square" lIns="0" tIns="0" rIns="0" bIns="0" rtlCol="0" anchor="t"/>
          <a:lstStyle/>
          <a:p>
            <a:pPr algn="ctr" indent="0" marL="0">
              <a:buNone/>
            </a:pPr>
            <a:r>
              <a:rPr lang="en-US" sz="1200" dirty="0">
                <a:solidFill>
                  <a:schemeClr val="tx1"/>
                </a:solidFill>
              </a:rPr>
              <a:t>H3</a:t>
            </a:r>
            <a:endParaRPr lang="en-US" sz="1200" dirty="0"/>
          </a:p>
        </p:txBody>
      </p:sp>
      <p:sp>
        <p:nvSpPr>
          <p:cNvPr id="28" name="dataset card"/>
          <p:cNvSpPr/>
          <p:nvPr/>
        </p:nvSpPr>
        <p:spPr>
          <a:xfrm>
            <a:off x="6172200" y="1691640"/>
            <a:ext cx="5468112" cy="4480560"/>
          </a:xfrm>
          <a:prstGeom prst="roundRect">
            <a:avLst>
              <a:gd name="adj" fmla="val 2041"/>
            </a:avLst>
          </a:prstGeom>
          <a:solidFill>
            <a:schemeClr val="bg2"/>
          </a:solidFill>
          <a:ln/>
        </p:spPr>
      </p:sp>
      <p:sp>
        <p:nvSpPr>
          <p:cNvPr id="29" name="dataset header"/>
          <p:cNvSpPr txBox="1"/>
          <p:nvPr/>
        </p:nvSpPr>
        <p:spPr>
          <a:xfrm>
            <a:off x="6446520" y="1874520"/>
            <a:ext cx="4937760" cy="411480"/>
          </a:xfrm>
          <a:prstGeom prst="rect">
            <a:avLst/>
          </a:prstGeom>
          <a:noFill/>
          <a:ln/>
        </p:spPr>
        <p:txBody>
          <a:bodyPr wrap="square" lIns="0" tIns="0" rIns="0" bIns="0" rtlCol="0" anchor="t"/>
          <a:lstStyle/>
          <a:p>
            <a:pPr indent="0" marL="0">
              <a:buNone/>
            </a:pPr>
            <a:r>
              <a:rPr lang="en-US" sz="1800" b="1" dirty="0">
                <a:solidFill>
                  <a:schemeClr val="tx2"/>
                </a:solidFill>
              </a:rPr>
              <a:t>The dataset (one row per crossing)</a:t>
            </a:r>
            <a:endParaRPr lang="en-US" sz="1800" dirty="0"/>
          </a:p>
        </p:txBody>
      </p:sp>
      <p:sp>
        <p:nvSpPr>
          <p:cNvPr id="30" name="dataset value 1"/>
          <p:cNvSpPr txBox="1"/>
          <p:nvPr/>
        </p:nvSpPr>
        <p:spPr>
          <a:xfrm>
            <a:off x="6446520" y="2468880"/>
            <a:ext cx="2377440" cy="594360"/>
          </a:xfrm>
          <a:prstGeom prst="rect">
            <a:avLst/>
          </a:prstGeom>
          <a:noFill/>
          <a:ln/>
        </p:spPr>
        <p:txBody>
          <a:bodyPr wrap="square" lIns="0" tIns="0" rIns="0" bIns="0" rtlCol="0" anchor="b"/>
          <a:lstStyle/>
          <a:p>
            <a:pPr indent="0" marL="0">
              <a:buNone/>
            </a:pPr>
            <a:r>
              <a:rPr lang="en-US" sz="3600" b="1" dirty="0">
                <a:solidFill>
                  <a:schemeClr val="tx2"/>
                </a:solidFill>
              </a:rPr>
              <a:t>349</a:t>
            </a:r>
            <a:endParaRPr lang="en-US" sz="3600" dirty="0"/>
          </a:p>
        </p:txBody>
      </p:sp>
      <p:sp>
        <p:nvSpPr>
          <p:cNvPr id="31" name="dataset label 1"/>
          <p:cNvSpPr txBox="1"/>
          <p:nvPr/>
        </p:nvSpPr>
        <p:spPr>
          <a:xfrm>
            <a:off x="6446520" y="3108960"/>
            <a:ext cx="2377440" cy="960120"/>
          </a:xfrm>
          <a:prstGeom prst="rect">
            <a:avLst/>
          </a:prstGeom>
          <a:noFill/>
          <a:ln/>
        </p:spPr>
        <p:txBody>
          <a:bodyPr wrap="square" lIns="0" tIns="0" rIns="0" bIns="0" rtlCol="0" anchor="t"/>
          <a:lstStyle/>
          <a:p>
            <a:pPr indent="0" marL="0">
              <a:buNone/>
            </a:pPr>
            <a:r>
              <a:rPr lang="en-US" sz="1400" dirty="0">
                <a:solidFill>
                  <a:schemeClr val="tx1"/>
                </a:solidFill>
              </a:rPr>
              <a:t>rows: 303 obstacle crossings and 46 level walks</a:t>
            </a:r>
            <a:endParaRPr lang="en-US" sz="1400" dirty="0"/>
          </a:p>
        </p:txBody>
      </p:sp>
      <p:sp>
        <p:nvSpPr>
          <p:cNvPr id="32" name="dataset value 2"/>
          <p:cNvSpPr txBox="1"/>
          <p:nvPr/>
        </p:nvSpPr>
        <p:spPr>
          <a:xfrm>
            <a:off x="9052560" y="2468880"/>
            <a:ext cx="2377440" cy="594360"/>
          </a:xfrm>
          <a:prstGeom prst="rect">
            <a:avLst/>
          </a:prstGeom>
          <a:noFill/>
          <a:ln/>
        </p:spPr>
        <p:txBody>
          <a:bodyPr wrap="square" lIns="0" tIns="0" rIns="0" bIns="0" rtlCol="0" anchor="b"/>
          <a:lstStyle/>
          <a:p>
            <a:pPr indent="0" marL="0">
              <a:buNone/>
            </a:pPr>
            <a:r>
              <a:rPr lang="en-US" sz="3600" b="1" dirty="0">
                <a:solidFill>
                  <a:schemeClr val="accent1"/>
                </a:solidFill>
              </a:rPr>
              <a:t>260</a:t>
            </a:r>
            <a:endParaRPr lang="en-US" sz="3600" dirty="0"/>
          </a:p>
        </p:txBody>
      </p:sp>
      <p:sp>
        <p:nvSpPr>
          <p:cNvPr id="33" name="dataset label 2"/>
          <p:cNvSpPr txBox="1"/>
          <p:nvPr/>
        </p:nvSpPr>
        <p:spPr>
          <a:xfrm>
            <a:off x="9052560" y="3108960"/>
            <a:ext cx="2377440" cy="960120"/>
          </a:xfrm>
          <a:prstGeom prst="rect">
            <a:avLst/>
          </a:prstGeom>
          <a:noFill/>
          <a:ln/>
        </p:spPr>
        <p:txBody>
          <a:bodyPr wrap="square" lIns="0" tIns="0" rIns="0" bIns="0" rtlCol="0" anchor="t"/>
          <a:lstStyle/>
          <a:p>
            <a:pPr indent="0" marL="0">
              <a:buNone/>
            </a:pPr>
            <a:r>
              <a:rPr lang="en-US" sz="1400" dirty="0">
                <a:solidFill>
                  <a:schemeClr val="tx1"/>
                </a:solidFill>
              </a:rPr>
              <a:t>crossings used for ML (H1 88 · H2 90 · H3 82)</a:t>
            </a:r>
            <a:endParaRPr lang="en-US" sz="1400" dirty="0"/>
          </a:p>
        </p:txBody>
      </p:sp>
      <p:sp>
        <p:nvSpPr>
          <p:cNvPr id="34" name="dataset value 3"/>
          <p:cNvSpPr txBox="1"/>
          <p:nvPr/>
        </p:nvSpPr>
        <p:spPr>
          <a:xfrm>
            <a:off x="6446520" y="4251960"/>
            <a:ext cx="2377440" cy="594360"/>
          </a:xfrm>
          <a:prstGeom prst="rect">
            <a:avLst/>
          </a:prstGeom>
          <a:noFill/>
          <a:ln/>
        </p:spPr>
        <p:txBody>
          <a:bodyPr wrap="square" lIns="0" tIns="0" rIns="0" bIns="0" rtlCol="0" anchor="b"/>
          <a:lstStyle/>
          <a:p>
            <a:pPr indent="0" marL="0">
              <a:buNone/>
            </a:pPr>
            <a:r>
              <a:rPr lang="en-US" sz="3600" b="1" dirty="0">
                <a:solidFill>
                  <a:schemeClr val="accent3"/>
                </a:solidFill>
              </a:rPr>
              <a:t>110</a:t>
            </a:r>
            <a:endParaRPr lang="en-US" sz="3600" dirty="0"/>
          </a:p>
        </p:txBody>
      </p:sp>
      <p:sp>
        <p:nvSpPr>
          <p:cNvPr id="35" name="dataset label 3"/>
          <p:cNvSpPr txBox="1"/>
          <p:nvPr/>
        </p:nvSpPr>
        <p:spPr>
          <a:xfrm>
            <a:off x="6446520" y="4892040"/>
            <a:ext cx="2377440" cy="960120"/>
          </a:xfrm>
          <a:prstGeom prst="rect">
            <a:avLst/>
          </a:prstGeom>
          <a:noFill/>
          <a:ln/>
        </p:spPr>
        <p:txBody>
          <a:bodyPr wrap="square" lIns="0" tIns="0" rIns="0" bIns="0" rtlCol="0" anchor="t"/>
          <a:lstStyle/>
          <a:p>
            <a:pPr indent="0" marL="0">
              <a:buNone/>
            </a:pPr>
            <a:r>
              <a:rPr lang="en-US" sz="1400" dirty="0">
                <a:solidFill>
                  <a:schemeClr val="tx1"/>
                </a:solidFill>
              </a:rPr>
              <a:t>Dot features: 57 leading, 52 trailing, 1 crossing duration</a:t>
            </a:r>
            <a:endParaRPr lang="en-US" sz="1400" dirty="0"/>
          </a:p>
        </p:txBody>
      </p:sp>
      <p:sp>
        <p:nvSpPr>
          <p:cNvPr id="36" name="dataset value 4"/>
          <p:cNvSpPr txBox="1"/>
          <p:nvPr/>
        </p:nvSpPr>
        <p:spPr>
          <a:xfrm>
            <a:off x="9052560" y="4251960"/>
            <a:ext cx="2377440" cy="594360"/>
          </a:xfrm>
          <a:prstGeom prst="rect">
            <a:avLst/>
          </a:prstGeom>
          <a:noFill/>
          <a:ln/>
        </p:spPr>
        <p:txBody>
          <a:bodyPr wrap="square" lIns="0" tIns="0" rIns="0" bIns="0" rtlCol="0" anchor="b"/>
          <a:lstStyle/>
          <a:p>
            <a:pPr indent="0" marL="0">
              <a:buNone/>
            </a:pPr>
            <a:r>
              <a:rPr lang="en-US" sz="3600" b="1" dirty="0">
                <a:solidFill>
                  <a:schemeClr val="accent5"/>
                </a:solidFill>
              </a:rPr>
              <a:t>43</a:t>
            </a:r>
            <a:endParaRPr lang="en-US" sz="3600" dirty="0"/>
          </a:p>
        </p:txBody>
      </p:sp>
      <p:sp>
        <p:nvSpPr>
          <p:cNvPr id="37" name="dataset label 4"/>
          <p:cNvSpPr txBox="1"/>
          <p:nvPr/>
        </p:nvSpPr>
        <p:spPr>
          <a:xfrm>
            <a:off x="9052560" y="4892040"/>
            <a:ext cx="2377440" cy="960120"/>
          </a:xfrm>
          <a:prstGeom prst="rect">
            <a:avLst/>
          </a:prstGeom>
          <a:noFill/>
          <a:ln/>
        </p:spPr>
        <p:txBody>
          <a:bodyPr wrap="square" lIns="0" tIns="0" rIns="0" bIns="0" rtlCol="0" anchor="t"/>
          <a:lstStyle/>
          <a:p>
            <a:pPr indent="0" marL="0">
              <a:buNone/>
            </a:pPr>
            <a:r>
              <a:rPr lang="en-US" sz="1400" dirty="0">
                <a:solidFill>
                  <a:schemeClr val="tx1"/>
                </a:solidFill>
              </a:rPr>
              <a:t>excluded: data quality 18, no gait events 11, invalid trajectory 10, drift 4</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What the models see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Only wearable (Dot) values are model inputs; camera values are kept as the reference.</a:t>
            </a:r>
            <a:endParaRPr lang="en-US" sz="1700" dirty="0"/>
          </a:p>
        </p:txBody>
      </p:sp>
      <p:sp>
        <p:nvSpPr>
          <p:cNvPr id="4" name="input 1 card"/>
          <p:cNvSpPr/>
          <p:nvPr/>
        </p:nvSpPr>
        <p:spPr>
          <a:xfrm>
            <a:off x="548640" y="1691640"/>
            <a:ext cx="2606040" cy="3429000"/>
          </a:xfrm>
          <a:prstGeom prst="roundRect">
            <a:avLst>
              <a:gd name="adj" fmla="val 3509"/>
            </a:avLst>
          </a:prstGeom>
          <a:solidFill>
            <a:schemeClr val="bg2"/>
          </a:solidFill>
          <a:ln/>
        </p:spPr>
      </p:sp>
      <p:sp>
        <p:nvSpPr>
          <p:cNvPr id="5" name="input 1 circle"/>
          <p:cNvSpPr/>
          <p:nvPr/>
        </p:nvSpPr>
        <p:spPr>
          <a:xfrm>
            <a:off x="777240" y="1920240"/>
            <a:ext cx="548640" cy="548640"/>
          </a:xfrm>
          <a:prstGeom prst="ellipse">
            <a:avLst/>
          </a:prstGeom>
          <a:solidFill>
            <a:schemeClr val="accent1"/>
          </a:solidFill>
          <a:ln/>
        </p:spPr>
      </p:sp>
      <p:pic>
        <p:nvPicPr>
          <p:cNvPr id="6" name="input 1 icon" descr="preencoded.png">    </p:cNvPr>
          <p:cNvPicPr>
            <a:picLocks noChangeAspect="1"/>
          </p:cNvPicPr>
          <p:nvPr/>
        </p:nvPicPr>
        <p:blipFill>
          <a:blip r:embed="rId1"/>
          <a:stretch>
            <a:fillRect/>
          </a:stretch>
        </p:blipFill>
        <p:spPr>
          <a:xfrm>
            <a:off x="908914" y="2051914"/>
            <a:ext cx="285293" cy="285293"/>
          </a:xfrm>
          <a:prstGeom prst="rect">
            <a:avLst/>
          </a:prstGeom>
        </p:spPr>
      </p:pic>
      <p:sp>
        <p:nvSpPr>
          <p:cNvPr id="7" name="input 1 head"/>
          <p:cNvSpPr txBox="1"/>
          <p:nvPr/>
        </p:nvSpPr>
        <p:spPr>
          <a:xfrm>
            <a:off x="1508760" y="1920240"/>
            <a:ext cx="1417320" cy="548640"/>
          </a:xfrm>
          <a:prstGeom prst="rect">
            <a:avLst/>
          </a:prstGeom>
          <a:noFill/>
          <a:ln/>
        </p:spPr>
        <p:txBody>
          <a:bodyPr wrap="square" lIns="0" tIns="0" rIns="0" bIns="0" rtlCol="0" anchor="ctr"/>
          <a:lstStyle/>
          <a:p>
            <a:pPr indent="0" marL="0">
              <a:buNone/>
            </a:pPr>
            <a:r>
              <a:rPr lang="en-US" sz="1600" b="1" dirty="0">
                <a:solidFill>
                  <a:schemeClr val="tx2"/>
                </a:solidFill>
              </a:rPr>
              <a:t>Summary features</a:t>
            </a:r>
            <a:endParaRPr lang="en-US" sz="1600" dirty="0"/>
          </a:p>
        </p:txBody>
      </p:sp>
      <p:sp>
        <p:nvSpPr>
          <p:cNvPr id="8" name="input 1 body"/>
          <p:cNvSpPr txBox="1"/>
          <p:nvPr/>
        </p:nvSpPr>
        <p:spPr>
          <a:xfrm>
            <a:off x="777240" y="2651760"/>
            <a:ext cx="2148840" cy="2331720"/>
          </a:xfrm>
          <a:prstGeom prst="rect">
            <a:avLst/>
          </a:prstGeom>
          <a:noFill/>
          <a:ln/>
        </p:spPr>
        <p:txBody>
          <a:bodyPr wrap="square" lIns="0" tIns="0" rIns="0" bIns="0" rtlCol="0" anchor="t"/>
          <a:lstStyle/>
          <a:p>
            <a:pPr indent="0" marL="0">
              <a:buNone/>
            </a:pPr>
            <a:r>
              <a:rPr lang="en-US" sz="1400" dirty="0">
                <a:solidFill>
                  <a:schemeClr val="tx1"/>
                </a:solidFill>
              </a:rPr>
              <a:t>Per leg: tilt extremes, range and timing of thigh, shank and foot; angular velocity; foot acceleration; foot trajectory (peak height, height at 25 / 50 / 75 % of swing); swing and stance time; approach strides.</a:t>
            </a:r>
            <a:endParaRPr lang="en-US" sz="1400" dirty="0"/>
          </a:p>
        </p:txBody>
      </p:sp>
      <p:sp>
        <p:nvSpPr>
          <p:cNvPr id="9" name="input 2 card"/>
          <p:cNvSpPr/>
          <p:nvPr/>
        </p:nvSpPr>
        <p:spPr>
          <a:xfrm>
            <a:off x="3364992" y="1691640"/>
            <a:ext cx="2606040" cy="3429000"/>
          </a:xfrm>
          <a:prstGeom prst="roundRect">
            <a:avLst>
              <a:gd name="adj" fmla="val 3509"/>
            </a:avLst>
          </a:prstGeom>
          <a:solidFill>
            <a:schemeClr val="bg2"/>
          </a:solidFill>
          <a:ln/>
        </p:spPr>
      </p:sp>
      <p:sp>
        <p:nvSpPr>
          <p:cNvPr id="10" name="input 2 circle"/>
          <p:cNvSpPr/>
          <p:nvPr/>
        </p:nvSpPr>
        <p:spPr>
          <a:xfrm>
            <a:off x="3593592" y="1920240"/>
            <a:ext cx="548640" cy="548640"/>
          </a:xfrm>
          <a:prstGeom prst="ellipse">
            <a:avLst/>
          </a:prstGeom>
          <a:solidFill>
            <a:schemeClr val="accent3"/>
          </a:solidFill>
          <a:ln/>
        </p:spPr>
      </p:sp>
      <p:pic>
        <p:nvPicPr>
          <p:cNvPr id="11" name="input 2 icon" descr="preencoded.png">    </p:cNvPr>
          <p:cNvPicPr>
            <a:picLocks noChangeAspect="1"/>
          </p:cNvPicPr>
          <p:nvPr/>
        </p:nvPicPr>
        <p:blipFill>
          <a:blip r:embed="rId2"/>
          <a:stretch>
            <a:fillRect/>
          </a:stretch>
        </p:blipFill>
        <p:spPr>
          <a:xfrm>
            <a:off x="3725266" y="2051914"/>
            <a:ext cx="285293" cy="285293"/>
          </a:xfrm>
          <a:prstGeom prst="rect">
            <a:avLst/>
          </a:prstGeom>
        </p:spPr>
      </p:pic>
      <p:sp>
        <p:nvSpPr>
          <p:cNvPr id="12" name="input 2 head"/>
          <p:cNvSpPr txBox="1"/>
          <p:nvPr/>
        </p:nvSpPr>
        <p:spPr>
          <a:xfrm>
            <a:off x="4325112" y="1920240"/>
            <a:ext cx="1417320" cy="548640"/>
          </a:xfrm>
          <a:prstGeom prst="rect">
            <a:avLst/>
          </a:prstGeom>
          <a:noFill/>
          <a:ln/>
        </p:spPr>
        <p:txBody>
          <a:bodyPr wrap="square" lIns="0" tIns="0" rIns="0" bIns="0" rtlCol="0" anchor="ctr"/>
          <a:lstStyle/>
          <a:p>
            <a:pPr indent="0" marL="0">
              <a:buNone/>
            </a:pPr>
            <a:r>
              <a:rPr lang="en-US" sz="1600" b="1" dirty="0">
                <a:solidFill>
                  <a:schemeClr val="tx2"/>
                </a:solidFill>
              </a:rPr>
              <a:t>Clearance shape</a:t>
            </a:r>
            <a:endParaRPr lang="en-US" sz="1600" dirty="0"/>
          </a:p>
        </p:txBody>
      </p:sp>
      <p:sp>
        <p:nvSpPr>
          <p:cNvPr id="13" name="input 2 body"/>
          <p:cNvSpPr txBox="1"/>
          <p:nvPr/>
        </p:nvSpPr>
        <p:spPr>
          <a:xfrm>
            <a:off x="3593592" y="2651760"/>
            <a:ext cx="2148840" cy="2331720"/>
          </a:xfrm>
          <a:prstGeom prst="rect">
            <a:avLst/>
          </a:prstGeom>
          <a:noFill/>
          <a:ln/>
        </p:spPr>
        <p:txBody>
          <a:bodyPr wrap="square" lIns="0" tIns="0" rIns="0" bIns="0" rtlCol="0" anchor="t"/>
          <a:lstStyle/>
          <a:p>
            <a:pPr indent="0" marL="0">
              <a:buNone/>
            </a:pPr>
            <a:r>
              <a:rPr lang="en-US" sz="1400" dirty="0">
                <a:solidFill>
                  <a:schemeClr val="tx1"/>
                </a:solidFill>
              </a:rPr>
              <a:t>13 numbers from the foot-height curve: how long and how far the foot stays high, and where its apex lies.</a:t>
            </a:r>
            <a:endParaRPr lang="en-US" sz="1400" dirty="0"/>
          </a:p>
        </p:txBody>
      </p:sp>
      <p:sp>
        <p:nvSpPr>
          <p:cNvPr id="14" name="input 3 card"/>
          <p:cNvSpPr/>
          <p:nvPr/>
        </p:nvSpPr>
        <p:spPr>
          <a:xfrm>
            <a:off x="6181344" y="1691640"/>
            <a:ext cx="2606040" cy="3429000"/>
          </a:xfrm>
          <a:prstGeom prst="roundRect">
            <a:avLst>
              <a:gd name="adj" fmla="val 3509"/>
            </a:avLst>
          </a:prstGeom>
          <a:solidFill>
            <a:schemeClr val="bg2"/>
          </a:solidFill>
          <a:ln/>
        </p:spPr>
      </p:sp>
      <p:sp>
        <p:nvSpPr>
          <p:cNvPr id="15" name="input 3 circle"/>
          <p:cNvSpPr/>
          <p:nvPr/>
        </p:nvSpPr>
        <p:spPr>
          <a:xfrm>
            <a:off x="6409944" y="1920240"/>
            <a:ext cx="548640" cy="548640"/>
          </a:xfrm>
          <a:prstGeom prst="ellipse">
            <a:avLst/>
          </a:prstGeom>
          <a:solidFill>
            <a:schemeClr val="accent4"/>
          </a:solidFill>
          <a:ln/>
        </p:spPr>
      </p:sp>
      <p:pic>
        <p:nvPicPr>
          <p:cNvPr id="16" name="input 3 icon" descr="preencoded.png">    </p:cNvPr>
          <p:cNvPicPr>
            <a:picLocks noChangeAspect="1"/>
          </p:cNvPicPr>
          <p:nvPr/>
        </p:nvPicPr>
        <p:blipFill>
          <a:blip r:embed="rId3"/>
          <a:stretch>
            <a:fillRect/>
          </a:stretch>
        </p:blipFill>
        <p:spPr>
          <a:xfrm>
            <a:off x="6541618" y="2051914"/>
            <a:ext cx="285293" cy="285293"/>
          </a:xfrm>
          <a:prstGeom prst="rect">
            <a:avLst/>
          </a:prstGeom>
        </p:spPr>
      </p:pic>
      <p:sp>
        <p:nvSpPr>
          <p:cNvPr id="17" name="input 3 head"/>
          <p:cNvSpPr txBox="1"/>
          <p:nvPr/>
        </p:nvSpPr>
        <p:spPr>
          <a:xfrm>
            <a:off x="7141464" y="1920240"/>
            <a:ext cx="1417320" cy="548640"/>
          </a:xfrm>
          <a:prstGeom prst="rect">
            <a:avLst/>
          </a:prstGeom>
          <a:noFill/>
          <a:ln/>
        </p:spPr>
        <p:txBody>
          <a:bodyPr wrap="square" lIns="0" tIns="0" rIns="0" bIns="0" rtlCol="0" anchor="ctr"/>
          <a:lstStyle/>
          <a:p>
            <a:pPr indent="0" marL="0">
              <a:buNone/>
            </a:pPr>
            <a:r>
              <a:rPr lang="en-US" sz="1600" b="1" dirty="0">
                <a:solidFill>
                  <a:schemeClr val="tx2"/>
                </a:solidFill>
              </a:rPr>
              <a:t>Swing curves</a:t>
            </a:r>
            <a:endParaRPr lang="en-US" sz="1600" dirty="0"/>
          </a:p>
        </p:txBody>
      </p:sp>
      <p:sp>
        <p:nvSpPr>
          <p:cNvPr id="18" name="input 3 body"/>
          <p:cNvSpPr txBox="1"/>
          <p:nvPr/>
        </p:nvSpPr>
        <p:spPr>
          <a:xfrm>
            <a:off x="6409944" y="2651760"/>
            <a:ext cx="2148840" cy="2331720"/>
          </a:xfrm>
          <a:prstGeom prst="rect">
            <a:avLst/>
          </a:prstGeom>
          <a:noFill/>
          <a:ln/>
        </p:spPr>
        <p:txBody>
          <a:bodyPr wrap="square" lIns="0" tIns="0" rIns="0" bIns="0" rtlCol="0" anchor="t"/>
          <a:lstStyle/>
          <a:p>
            <a:pPr indent="0" marL="0">
              <a:buNone/>
            </a:pPr>
            <a:r>
              <a:rPr lang="en-US" sz="1400" dirty="0">
                <a:solidFill>
                  <a:schemeClr val="tx1"/>
                </a:solidFill>
              </a:rPr>
              <a:t>6 signals per leg (thigh, shank and foot tilt, foot acceleration, foot height and progression) at every 2 % of the swing.</a:t>
            </a:r>
            <a:endParaRPr lang="en-US" sz="1400" dirty="0"/>
          </a:p>
        </p:txBody>
      </p:sp>
      <p:sp>
        <p:nvSpPr>
          <p:cNvPr id="19" name="input 4 card"/>
          <p:cNvSpPr/>
          <p:nvPr/>
        </p:nvSpPr>
        <p:spPr>
          <a:xfrm>
            <a:off x="8997696" y="1691640"/>
            <a:ext cx="2606040" cy="3429000"/>
          </a:xfrm>
          <a:prstGeom prst="roundRect">
            <a:avLst>
              <a:gd name="adj" fmla="val 3509"/>
            </a:avLst>
          </a:prstGeom>
          <a:solidFill>
            <a:schemeClr val="bg2"/>
          </a:solidFill>
          <a:ln/>
        </p:spPr>
      </p:sp>
      <p:sp>
        <p:nvSpPr>
          <p:cNvPr id="20" name="input 4 circle"/>
          <p:cNvSpPr/>
          <p:nvPr/>
        </p:nvSpPr>
        <p:spPr>
          <a:xfrm>
            <a:off x="9226296" y="1920240"/>
            <a:ext cx="548640" cy="548640"/>
          </a:xfrm>
          <a:prstGeom prst="ellipse">
            <a:avLst/>
          </a:prstGeom>
          <a:solidFill>
            <a:schemeClr val="accent2"/>
          </a:solidFill>
          <a:ln/>
        </p:spPr>
      </p:sp>
      <p:pic>
        <p:nvPicPr>
          <p:cNvPr id="21" name="input 4 icon" descr="preencoded.png">    </p:cNvPr>
          <p:cNvPicPr>
            <a:picLocks noChangeAspect="1"/>
          </p:cNvPicPr>
          <p:nvPr/>
        </p:nvPicPr>
        <p:blipFill>
          <a:blip r:embed="rId4"/>
          <a:stretch>
            <a:fillRect/>
          </a:stretch>
        </p:blipFill>
        <p:spPr>
          <a:xfrm>
            <a:off x="9357970" y="2051914"/>
            <a:ext cx="285293" cy="285293"/>
          </a:xfrm>
          <a:prstGeom prst="rect">
            <a:avLst/>
          </a:prstGeom>
        </p:spPr>
      </p:pic>
      <p:sp>
        <p:nvSpPr>
          <p:cNvPr id="22" name="input 4 head"/>
          <p:cNvSpPr txBox="1"/>
          <p:nvPr/>
        </p:nvSpPr>
        <p:spPr>
          <a:xfrm>
            <a:off x="9957816" y="1920240"/>
            <a:ext cx="1417320" cy="548640"/>
          </a:xfrm>
          <a:prstGeom prst="rect">
            <a:avLst/>
          </a:prstGeom>
          <a:noFill/>
          <a:ln/>
        </p:spPr>
        <p:txBody>
          <a:bodyPr wrap="square" lIns="0" tIns="0" rIns="0" bIns="0" rtlCol="0" anchor="ctr"/>
          <a:lstStyle/>
          <a:p>
            <a:pPr indent="0" marL="0">
              <a:buNone/>
            </a:pPr>
            <a:r>
              <a:rPr lang="en-US" sz="1600" b="1" dirty="0">
                <a:solidFill>
                  <a:schemeClr val="tx2"/>
                </a:solidFill>
              </a:rPr>
              <a:t>Time-aligned signals</a:t>
            </a:r>
            <a:endParaRPr lang="en-US" sz="1600" dirty="0"/>
          </a:p>
        </p:txBody>
      </p:sp>
      <p:sp>
        <p:nvSpPr>
          <p:cNvPr id="23" name="input 4 body"/>
          <p:cNvSpPr txBox="1"/>
          <p:nvPr/>
        </p:nvSpPr>
        <p:spPr>
          <a:xfrm>
            <a:off x="9226296" y="2651760"/>
            <a:ext cx="2148840" cy="2331720"/>
          </a:xfrm>
          <a:prstGeom prst="rect">
            <a:avLst/>
          </a:prstGeom>
          <a:noFill/>
          <a:ln/>
        </p:spPr>
        <p:txBody>
          <a:bodyPr wrap="square" lIns="0" tIns="0" rIns="0" bIns="0" rtlCol="0" anchor="t"/>
          <a:lstStyle/>
          <a:p>
            <a:pPr indent="0" marL="0">
              <a:buNone/>
            </a:pPr>
            <a:r>
              <a:rPr lang="en-US" sz="1400" dirty="0">
                <a:solidFill>
                  <a:schemeClr val="tx1"/>
                </a:solidFill>
              </a:rPr>
              <a:t>60 Hz samples from −1.5 s to +0.6 s around the trailing toe lift-off, for the real-time cue.</a:t>
            </a:r>
            <a:endParaRPr lang="en-US" sz="1400" dirty="0"/>
          </a:p>
        </p:txBody>
      </p:sp>
      <p:sp>
        <p:nvSpPr>
          <p:cNvPr id="24" name="camera band"/>
          <p:cNvSpPr/>
          <p:nvPr/>
        </p:nvSpPr>
        <p:spPr>
          <a:xfrm>
            <a:off x="548640" y="5349240"/>
            <a:ext cx="11091672" cy="822960"/>
          </a:xfrm>
          <a:prstGeom prst="roundRect">
            <a:avLst>
              <a:gd name="adj" fmla="val 11111"/>
            </a:avLst>
          </a:prstGeom>
          <a:solidFill>
            <a:schemeClr val="accent6">
              <a:alpha val="12000"/>
            </a:schemeClr>
          </a:solidFill>
          <a:ln/>
        </p:spPr>
      </p:sp>
      <p:sp>
        <p:nvSpPr>
          <p:cNvPr id="25" name="camera circle"/>
          <p:cNvSpPr/>
          <p:nvPr/>
        </p:nvSpPr>
        <p:spPr>
          <a:xfrm>
            <a:off x="777240" y="5486400"/>
            <a:ext cx="548640" cy="548640"/>
          </a:xfrm>
          <a:prstGeom prst="ellipse">
            <a:avLst/>
          </a:prstGeom>
          <a:solidFill>
            <a:schemeClr val="accent6"/>
          </a:solidFill>
          <a:ln/>
        </p:spPr>
      </p:sp>
      <p:pic>
        <p:nvPicPr>
          <p:cNvPr id="26" name="camera icon" descr="preencoded.png">    </p:cNvPr>
          <p:cNvPicPr>
            <a:picLocks noChangeAspect="1"/>
          </p:cNvPicPr>
          <p:nvPr/>
        </p:nvPicPr>
        <p:blipFill>
          <a:blip r:embed="rId5"/>
          <a:stretch>
            <a:fillRect/>
          </a:stretch>
        </p:blipFill>
        <p:spPr>
          <a:xfrm>
            <a:off x="908914" y="5618074"/>
            <a:ext cx="285293" cy="285293"/>
          </a:xfrm>
          <a:prstGeom prst="rect">
            <a:avLst/>
          </a:prstGeom>
        </p:spPr>
      </p:pic>
      <p:sp>
        <p:nvSpPr>
          <p:cNvPr id="27" name="camera text"/>
          <p:cNvSpPr txBox="1"/>
          <p:nvPr/>
        </p:nvSpPr>
        <p:spPr>
          <a:xfrm>
            <a:off x="1554480" y="5349240"/>
            <a:ext cx="9875520" cy="822960"/>
          </a:xfrm>
          <a:prstGeom prst="rect">
            <a:avLst/>
          </a:prstGeom>
          <a:noFill/>
          <a:ln/>
        </p:spPr>
        <p:txBody>
          <a:bodyPr wrap="square" lIns="0" tIns="0" rIns="0" bIns="0" rtlCol="0" anchor="ctr"/>
          <a:lstStyle/>
          <a:p>
            <a:pPr indent="0" marL="0">
              <a:buNone/>
            </a:pPr>
            <a:r>
              <a:rPr lang="en-US" sz="1400" b="1" dirty="0">
                <a:solidFill>
                  <a:schemeClr val="tx2"/>
                </a:solidFill>
              </a:rPr>
              <a:t>Camera reference, never an input: </a:t>
            </a:r>
            <a:pPr indent="0" marL="0">
              <a:buNone/>
            </a:pPr>
            <a:r>
              <a:rPr lang="en-US" sz="1400" dirty="0">
                <a:solidFill>
                  <a:schemeClr val="tx1"/>
                </a:solidFill>
              </a:rPr>
              <a:t>clearance, take-off and landing distances, toe-marker peak, obstacle height and the toe lift-off time.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How the models were tested</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Every accuracy in this deck is for a person the model never saw in training.</a:t>
            </a:r>
            <a:endParaRPr lang="en-US" sz="1700" dirty="0"/>
          </a:p>
        </p:txBody>
      </p:sp>
      <p:sp>
        <p:nvSpPr>
          <p:cNvPr id="4" name="lopo header"/>
          <p:cNvSpPr txBox="1"/>
          <p:nvPr/>
        </p:nvSpPr>
        <p:spPr>
          <a:xfrm>
            <a:off x="548640" y="1691640"/>
            <a:ext cx="5760720" cy="411480"/>
          </a:xfrm>
          <a:prstGeom prst="rect">
            <a:avLst/>
          </a:prstGeom>
          <a:noFill/>
          <a:ln/>
        </p:spPr>
        <p:txBody>
          <a:bodyPr wrap="square" lIns="0" tIns="0" rIns="0" bIns="0" rtlCol="0" anchor="t"/>
          <a:lstStyle/>
          <a:p>
            <a:pPr indent="0" marL="0">
              <a:buNone/>
            </a:pPr>
            <a:r>
              <a:rPr lang="en-US" sz="1800" b="1" dirty="0">
                <a:solidFill>
                  <a:schemeClr val="tx2"/>
                </a:solidFill>
              </a:rPr>
              <a:t>Leave-one-participant-out</a:t>
            </a:r>
            <a:endParaRPr lang="en-US" sz="1800" dirty="0"/>
          </a:p>
        </p:txBody>
      </p:sp>
      <p:sp>
        <p:nvSpPr>
          <p:cNvPr id="5" name="fold label 1"/>
          <p:cNvSpPr txBox="1"/>
          <p:nvPr/>
        </p:nvSpPr>
        <p:spPr>
          <a:xfrm>
            <a:off x="548640" y="2331720"/>
            <a:ext cx="868680" cy="365760"/>
          </a:xfrm>
          <a:prstGeom prst="rect">
            <a:avLst/>
          </a:prstGeom>
          <a:noFill/>
          <a:ln/>
        </p:spPr>
        <p:txBody>
          <a:bodyPr wrap="square" lIns="0" tIns="0" rIns="0" bIns="0" rtlCol="0" anchor="ctr"/>
          <a:lstStyle/>
          <a:p>
            <a:pPr indent="0" marL="0">
              <a:buNone/>
            </a:pPr>
            <a:r>
              <a:rPr lang="en-US" sz="1400" dirty="0">
                <a:solidFill>
                  <a:schemeClr val="tx1"/>
                </a:solidFill>
              </a:rPr>
              <a:t>fold 1</a:t>
            </a:r>
            <a:endParaRPr lang="en-US" sz="1400" dirty="0"/>
          </a:p>
        </p:txBody>
      </p:sp>
      <p:sp>
        <p:nvSpPr>
          <p:cNvPr id="6" name="fold 1 person 1"/>
          <p:cNvSpPr/>
          <p:nvPr/>
        </p:nvSpPr>
        <p:spPr>
          <a:xfrm>
            <a:off x="1508760" y="2350008"/>
            <a:ext cx="329184" cy="329184"/>
          </a:xfrm>
          <a:prstGeom prst="ellipse">
            <a:avLst/>
          </a:prstGeom>
          <a:solidFill>
            <a:schemeClr val="accent2"/>
          </a:solidFill>
          <a:ln/>
        </p:spPr>
      </p:sp>
      <p:sp>
        <p:nvSpPr>
          <p:cNvPr id="7" name="fold 1 person 2"/>
          <p:cNvSpPr/>
          <p:nvPr/>
        </p:nvSpPr>
        <p:spPr>
          <a:xfrm>
            <a:off x="1965960" y="2350008"/>
            <a:ext cx="329184" cy="329184"/>
          </a:xfrm>
          <a:prstGeom prst="ellipse">
            <a:avLst/>
          </a:prstGeom>
          <a:solidFill>
            <a:schemeClr val="accent6">
              <a:alpha val="55000"/>
            </a:schemeClr>
          </a:solidFill>
          <a:ln/>
        </p:spPr>
      </p:sp>
      <p:sp>
        <p:nvSpPr>
          <p:cNvPr id="8" name="fold 1 person 3"/>
          <p:cNvSpPr/>
          <p:nvPr/>
        </p:nvSpPr>
        <p:spPr>
          <a:xfrm>
            <a:off x="2423160" y="2350008"/>
            <a:ext cx="329184" cy="329184"/>
          </a:xfrm>
          <a:prstGeom prst="ellipse">
            <a:avLst/>
          </a:prstGeom>
          <a:solidFill>
            <a:schemeClr val="accent6">
              <a:alpha val="55000"/>
            </a:schemeClr>
          </a:solidFill>
          <a:ln/>
        </p:spPr>
      </p:sp>
      <p:sp>
        <p:nvSpPr>
          <p:cNvPr id="9" name="fold 1 person 4"/>
          <p:cNvSpPr/>
          <p:nvPr/>
        </p:nvSpPr>
        <p:spPr>
          <a:xfrm>
            <a:off x="2880360" y="2350008"/>
            <a:ext cx="329184" cy="329184"/>
          </a:xfrm>
          <a:prstGeom prst="ellipse">
            <a:avLst/>
          </a:prstGeom>
          <a:solidFill>
            <a:schemeClr val="accent6">
              <a:alpha val="55000"/>
            </a:schemeClr>
          </a:solidFill>
          <a:ln/>
        </p:spPr>
      </p:sp>
      <p:sp>
        <p:nvSpPr>
          <p:cNvPr id="10" name="fold 1 person 5"/>
          <p:cNvSpPr/>
          <p:nvPr/>
        </p:nvSpPr>
        <p:spPr>
          <a:xfrm>
            <a:off x="3337560" y="2350008"/>
            <a:ext cx="329184" cy="329184"/>
          </a:xfrm>
          <a:prstGeom prst="ellipse">
            <a:avLst/>
          </a:prstGeom>
          <a:solidFill>
            <a:schemeClr val="accent6">
              <a:alpha val="55000"/>
            </a:schemeClr>
          </a:solidFill>
          <a:ln/>
        </p:spPr>
      </p:sp>
      <p:sp>
        <p:nvSpPr>
          <p:cNvPr id="11" name="fold 1 person 6"/>
          <p:cNvSpPr/>
          <p:nvPr/>
        </p:nvSpPr>
        <p:spPr>
          <a:xfrm>
            <a:off x="3794760" y="2350008"/>
            <a:ext cx="329184" cy="329184"/>
          </a:xfrm>
          <a:prstGeom prst="ellipse">
            <a:avLst/>
          </a:prstGeom>
          <a:solidFill>
            <a:schemeClr val="accent6">
              <a:alpha val="55000"/>
            </a:schemeClr>
          </a:solidFill>
          <a:ln/>
        </p:spPr>
      </p:sp>
      <p:sp>
        <p:nvSpPr>
          <p:cNvPr id="12" name="fold 1 person 7"/>
          <p:cNvSpPr/>
          <p:nvPr/>
        </p:nvSpPr>
        <p:spPr>
          <a:xfrm>
            <a:off x="4251960" y="2350008"/>
            <a:ext cx="329184" cy="329184"/>
          </a:xfrm>
          <a:prstGeom prst="ellipse">
            <a:avLst/>
          </a:prstGeom>
          <a:solidFill>
            <a:schemeClr val="accent6">
              <a:alpha val="55000"/>
            </a:schemeClr>
          </a:solidFill>
          <a:ln/>
        </p:spPr>
      </p:sp>
      <p:sp>
        <p:nvSpPr>
          <p:cNvPr id="13" name="fold 1 person 8"/>
          <p:cNvSpPr/>
          <p:nvPr/>
        </p:nvSpPr>
        <p:spPr>
          <a:xfrm>
            <a:off x="4709160" y="2350008"/>
            <a:ext cx="329184" cy="329184"/>
          </a:xfrm>
          <a:prstGeom prst="ellipse">
            <a:avLst/>
          </a:prstGeom>
          <a:solidFill>
            <a:schemeClr val="accent6">
              <a:alpha val="55000"/>
            </a:schemeClr>
          </a:solidFill>
          <a:ln/>
        </p:spPr>
      </p:sp>
      <p:sp>
        <p:nvSpPr>
          <p:cNvPr id="14" name="fold 1 person 9"/>
          <p:cNvSpPr/>
          <p:nvPr/>
        </p:nvSpPr>
        <p:spPr>
          <a:xfrm>
            <a:off x="5166360" y="2350008"/>
            <a:ext cx="329184" cy="329184"/>
          </a:xfrm>
          <a:prstGeom prst="ellipse">
            <a:avLst/>
          </a:prstGeom>
          <a:solidFill>
            <a:schemeClr val="accent6">
              <a:alpha val="55000"/>
            </a:schemeClr>
          </a:solidFill>
          <a:ln/>
        </p:spPr>
      </p:sp>
      <p:sp>
        <p:nvSpPr>
          <p:cNvPr id="15" name="fold 1 person 10"/>
          <p:cNvSpPr/>
          <p:nvPr/>
        </p:nvSpPr>
        <p:spPr>
          <a:xfrm>
            <a:off x="5623560" y="2350008"/>
            <a:ext cx="329184" cy="329184"/>
          </a:xfrm>
          <a:prstGeom prst="ellipse">
            <a:avLst/>
          </a:prstGeom>
          <a:solidFill>
            <a:schemeClr val="accent6">
              <a:alpha val="55000"/>
            </a:schemeClr>
          </a:solidFill>
          <a:ln/>
        </p:spPr>
      </p:sp>
      <p:sp>
        <p:nvSpPr>
          <p:cNvPr id="16" name="fold label 2"/>
          <p:cNvSpPr txBox="1"/>
          <p:nvPr/>
        </p:nvSpPr>
        <p:spPr>
          <a:xfrm>
            <a:off x="548640" y="2990088"/>
            <a:ext cx="868680" cy="365760"/>
          </a:xfrm>
          <a:prstGeom prst="rect">
            <a:avLst/>
          </a:prstGeom>
          <a:noFill/>
          <a:ln/>
        </p:spPr>
        <p:txBody>
          <a:bodyPr wrap="square" lIns="0" tIns="0" rIns="0" bIns="0" rtlCol="0" anchor="ctr"/>
          <a:lstStyle/>
          <a:p>
            <a:pPr indent="0" marL="0">
              <a:buNone/>
            </a:pPr>
            <a:r>
              <a:rPr lang="en-US" sz="1400" dirty="0">
                <a:solidFill>
                  <a:schemeClr val="tx1"/>
                </a:solidFill>
              </a:rPr>
              <a:t>fold 2</a:t>
            </a:r>
            <a:endParaRPr lang="en-US" sz="1400" dirty="0"/>
          </a:p>
        </p:txBody>
      </p:sp>
      <p:sp>
        <p:nvSpPr>
          <p:cNvPr id="17" name="fold 2 person 1"/>
          <p:cNvSpPr/>
          <p:nvPr/>
        </p:nvSpPr>
        <p:spPr>
          <a:xfrm>
            <a:off x="1508760" y="3008376"/>
            <a:ext cx="329184" cy="329184"/>
          </a:xfrm>
          <a:prstGeom prst="ellipse">
            <a:avLst/>
          </a:prstGeom>
          <a:solidFill>
            <a:schemeClr val="accent6">
              <a:alpha val="55000"/>
            </a:schemeClr>
          </a:solidFill>
          <a:ln/>
        </p:spPr>
      </p:sp>
      <p:sp>
        <p:nvSpPr>
          <p:cNvPr id="18" name="fold 2 person 2"/>
          <p:cNvSpPr/>
          <p:nvPr/>
        </p:nvSpPr>
        <p:spPr>
          <a:xfrm>
            <a:off x="1965960" y="3008376"/>
            <a:ext cx="329184" cy="329184"/>
          </a:xfrm>
          <a:prstGeom prst="ellipse">
            <a:avLst/>
          </a:prstGeom>
          <a:solidFill>
            <a:schemeClr val="accent2"/>
          </a:solidFill>
          <a:ln/>
        </p:spPr>
      </p:sp>
      <p:sp>
        <p:nvSpPr>
          <p:cNvPr id="19" name="fold 2 person 3"/>
          <p:cNvSpPr/>
          <p:nvPr/>
        </p:nvSpPr>
        <p:spPr>
          <a:xfrm>
            <a:off x="2423160" y="3008376"/>
            <a:ext cx="329184" cy="329184"/>
          </a:xfrm>
          <a:prstGeom prst="ellipse">
            <a:avLst/>
          </a:prstGeom>
          <a:solidFill>
            <a:schemeClr val="accent6">
              <a:alpha val="55000"/>
            </a:schemeClr>
          </a:solidFill>
          <a:ln/>
        </p:spPr>
      </p:sp>
      <p:sp>
        <p:nvSpPr>
          <p:cNvPr id="20" name="fold 2 person 4"/>
          <p:cNvSpPr/>
          <p:nvPr/>
        </p:nvSpPr>
        <p:spPr>
          <a:xfrm>
            <a:off x="2880360" y="3008376"/>
            <a:ext cx="329184" cy="329184"/>
          </a:xfrm>
          <a:prstGeom prst="ellipse">
            <a:avLst/>
          </a:prstGeom>
          <a:solidFill>
            <a:schemeClr val="accent6">
              <a:alpha val="55000"/>
            </a:schemeClr>
          </a:solidFill>
          <a:ln/>
        </p:spPr>
      </p:sp>
      <p:sp>
        <p:nvSpPr>
          <p:cNvPr id="21" name="fold 2 person 5"/>
          <p:cNvSpPr/>
          <p:nvPr/>
        </p:nvSpPr>
        <p:spPr>
          <a:xfrm>
            <a:off x="3337560" y="3008376"/>
            <a:ext cx="329184" cy="329184"/>
          </a:xfrm>
          <a:prstGeom prst="ellipse">
            <a:avLst/>
          </a:prstGeom>
          <a:solidFill>
            <a:schemeClr val="accent6">
              <a:alpha val="55000"/>
            </a:schemeClr>
          </a:solidFill>
          <a:ln/>
        </p:spPr>
      </p:sp>
      <p:sp>
        <p:nvSpPr>
          <p:cNvPr id="22" name="fold 2 person 6"/>
          <p:cNvSpPr/>
          <p:nvPr/>
        </p:nvSpPr>
        <p:spPr>
          <a:xfrm>
            <a:off x="3794760" y="3008376"/>
            <a:ext cx="329184" cy="329184"/>
          </a:xfrm>
          <a:prstGeom prst="ellipse">
            <a:avLst/>
          </a:prstGeom>
          <a:solidFill>
            <a:schemeClr val="accent6">
              <a:alpha val="55000"/>
            </a:schemeClr>
          </a:solidFill>
          <a:ln/>
        </p:spPr>
      </p:sp>
      <p:sp>
        <p:nvSpPr>
          <p:cNvPr id="23" name="fold 2 person 7"/>
          <p:cNvSpPr/>
          <p:nvPr/>
        </p:nvSpPr>
        <p:spPr>
          <a:xfrm>
            <a:off x="4251960" y="3008376"/>
            <a:ext cx="329184" cy="329184"/>
          </a:xfrm>
          <a:prstGeom prst="ellipse">
            <a:avLst/>
          </a:prstGeom>
          <a:solidFill>
            <a:schemeClr val="accent6">
              <a:alpha val="55000"/>
            </a:schemeClr>
          </a:solidFill>
          <a:ln/>
        </p:spPr>
      </p:sp>
      <p:sp>
        <p:nvSpPr>
          <p:cNvPr id="24" name="fold 2 person 8"/>
          <p:cNvSpPr/>
          <p:nvPr/>
        </p:nvSpPr>
        <p:spPr>
          <a:xfrm>
            <a:off x="4709160" y="3008376"/>
            <a:ext cx="329184" cy="329184"/>
          </a:xfrm>
          <a:prstGeom prst="ellipse">
            <a:avLst/>
          </a:prstGeom>
          <a:solidFill>
            <a:schemeClr val="accent6">
              <a:alpha val="55000"/>
            </a:schemeClr>
          </a:solidFill>
          <a:ln/>
        </p:spPr>
      </p:sp>
      <p:sp>
        <p:nvSpPr>
          <p:cNvPr id="25" name="fold 2 person 9"/>
          <p:cNvSpPr/>
          <p:nvPr/>
        </p:nvSpPr>
        <p:spPr>
          <a:xfrm>
            <a:off x="5166360" y="3008376"/>
            <a:ext cx="329184" cy="329184"/>
          </a:xfrm>
          <a:prstGeom prst="ellipse">
            <a:avLst/>
          </a:prstGeom>
          <a:solidFill>
            <a:schemeClr val="accent6">
              <a:alpha val="55000"/>
            </a:schemeClr>
          </a:solidFill>
          <a:ln/>
        </p:spPr>
      </p:sp>
      <p:sp>
        <p:nvSpPr>
          <p:cNvPr id="26" name="fold 2 person 10"/>
          <p:cNvSpPr/>
          <p:nvPr/>
        </p:nvSpPr>
        <p:spPr>
          <a:xfrm>
            <a:off x="5623560" y="3008376"/>
            <a:ext cx="329184" cy="329184"/>
          </a:xfrm>
          <a:prstGeom prst="ellipse">
            <a:avLst/>
          </a:prstGeom>
          <a:solidFill>
            <a:schemeClr val="accent6">
              <a:alpha val="55000"/>
            </a:schemeClr>
          </a:solidFill>
          <a:ln/>
        </p:spPr>
      </p:sp>
      <p:sp>
        <p:nvSpPr>
          <p:cNvPr id="27" name="fold label 3"/>
          <p:cNvSpPr txBox="1"/>
          <p:nvPr/>
        </p:nvSpPr>
        <p:spPr>
          <a:xfrm>
            <a:off x="548640" y="3648456"/>
            <a:ext cx="868680" cy="365760"/>
          </a:xfrm>
          <a:prstGeom prst="rect">
            <a:avLst/>
          </a:prstGeom>
          <a:noFill/>
          <a:ln/>
        </p:spPr>
        <p:txBody>
          <a:bodyPr wrap="square" lIns="0" tIns="0" rIns="0" bIns="0" rtlCol="0" anchor="ctr"/>
          <a:lstStyle/>
          <a:p>
            <a:pPr indent="0" marL="0">
              <a:buNone/>
            </a:pPr>
            <a:r>
              <a:rPr lang="en-US" sz="1400" dirty="0">
                <a:solidFill>
                  <a:schemeClr val="tx1"/>
                </a:solidFill>
              </a:rPr>
              <a:t>fold 3</a:t>
            </a:r>
            <a:endParaRPr lang="en-US" sz="1400" dirty="0"/>
          </a:p>
        </p:txBody>
      </p:sp>
      <p:sp>
        <p:nvSpPr>
          <p:cNvPr id="28" name="fold 3 person 1"/>
          <p:cNvSpPr/>
          <p:nvPr/>
        </p:nvSpPr>
        <p:spPr>
          <a:xfrm>
            <a:off x="1508760" y="3666744"/>
            <a:ext cx="329184" cy="329184"/>
          </a:xfrm>
          <a:prstGeom prst="ellipse">
            <a:avLst/>
          </a:prstGeom>
          <a:solidFill>
            <a:schemeClr val="accent6">
              <a:alpha val="55000"/>
            </a:schemeClr>
          </a:solidFill>
          <a:ln/>
        </p:spPr>
      </p:sp>
      <p:sp>
        <p:nvSpPr>
          <p:cNvPr id="29" name="fold 3 person 2"/>
          <p:cNvSpPr/>
          <p:nvPr/>
        </p:nvSpPr>
        <p:spPr>
          <a:xfrm>
            <a:off x="1965960" y="3666744"/>
            <a:ext cx="329184" cy="329184"/>
          </a:xfrm>
          <a:prstGeom prst="ellipse">
            <a:avLst/>
          </a:prstGeom>
          <a:solidFill>
            <a:schemeClr val="accent6">
              <a:alpha val="55000"/>
            </a:schemeClr>
          </a:solidFill>
          <a:ln/>
        </p:spPr>
      </p:sp>
      <p:sp>
        <p:nvSpPr>
          <p:cNvPr id="30" name="fold 3 person 3"/>
          <p:cNvSpPr/>
          <p:nvPr/>
        </p:nvSpPr>
        <p:spPr>
          <a:xfrm>
            <a:off x="2423160" y="3666744"/>
            <a:ext cx="329184" cy="329184"/>
          </a:xfrm>
          <a:prstGeom prst="ellipse">
            <a:avLst/>
          </a:prstGeom>
          <a:solidFill>
            <a:schemeClr val="accent2"/>
          </a:solidFill>
          <a:ln/>
        </p:spPr>
      </p:sp>
      <p:sp>
        <p:nvSpPr>
          <p:cNvPr id="31" name="fold 3 person 4"/>
          <p:cNvSpPr/>
          <p:nvPr/>
        </p:nvSpPr>
        <p:spPr>
          <a:xfrm>
            <a:off x="2880360" y="3666744"/>
            <a:ext cx="329184" cy="329184"/>
          </a:xfrm>
          <a:prstGeom prst="ellipse">
            <a:avLst/>
          </a:prstGeom>
          <a:solidFill>
            <a:schemeClr val="accent6">
              <a:alpha val="55000"/>
            </a:schemeClr>
          </a:solidFill>
          <a:ln/>
        </p:spPr>
      </p:sp>
      <p:sp>
        <p:nvSpPr>
          <p:cNvPr id="32" name="fold 3 person 5"/>
          <p:cNvSpPr/>
          <p:nvPr/>
        </p:nvSpPr>
        <p:spPr>
          <a:xfrm>
            <a:off x="3337560" y="3666744"/>
            <a:ext cx="329184" cy="329184"/>
          </a:xfrm>
          <a:prstGeom prst="ellipse">
            <a:avLst/>
          </a:prstGeom>
          <a:solidFill>
            <a:schemeClr val="accent6">
              <a:alpha val="55000"/>
            </a:schemeClr>
          </a:solidFill>
          <a:ln/>
        </p:spPr>
      </p:sp>
      <p:sp>
        <p:nvSpPr>
          <p:cNvPr id="33" name="fold 3 person 6"/>
          <p:cNvSpPr/>
          <p:nvPr/>
        </p:nvSpPr>
        <p:spPr>
          <a:xfrm>
            <a:off x="3794760" y="3666744"/>
            <a:ext cx="329184" cy="329184"/>
          </a:xfrm>
          <a:prstGeom prst="ellipse">
            <a:avLst/>
          </a:prstGeom>
          <a:solidFill>
            <a:schemeClr val="accent6">
              <a:alpha val="55000"/>
            </a:schemeClr>
          </a:solidFill>
          <a:ln/>
        </p:spPr>
      </p:sp>
      <p:sp>
        <p:nvSpPr>
          <p:cNvPr id="34" name="fold 3 person 7"/>
          <p:cNvSpPr/>
          <p:nvPr/>
        </p:nvSpPr>
        <p:spPr>
          <a:xfrm>
            <a:off x="4251960" y="3666744"/>
            <a:ext cx="329184" cy="329184"/>
          </a:xfrm>
          <a:prstGeom prst="ellipse">
            <a:avLst/>
          </a:prstGeom>
          <a:solidFill>
            <a:schemeClr val="accent6">
              <a:alpha val="55000"/>
            </a:schemeClr>
          </a:solidFill>
          <a:ln/>
        </p:spPr>
      </p:sp>
      <p:sp>
        <p:nvSpPr>
          <p:cNvPr id="35" name="fold 3 person 8"/>
          <p:cNvSpPr/>
          <p:nvPr/>
        </p:nvSpPr>
        <p:spPr>
          <a:xfrm>
            <a:off x="4709160" y="3666744"/>
            <a:ext cx="329184" cy="329184"/>
          </a:xfrm>
          <a:prstGeom prst="ellipse">
            <a:avLst/>
          </a:prstGeom>
          <a:solidFill>
            <a:schemeClr val="accent6">
              <a:alpha val="55000"/>
            </a:schemeClr>
          </a:solidFill>
          <a:ln/>
        </p:spPr>
      </p:sp>
      <p:sp>
        <p:nvSpPr>
          <p:cNvPr id="36" name="fold 3 person 9"/>
          <p:cNvSpPr/>
          <p:nvPr/>
        </p:nvSpPr>
        <p:spPr>
          <a:xfrm>
            <a:off x="5166360" y="3666744"/>
            <a:ext cx="329184" cy="329184"/>
          </a:xfrm>
          <a:prstGeom prst="ellipse">
            <a:avLst/>
          </a:prstGeom>
          <a:solidFill>
            <a:schemeClr val="accent6">
              <a:alpha val="55000"/>
            </a:schemeClr>
          </a:solidFill>
          <a:ln/>
        </p:spPr>
      </p:sp>
      <p:sp>
        <p:nvSpPr>
          <p:cNvPr id="37" name="fold 3 person 10"/>
          <p:cNvSpPr/>
          <p:nvPr/>
        </p:nvSpPr>
        <p:spPr>
          <a:xfrm>
            <a:off x="5623560" y="3666744"/>
            <a:ext cx="329184" cy="329184"/>
          </a:xfrm>
          <a:prstGeom prst="ellipse">
            <a:avLst/>
          </a:prstGeom>
          <a:solidFill>
            <a:schemeClr val="accent6">
              <a:alpha val="55000"/>
            </a:schemeClr>
          </a:solidFill>
          <a:ln/>
        </p:spPr>
      </p:sp>
      <p:sp>
        <p:nvSpPr>
          <p:cNvPr id="38" name="fold label 10"/>
          <p:cNvSpPr txBox="1"/>
          <p:nvPr/>
        </p:nvSpPr>
        <p:spPr>
          <a:xfrm>
            <a:off x="548640" y="4626864"/>
            <a:ext cx="868680" cy="365760"/>
          </a:xfrm>
          <a:prstGeom prst="rect">
            <a:avLst/>
          </a:prstGeom>
          <a:noFill/>
          <a:ln/>
        </p:spPr>
        <p:txBody>
          <a:bodyPr wrap="square" lIns="0" tIns="0" rIns="0" bIns="0" rtlCol="0" anchor="ctr"/>
          <a:lstStyle/>
          <a:p>
            <a:pPr indent="0" marL="0">
              <a:buNone/>
            </a:pPr>
            <a:r>
              <a:rPr lang="en-US" sz="1400" dirty="0">
                <a:solidFill>
                  <a:schemeClr val="tx1"/>
                </a:solidFill>
              </a:rPr>
              <a:t>fold 10</a:t>
            </a:r>
            <a:endParaRPr lang="en-US" sz="1400" dirty="0"/>
          </a:p>
        </p:txBody>
      </p:sp>
      <p:sp>
        <p:nvSpPr>
          <p:cNvPr id="39" name="fold 10 person 1"/>
          <p:cNvSpPr/>
          <p:nvPr/>
        </p:nvSpPr>
        <p:spPr>
          <a:xfrm>
            <a:off x="1508760" y="4645152"/>
            <a:ext cx="329184" cy="329184"/>
          </a:xfrm>
          <a:prstGeom prst="ellipse">
            <a:avLst/>
          </a:prstGeom>
          <a:solidFill>
            <a:schemeClr val="accent6">
              <a:alpha val="55000"/>
            </a:schemeClr>
          </a:solidFill>
          <a:ln/>
        </p:spPr>
      </p:sp>
      <p:sp>
        <p:nvSpPr>
          <p:cNvPr id="40" name="fold 10 person 2"/>
          <p:cNvSpPr/>
          <p:nvPr/>
        </p:nvSpPr>
        <p:spPr>
          <a:xfrm>
            <a:off x="1965960" y="4645152"/>
            <a:ext cx="329184" cy="329184"/>
          </a:xfrm>
          <a:prstGeom prst="ellipse">
            <a:avLst/>
          </a:prstGeom>
          <a:solidFill>
            <a:schemeClr val="accent6">
              <a:alpha val="55000"/>
            </a:schemeClr>
          </a:solidFill>
          <a:ln/>
        </p:spPr>
      </p:sp>
      <p:sp>
        <p:nvSpPr>
          <p:cNvPr id="41" name="fold 10 person 3"/>
          <p:cNvSpPr/>
          <p:nvPr/>
        </p:nvSpPr>
        <p:spPr>
          <a:xfrm>
            <a:off x="2423160" y="4645152"/>
            <a:ext cx="329184" cy="329184"/>
          </a:xfrm>
          <a:prstGeom prst="ellipse">
            <a:avLst/>
          </a:prstGeom>
          <a:solidFill>
            <a:schemeClr val="accent6">
              <a:alpha val="55000"/>
            </a:schemeClr>
          </a:solidFill>
          <a:ln/>
        </p:spPr>
      </p:sp>
      <p:sp>
        <p:nvSpPr>
          <p:cNvPr id="42" name="fold 10 person 4"/>
          <p:cNvSpPr/>
          <p:nvPr/>
        </p:nvSpPr>
        <p:spPr>
          <a:xfrm>
            <a:off x="2880360" y="4645152"/>
            <a:ext cx="329184" cy="329184"/>
          </a:xfrm>
          <a:prstGeom prst="ellipse">
            <a:avLst/>
          </a:prstGeom>
          <a:solidFill>
            <a:schemeClr val="accent6">
              <a:alpha val="55000"/>
            </a:schemeClr>
          </a:solidFill>
          <a:ln/>
        </p:spPr>
      </p:sp>
      <p:sp>
        <p:nvSpPr>
          <p:cNvPr id="43" name="fold 10 person 5"/>
          <p:cNvSpPr/>
          <p:nvPr/>
        </p:nvSpPr>
        <p:spPr>
          <a:xfrm>
            <a:off x="3337560" y="4645152"/>
            <a:ext cx="329184" cy="329184"/>
          </a:xfrm>
          <a:prstGeom prst="ellipse">
            <a:avLst/>
          </a:prstGeom>
          <a:solidFill>
            <a:schemeClr val="accent6">
              <a:alpha val="55000"/>
            </a:schemeClr>
          </a:solidFill>
          <a:ln/>
        </p:spPr>
      </p:sp>
      <p:sp>
        <p:nvSpPr>
          <p:cNvPr id="44" name="fold 10 person 6"/>
          <p:cNvSpPr/>
          <p:nvPr/>
        </p:nvSpPr>
        <p:spPr>
          <a:xfrm>
            <a:off x="3794760" y="4645152"/>
            <a:ext cx="329184" cy="329184"/>
          </a:xfrm>
          <a:prstGeom prst="ellipse">
            <a:avLst/>
          </a:prstGeom>
          <a:solidFill>
            <a:schemeClr val="accent6">
              <a:alpha val="55000"/>
            </a:schemeClr>
          </a:solidFill>
          <a:ln/>
        </p:spPr>
      </p:sp>
      <p:sp>
        <p:nvSpPr>
          <p:cNvPr id="45" name="fold 10 person 7"/>
          <p:cNvSpPr/>
          <p:nvPr/>
        </p:nvSpPr>
        <p:spPr>
          <a:xfrm>
            <a:off x="4251960" y="4645152"/>
            <a:ext cx="329184" cy="329184"/>
          </a:xfrm>
          <a:prstGeom prst="ellipse">
            <a:avLst/>
          </a:prstGeom>
          <a:solidFill>
            <a:schemeClr val="accent6">
              <a:alpha val="55000"/>
            </a:schemeClr>
          </a:solidFill>
          <a:ln/>
        </p:spPr>
      </p:sp>
      <p:sp>
        <p:nvSpPr>
          <p:cNvPr id="46" name="fold 10 person 8"/>
          <p:cNvSpPr/>
          <p:nvPr/>
        </p:nvSpPr>
        <p:spPr>
          <a:xfrm>
            <a:off x="4709160" y="4645152"/>
            <a:ext cx="329184" cy="329184"/>
          </a:xfrm>
          <a:prstGeom prst="ellipse">
            <a:avLst/>
          </a:prstGeom>
          <a:solidFill>
            <a:schemeClr val="accent6">
              <a:alpha val="55000"/>
            </a:schemeClr>
          </a:solidFill>
          <a:ln/>
        </p:spPr>
      </p:sp>
      <p:sp>
        <p:nvSpPr>
          <p:cNvPr id="47" name="fold 10 person 9"/>
          <p:cNvSpPr/>
          <p:nvPr/>
        </p:nvSpPr>
        <p:spPr>
          <a:xfrm>
            <a:off x="5166360" y="4645152"/>
            <a:ext cx="329184" cy="329184"/>
          </a:xfrm>
          <a:prstGeom prst="ellipse">
            <a:avLst/>
          </a:prstGeom>
          <a:solidFill>
            <a:schemeClr val="accent6">
              <a:alpha val="55000"/>
            </a:schemeClr>
          </a:solidFill>
          <a:ln/>
        </p:spPr>
      </p:sp>
      <p:sp>
        <p:nvSpPr>
          <p:cNvPr id="48" name="fold 10 person 10"/>
          <p:cNvSpPr/>
          <p:nvPr/>
        </p:nvSpPr>
        <p:spPr>
          <a:xfrm>
            <a:off x="5623560" y="4645152"/>
            <a:ext cx="329184" cy="329184"/>
          </a:xfrm>
          <a:prstGeom prst="ellipse">
            <a:avLst/>
          </a:prstGeom>
          <a:solidFill>
            <a:schemeClr val="accent2"/>
          </a:solidFill>
          <a:ln/>
        </p:spPr>
      </p:sp>
      <p:sp>
        <p:nvSpPr>
          <p:cNvPr id="49" name="fold dots"/>
          <p:cNvSpPr txBox="1"/>
          <p:nvPr/>
        </p:nvSpPr>
        <p:spPr>
          <a:xfrm>
            <a:off x="3291840" y="4251960"/>
            <a:ext cx="548640" cy="320040"/>
          </a:xfrm>
          <a:prstGeom prst="rect">
            <a:avLst/>
          </a:prstGeom>
          <a:noFill/>
          <a:ln/>
        </p:spPr>
        <p:txBody>
          <a:bodyPr wrap="square" lIns="0" tIns="0" rIns="0" bIns="0" rtlCol="0" anchor="t"/>
          <a:lstStyle/>
          <a:p>
            <a:pPr algn="ctr" indent="0" marL="0">
              <a:buNone/>
            </a:pPr>
            <a:r>
              <a:rPr lang="en-US" sz="1800" dirty="0">
                <a:solidFill>
                  <a:schemeClr val="accent6"/>
                </a:solidFill>
              </a:rPr>
              <a:t>⋮</a:t>
            </a:r>
            <a:endParaRPr lang="en-US" sz="1800" dirty="0"/>
          </a:p>
        </p:txBody>
      </p:sp>
      <p:sp>
        <p:nvSpPr>
          <p:cNvPr id="50" name="legend train"/>
          <p:cNvSpPr/>
          <p:nvPr/>
        </p:nvSpPr>
        <p:spPr>
          <a:xfrm>
            <a:off x="594360" y="5440680"/>
            <a:ext cx="274320" cy="274320"/>
          </a:xfrm>
          <a:prstGeom prst="ellipse">
            <a:avLst/>
          </a:prstGeom>
          <a:solidFill>
            <a:schemeClr val="accent6">
              <a:alpha val="55000"/>
            </a:schemeClr>
          </a:solidFill>
          <a:ln/>
        </p:spPr>
      </p:sp>
      <p:sp>
        <p:nvSpPr>
          <p:cNvPr id="51" name="legend train text"/>
          <p:cNvSpPr txBox="1"/>
          <p:nvPr/>
        </p:nvSpPr>
        <p:spPr>
          <a:xfrm>
            <a:off x="960120" y="5413248"/>
            <a:ext cx="1920240" cy="329184"/>
          </a:xfrm>
          <a:prstGeom prst="rect">
            <a:avLst/>
          </a:prstGeom>
          <a:noFill/>
          <a:ln/>
        </p:spPr>
        <p:txBody>
          <a:bodyPr wrap="square" lIns="0" tIns="0" rIns="0" bIns="0" rtlCol="0" anchor="ctr"/>
          <a:lstStyle/>
          <a:p>
            <a:pPr indent="0" marL="0">
              <a:buNone/>
            </a:pPr>
            <a:r>
              <a:rPr lang="en-US" sz="1400" dirty="0">
                <a:solidFill>
                  <a:schemeClr val="tx1"/>
                </a:solidFill>
              </a:rPr>
              <a:t>train on 9 people</a:t>
            </a:r>
            <a:endParaRPr lang="en-US" sz="1400" dirty="0"/>
          </a:p>
        </p:txBody>
      </p:sp>
      <p:sp>
        <p:nvSpPr>
          <p:cNvPr id="52" name="legend test"/>
          <p:cNvSpPr/>
          <p:nvPr/>
        </p:nvSpPr>
        <p:spPr>
          <a:xfrm>
            <a:off x="3017520" y="5440680"/>
            <a:ext cx="274320" cy="274320"/>
          </a:xfrm>
          <a:prstGeom prst="ellipse">
            <a:avLst/>
          </a:prstGeom>
          <a:solidFill>
            <a:schemeClr val="accent2"/>
          </a:solidFill>
          <a:ln/>
        </p:spPr>
      </p:sp>
      <p:sp>
        <p:nvSpPr>
          <p:cNvPr id="53" name="legend test text"/>
          <p:cNvSpPr txBox="1"/>
          <p:nvPr/>
        </p:nvSpPr>
        <p:spPr>
          <a:xfrm>
            <a:off x="3383280" y="5413248"/>
            <a:ext cx="2011680" cy="329184"/>
          </a:xfrm>
          <a:prstGeom prst="rect">
            <a:avLst/>
          </a:prstGeom>
          <a:noFill/>
          <a:ln/>
        </p:spPr>
        <p:txBody>
          <a:bodyPr wrap="square" lIns="0" tIns="0" rIns="0" bIns="0" rtlCol="0" anchor="ctr"/>
          <a:lstStyle/>
          <a:p>
            <a:pPr indent="0" marL="0">
              <a:buNone/>
            </a:pPr>
            <a:r>
              <a:rPr lang="en-US" sz="1400" dirty="0">
                <a:solidFill>
                  <a:schemeClr val="tx1"/>
                </a:solidFill>
              </a:rPr>
              <a:t>test on the 10th</a:t>
            </a:r>
            <a:endParaRPr lang="en-US" sz="1400" dirty="0"/>
          </a:p>
        </p:txBody>
      </p:sp>
      <p:sp>
        <p:nvSpPr>
          <p:cNvPr id="54" name="lopo rule"/>
          <p:cNvSpPr txBox="1"/>
          <p:nvPr/>
        </p:nvSpPr>
        <p:spPr>
          <a:xfrm>
            <a:off x="548640" y="5806440"/>
            <a:ext cx="5669280" cy="411480"/>
          </a:xfrm>
          <a:prstGeom prst="rect">
            <a:avLst/>
          </a:prstGeom>
          <a:noFill/>
          <a:ln/>
        </p:spPr>
        <p:txBody>
          <a:bodyPr wrap="square" lIns="0" tIns="0" rIns="0" bIns="0" rtlCol="0" anchor="t"/>
          <a:lstStyle/>
          <a:p>
            <a:pPr indent="0" marL="0">
              <a:buNone/>
            </a:pPr>
            <a:r>
              <a:rPr lang="en-US" sz="1400" dirty="0">
                <a:solidFill>
                  <a:schemeClr val="tx1"/>
                </a:solidFill>
              </a:rPr>
              <a:t>Every fitted step (imputation, scaling, feature selection, model) uses the training people only.</a:t>
            </a:r>
            <a:endParaRPr lang="en-US" sz="1400" dirty="0"/>
          </a:p>
        </p:txBody>
      </p:sp>
      <p:sp>
        <p:nvSpPr>
          <p:cNvPr id="55" name="metrics card"/>
          <p:cNvSpPr/>
          <p:nvPr/>
        </p:nvSpPr>
        <p:spPr>
          <a:xfrm>
            <a:off x="6492240" y="1691640"/>
            <a:ext cx="5148072" cy="4480560"/>
          </a:xfrm>
          <a:prstGeom prst="roundRect">
            <a:avLst>
              <a:gd name="adj" fmla="val 2041"/>
            </a:avLst>
          </a:prstGeom>
          <a:solidFill>
            <a:schemeClr val="bg2"/>
          </a:solidFill>
          <a:ln/>
        </p:spPr>
      </p:sp>
      <p:sp>
        <p:nvSpPr>
          <p:cNvPr id="56" name="metric 1 circle"/>
          <p:cNvSpPr/>
          <p:nvPr/>
        </p:nvSpPr>
        <p:spPr>
          <a:xfrm>
            <a:off x="6720840" y="1920240"/>
            <a:ext cx="502920" cy="502920"/>
          </a:xfrm>
          <a:prstGeom prst="ellipse">
            <a:avLst/>
          </a:prstGeom>
          <a:solidFill>
            <a:schemeClr val="accent1"/>
          </a:solidFill>
          <a:ln/>
        </p:spPr>
      </p:sp>
      <p:pic>
        <p:nvPicPr>
          <p:cNvPr id="57" name="metric 1 icon" descr="preencoded.png">    </p:cNvPr>
          <p:cNvPicPr>
            <a:picLocks noChangeAspect="1"/>
          </p:cNvPicPr>
          <p:nvPr/>
        </p:nvPicPr>
        <p:blipFill>
          <a:blip r:embed="rId1"/>
          <a:stretch>
            <a:fillRect/>
          </a:stretch>
        </p:blipFill>
        <p:spPr>
          <a:xfrm>
            <a:off x="6841541" y="2040941"/>
            <a:ext cx="261518" cy="261518"/>
          </a:xfrm>
          <a:prstGeom prst="rect">
            <a:avLst/>
          </a:prstGeom>
        </p:spPr>
      </p:pic>
      <p:sp>
        <p:nvSpPr>
          <p:cNvPr id="58" name="metric text 1"/>
          <p:cNvSpPr txBox="1"/>
          <p:nvPr/>
        </p:nvSpPr>
        <p:spPr>
          <a:xfrm>
            <a:off x="7406640" y="1874520"/>
            <a:ext cx="4023360"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Balanced accuracy</a:t>
            </a:r>
            <a:endParaRPr lang="en-US" sz="1600" dirty="0"/>
          </a:p>
          <a:p>
            <a:pPr indent="0" marL="0">
              <a:spcAft>
                <a:spcPts val="200"/>
              </a:spcAft>
              <a:buNone/>
            </a:pPr>
            <a:r>
              <a:rPr lang="en-US" sz="1400" dirty="0">
                <a:solidFill>
                  <a:schemeClr val="tx1"/>
                </a:solidFill>
              </a:rPr>
              <a:t>mean of the per-class hit rates; chance 33 % (height), 50 % (width)</a:t>
            </a:r>
            <a:endParaRPr lang="en-US" sz="1600" dirty="0"/>
          </a:p>
        </p:txBody>
      </p:sp>
      <p:sp>
        <p:nvSpPr>
          <p:cNvPr id="59" name="metric 2 circle"/>
          <p:cNvSpPr/>
          <p:nvPr/>
        </p:nvSpPr>
        <p:spPr>
          <a:xfrm>
            <a:off x="6720840" y="2971800"/>
            <a:ext cx="502920" cy="502920"/>
          </a:xfrm>
          <a:prstGeom prst="ellipse">
            <a:avLst/>
          </a:prstGeom>
          <a:solidFill>
            <a:schemeClr val="accent1"/>
          </a:solidFill>
          <a:ln/>
        </p:spPr>
      </p:sp>
      <p:pic>
        <p:nvPicPr>
          <p:cNvPr id="60" name="metric 2 icon" descr="preencoded.png">    </p:cNvPr>
          <p:cNvPicPr>
            <a:picLocks noChangeAspect="1"/>
          </p:cNvPicPr>
          <p:nvPr/>
        </p:nvPicPr>
        <p:blipFill>
          <a:blip r:embed="rId2"/>
          <a:stretch>
            <a:fillRect/>
          </a:stretch>
        </p:blipFill>
        <p:spPr>
          <a:xfrm>
            <a:off x="6841541" y="3092501"/>
            <a:ext cx="261518" cy="261518"/>
          </a:xfrm>
          <a:prstGeom prst="rect">
            <a:avLst/>
          </a:prstGeom>
        </p:spPr>
      </p:pic>
      <p:sp>
        <p:nvSpPr>
          <p:cNvPr id="61" name="metric text 2"/>
          <p:cNvSpPr txBox="1"/>
          <p:nvPr/>
        </p:nvSpPr>
        <p:spPr>
          <a:xfrm>
            <a:off x="7406640" y="2926080"/>
            <a:ext cx="4023360"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95 % confidence interval</a:t>
            </a:r>
            <a:endParaRPr lang="en-US" sz="1600" dirty="0"/>
          </a:p>
          <a:p>
            <a:pPr indent="0" marL="0">
              <a:spcAft>
                <a:spcPts val="200"/>
              </a:spcAft>
              <a:buNone/>
            </a:pPr>
            <a:r>
              <a:rPr lang="en-US" sz="1400" dirty="0">
                <a:solidFill>
                  <a:schemeClr val="tx1"/>
                </a:solidFill>
              </a:rPr>
              <a:t>the 10 participants resampled with replacement, 2000 times</a:t>
            </a:r>
            <a:endParaRPr lang="en-US" sz="1600" dirty="0"/>
          </a:p>
        </p:txBody>
      </p:sp>
      <p:sp>
        <p:nvSpPr>
          <p:cNvPr id="62" name="metric 3 circle"/>
          <p:cNvSpPr/>
          <p:nvPr/>
        </p:nvSpPr>
        <p:spPr>
          <a:xfrm>
            <a:off x="6720840" y="4023360"/>
            <a:ext cx="502920" cy="502920"/>
          </a:xfrm>
          <a:prstGeom prst="ellipse">
            <a:avLst/>
          </a:prstGeom>
          <a:solidFill>
            <a:schemeClr val="accent1"/>
          </a:solidFill>
          <a:ln/>
        </p:spPr>
      </p:sp>
      <p:pic>
        <p:nvPicPr>
          <p:cNvPr id="63" name="metric 3 icon" descr="preencoded.png">    </p:cNvPr>
          <p:cNvPicPr>
            <a:picLocks noChangeAspect="1"/>
          </p:cNvPicPr>
          <p:nvPr/>
        </p:nvPicPr>
        <p:blipFill>
          <a:blip r:embed="rId3"/>
          <a:stretch>
            <a:fillRect/>
          </a:stretch>
        </p:blipFill>
        <p:spPr>
          <a:xfrm>
            <a:off x="6841541" y="4144061"/>
            <a:ext cx="261518" cy="261518"/>
          </a:xfrm>
          <a:prstGeom prst="rect">
            <a:avLst/>
          </a:prstGeom>
        </p:spPr>
      </p:pic>
      <p:sp>
        <p:nvSpPr>
          <p:cNvPr id="64" name="metric text 3"/>
          <p:cNvSpPr txBox="1"/>
          <p:nvPr/>
        </p:nvSpPr>
        <p:spPr>
          <a:xfrm>
            <a:off x="7406640" y="3977640"/>
            <a:ext cx="4023360"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Permutation test</a:t>
            </a:r>
            <a:endParaRPr lang="en-US" sz="1600" dirty="0"/>
          </a:p>
          <a:p>
            <a:pPr indent="0" marL="0">
              <a:spcAft>
                <a:spcPts val="200"/>
              </a:spcAft>
              <a:buNone/>
            </a:pPr>
            <a:r>
              <a:rPr lang="en-US" sz="1400" dirty="0">
                <a:solidFill>
                  <a:schemeClr val="tx1"/>
                </a:solidFill>
              </a:rPr>
              <a:t>labels shuffled within each person: is the result above chance?</a:t>
            </a:r>
            <a:endParaRPr lang="en-US" sz="1600" dirty="0"/>
          </a:p>
        </p:txBody>
      </p:sp>
      <p:sp>
        <p:nvSpPr>
          <p:cNvPr id="65" name="metric 4 circle"/>
          <p:cNvSpPr/>
          <p:nvPr/>
        </p:nvSpPr>
        <p:spPr>
          <a:xfrm>
            <a:off x="6720840" y="5074920"/>
            <a:ext cx="502920" cy="502920"/>
          </a:xfrm>
          <a:prstGeom prst="ellipse">
            <a:avLst/>
          </a:prstGeom>
          <a:solidFill>
            <a:schemeClr val="accent1"/>
          </a:solidFill>
          <a:ln/>
        </p:spPr>
      </p:sp>
      <p:pic>
        <p:nvPicPr>
          <p:cNvPr id="66" name="metric 4 icon" descr="preencoded.png">    </p:cNvPr>
          <p:cNvPicPr>
            <a:picLocks noChangeAspect="1"/>
          </p:cNvPicPr>
          <p:nvPr/>
        </p:nvPicPr>
        <p:blipFill>
          <a:blip r:embed="rId4"/>
          <a:stretch>
            <a:fillRect/>
          </a:stretch>
        </p:blipFill>
        <p:spPr>
          <a:xfrm>
            <a:off x="6841541" y="5195621"/>
            <a:ext cx="261518" cy="261518"/>
          </a:xfrm>
          <a:prstGeom prst="rect">
            <a:avLst/>
          </a:prstGeom>
        </p:spPr>
      </p:pic>
      <p:sp>
        <p:nvSpPr>
          <p:cNvPr id="67" name="metric text 4"/>
          <p:cNvSpPr txBox="1"/>
          <p:nvPr/>
        </p:nvSpPr>
        <p:spPr>
          <a:xfrm>
            <a:off x="7406640" y="5029200"/>
            <a:ext cx="4023360"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Nested selection</a:t>
            </a:r>
            <a:endParaRPr lang="en-US" sz="1600" dirty="0"/>
          </a:p>
          <a:p>
            <a:pPr indent="0" marL="0">
              <a:spcAft>
                <a:spcPts val="200"/>
              </a:spcAft>
              <a:buNone/>
            </a:pPr>
            <a:r>
              <a:rPr lang="en-US" sz="1400" dirty="0">
                <a:solidFill>
                  <a:schemeClr val="tx1"/>
                </a:solidFill>
              </a:rPr>
              <a:t>when settings are compared, the best is chosen inside each training set</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Two ways to reference the features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Scaling to the person's own crossings is the key step, and it needs no labels.</a:t>
            </a:r>
            <a:endParaRPr lang="en-US" sz="1700" dirty="0"/>
          </a:p>
        </p:txBody>
      </p:sp>
      <p:sp>
        <p:nvSpPr>
          <p:cNvPr id="4" name="scaling card 1"/>
          <p:cNvSpPr/>
          <p:nvPr/>
        </p:nvSpPr>
        <p:spPr>
          <a:xfrm>
            <a:off x="548640" y="1691640"/>
            <a:ext cx="5394960" cy="3154680"/>
          </a:xfrm>
          <a:prstGeom prst="roundRect">
            <a:avLst>
              <a:gd name="adj" fmla="val 2899"/>
            </a:avLst>
          </a:prstGeom>
          <a:solidFill>
            <a:schemeClr val="bg2"/>
          </a:solidFill>
          <a:ln/>
        </p:spPr>
      </p:sp>
      <p:sp>
        <p:nvSpPr>
          <p:cNvPr id="5" name="scaling 1 circle"/>
          <p:cNvSpPr/>
          <p:nvPr/>
        </p:nvSpPr>
        <p:spPr>
          <a:xfrm>
            <a:off x="822960" y="1920240"/>
            <a:ext cx="685800" cy="685800"/>
          </a:xfrm>
          <a:prstGeom prst="ellipse">
            <a:avLst/>
          </a:prstGeom>
          <a:solidFill>
            <a:schemeClr val="accent6"/>
          </a:solidFill>
          <a:ln/>
        </p:spPr>
      </p:sp>
      <p:pic>
        <p:nvPicPr>
          <p:cNvPr id="6" name="scaling 1 icon" descr="preencoded.png">    </p:cNvPr>
          <p:cNvPicPr>
            <a:picLocks noChangeAspect="1"/>
          </p:cNvPicPr>
          <p:nvPr/>
        </p:nvPicPr>
        <p:blipFill>
          <a:blip r:embed="rId1"/>
          <a:stretch>
            <a:fillRect/>
          </a:stretch>
        </p:blipFill>
        <p:spPr>
          <a:xfrm>
            <a:off x="987552" y="2084832"/>
            <a:ext cx="356616" cy="356616"/>
          </a:xfrm>
          <a:prstGeom prst="rect">
            <a:avLst/>
          </a:prstGeom>
        </p:spPr>
      </p:pic>
      <p:sp>
        <p:nvSpPr>
          <p:cNvPr id="7" name="scaling head 1"/>
          <p:cNvSpPr txBox="1"/>
          <p:nvPr/>
        </p:nvSpPr>
        <p:spPr>
          <a:xfrm>
            <a:off x="1691640" y="1920240"/>
            <a:ext cx="4023360" cy="685800"/>
          </a:xfrm>
          <a:prstGeom prst="rect">
            <a:avLst/>
          </a:prstGeom>
          <a:noFill/>
          <a:ln/>
        </p:spPr>
        <p:txBody>
          <a:bodyPr wrap="square" lIns="0" tIns="0" rIns="0" bIns="0" rtlCol="0" anchor="ctr"/>
          <a:lstStyle/>
          <a:p>
            <a:pPr indent="0" marL="0">
              <a:buNone/>
            </a:pPr>
            <a:r>
              <a:rPr lang="en-US" sz="2200" b="1" dirty="0">
                <a:solidFill>
                  <a:schemeClr val="accent6"/>
                </a:solidFill>
              </a:rPr>
              <a:t>Generic model</a:t>
            </a:r>
            <a:endParaRPr lang="en-US" sz="2200" dirty="0"/>
          </a:p>
        </p:txBody>
      </p:sp>
      <p:sp>
        <p:nvSpPr>
          <p:cNvPr id="8" name="formula box 1"/>
          <p:cNvSpPr/>
          <p:nvPr/>
        </p:nvSpPr>
        <p:spPr>
          <a:xfrm>
            <a:off x="822960" y="2834640"/>
            <a:ext cx="4846320" cy="685800"/>
          </a:xfrm>
          <a:prstGeom prst="roundRect">
            <a:avLst>
              <a:gd name="adj" fmla="val 13333"/>
            </a:avLst>
          </a:prstGeom>
          <a:solidFill>
            <a:schemeClr val="bg1"/>
          </a:solidFill>
          <a:ln/>
        </p:spPr>
      </p:sp>
      <p:sp>
        <p:nvSpPr>
          <p:cNvPr id="9" name="formula 1"/>
          <p:cNvSpPr txBox="1"/>
          <p:nvPr/>
        </p:nvSpPr>
        <p:spPr>
          <a:xfrm>
            <a:off x="960120" y="2834640"/>
            <a:ext cx="4572000" cy="685800"/>
          </a:xfrm>
          <a:prstGeom prst="rect">
            <a:avLst/>
          </a:prstGeom>
          <a:noFill/>
          <a:ln/>
        </p:spPr>
        <p:txBody>
          <a:bodyPr wrap="square" lIns="0" tIns="0" rIns="0" bIns="0" rtlCol="0" anchor="ctr"/>
          <a:lstStyle/>
          <a:p>
            <a:pPr indent="0" marL="0">
              <a:buNone/>
            </a:pPr>
            <a:r>
              <a:rPr lang="en-US" sz="1500" b="1" dirty="0">
                <a:solidFill>
                  <a:schemeClr val="tx2"/>
                </a:solidFill>
              </a:rPr>
              <a:t>x − median of the person's level walk;  lengths ÷ leg length</a:t>
            </a:r>
            <a:endParaRPr lang="en-US" sz="1500" dirty="0"/>
          </a:p>
        </p:txBody>
      </p:sp>
      <p:sp>
        <p:nvSpPr>
          <p:cNvPr id="10" name="scaling body 1"/>
          <p:cNvSpPr txBox="1"/>
          <p:nvPr/>
        </p:nvSpPr>
        <p:spPr>
          <a:xfrm>
            <a:off x="822960" y="3703320"/>
            <a:ext cx="4846320" cy="1005840"/>
          </a:xfrm>
          <a:prstGeom prst="rect">
            <a:avLst/>
          </a:prstGeom>
          <a:noFill/>
          <a:ln/>
        </p:spPr>
        <p:txBody>
          <a:bodyPr wrap="square" lIns="0" tIns="0" rIns="0" bIns="0" rtlCol="0" anchor="t"/>
          <a:lstStyle/>
          <a:p>
            <a:pPr indent="0" marL="0">
              <a:buNone/>
            </a:pPr>
            <a:r>
              <a:rPr lang="en-US" sz="1400" dirty="0">
                <a:solidFill>
                  <a:schemeClr val="tx1"/>
                </a:solidFill>
              </a:rPr>
              <a:t>Needs only a short normal walk. Keeps each person's personal obstacle margin, so neighbouring heights are confused.</a:t>
            </a:r>
            <a:endParaRPr lang="en-US" sz="1400" dirty="0"/>
          </a:p>
        </p:txBody>
      </p:sp>
      <p:sp>
        <p:nvSpPr>
          <p:cNvPr id="11" name="scaling card 2"/>
          <p:cNvSpPr/>
          <p:nvPr/>
        </p:nvSpPr>
        <p:spPr>
          <a:xfrm>
            <a:off x="6245352" y="1691640"/>
            <a:ext cx="5394960" cy="3154680"/>
          </a:xfrm>
          <a:prstGeom prst="roundRect">
            <a:avLst>
              <a:gd name="adj" fmla="val 2899"/>
            </a:avLst>
          </a:prstGeom>
          <a:solidFill>
            <a:schemeClr val="bg2"/>
          </a:solidFill>
          <a:ln/>
        </p:spPr>
      </p:sp>
      <p:sp>
        <p:nvSpPr>
          <p:cNvPr id="12" name="scaling 2 circle"/>
          <p:cNvSpPr/>
          <p:nvPr/>
        </p:nvSpPr>
        <p:spPr>
          <a:xfrm>
            <a:off x="6519672" y="1920240"/>
            <a:ext cx="685800" cy="685800"/>
          </a:xfrm>
          <a:prstGeom prst="ellipse">
            <a:avLst/>
          </a:prstGeom>
          <a:solidFill>
            <a:schemeClr val="accent4"/>
          </a:solidFill>
          <a:ln/>
        </p:spPr>
      </p:sp>
      <p:pic>
        <p:nvPicPr>
          <p:cNvPr id="13" name="scaling 2 icon" descr="preencoded.png">    </p:cNvPr>
          <p:cNvPicPr>
            <a:picLocks noChangeAspect="1"/>
          </p:cNvPicPr>
          <p:nvPr/>
        </p:nvPicPr>
        <p:blipFill>
          <a:blip r:embed="rId2"/>
          <a:stretch>
            <a:fillRect/>
          </a:stretch>
        </p:blipFill>
        <p:spPr>
          <a:xfrm>
            <a:off x="6684264" y="2084832"/>
            <a:ext cx="356616" cy="356616"/>
          </a:xfrm>
          <a:prstGeom prst="rect">
            <a:avLst/>
          </a:prstGeom>
        </p:spPr>
      </p:pic>
      <p:sp>
        <p:nvSpPr>
          <p:cNvPr id="14" name="scaling head 2"/>
          <p:cNvSpPr txBox="1"/>
          <p:nvPr/>
        </p:nvSpPr>
        <p:spPr>
          <a:xfrm>
            <a:off x="7388352" y="1920240"/>
            <a:ext cx="4023360" cy="685800"/>
          </a:xfrm>
          <a:prstGeom prst="rect">
            <a:avLst/>
          </a:prstGeom>
          <a:noFill/>
          <a:ln/>
        </p:spPr>
        <p:txBody>
          <a:bodyPr wrap="square" lIns="0" tIns="0" rIns="0" bIns="0" rtlCol="0" anchor="ctr"/>
          <a:lstStyle/>
          <a:p>
            <a:pPr indent="0" marL="0">
              <a:buNone/>
            </a:pPr>
            <a:r>
              <a:rPr lang="en-US" sz="2200" b="1" dirty="0">
                <a:solidFill>
                  <a:schemeClr val="accent4"/>
                </a:solidFill>
              </a:rPr>
              <a:t>Person scaling</a:t>
            </a:r>
            <a:endParaRPr lang="en-US" sz="2200" dirty="0"/>
          </a:p>
        </p:txBody>
      </p:sp>
      <p:sp>
        <p:nvSpPr>
          <p:cNvPr id="15" name="formula box 2"/>
          <p:cNvSpPr/>
          <p:nvPr/>
        </p:nvSpPr>
        <p:spPr>
          <a:xfrm>
            <a:off x="6519672" y="2834640"/>
            <a:ext cx="4846320" cy="685800"/>
          </a:xfrm>
          <a:prstGeom prst="roundRect">
            <a:avLst>
              <a:gd name="adj" fmla="val 13333"/>
            </a:avLst>
          </a:prstGeom>
          <a:solidFill>
            <a:schemeClr val="bg1"/>
          </a:solidFill>
          <a:ln/>
        </p:spPr>
      </p:sp>
      <p:sp>
        <p:nvSpPr>
          <p:cNvPr id="16" name="formula 2"/>
          <p:cNvSpPr txBox="1"/>
          <p:nvPr/>
        </p:nvSpPr>
        <p:spPr>
          <a:xfrm>
            <a:off x="6656832" y="2834640"/>
            <a:ext cx="4572000" cy="685800"/>
          </a:xfrm>
          <a:prstGeom prst="rect">
            <a:avLst/>
          </a:prstGeom>
          <a:noFill/>
          <a:ln/>
        </p:spPr>
        <p:txBody>
          <a:bodyPr wrap="square" lIns="0" tIns="0" rIns="0" bIns="0" rtlCol="0" anchor="ctr"/>
          <a:lstStyle/>
          <a:p>
            <a:pPr indent="0" marL="0">
              <a:buNone/>
            </a:pPr>
            <a:r>
              <a:rPr lang="en-US" sz="1500" b="1" dirty="0">
                <a:solidFill>
                  <a:schemeClr val="tx2"/>
                </a:solidFill>
              </a:rPr>
              <a:t>(x − median of own crossings) ÷ IQR of own crossings</a:t>
            </a:r>
            <a:endParaRPr lang="en-US" sz="1500" dirty="0"/>
          </a:p>
        </p:txBody>
      </p:sp>
      <p:sp>
        <p:nvSpPr>
          <p:cNvPr id="17" name="scaling body 2"/>
          <p:cNvSpPr txBox="1"/>
          <p:nvPr/>
        </p:nvSpPr>
        <p:spPr>
          <a:xfrm>
            <a:off x="6519672" y="3703320"/>
            <a:ext cx="4846320" cy="1005840"/>
          </a:xfrm>
          <a:prstGeom prst="rect">
            <a:avLst/>
          </a:prstGeom>
          <a:noFill/>
          <a:ln/>
        </p:spPr>
        <p:txBody>
          <a:bodyPr wrap="square" lIns="0" tIns="0" rIns="0" bIns="0" rtlCol="0" anchor="t"/>
          <a:lstStyle/>
          <a:p>
            <a:pPr indent="0" marL="0">
              <a:buNone/>
            </a:pPr>
            <a:r>
              <a:rPr lang="en-US" sz="1400" dirty="0">
                <a:solidFill>
                  <a:schemeClr val="tx1"/>
                </a:solidFill>
              </a:rPr>
              <a:t>Uses the person's crossings without their labels: exactly what a worn device collects. Removes the personal margin.</a:t>
            </a:r>
            <a:endParaRPr lang="en-US" sz="1400" dirty="0"/>
          </a:p>
        </p:txBody>
      </p:sp>
      <p:sp>
        <p:nvSpPr>
          <p:cNvPr id="18" name="result band"/>
          <p:cNvSpPr/>
          <p:nvPr/>
        </p:nvSpPr>
        <p:spPr>
          <a:xfrm>
            <a:off x="548640" y="5074920"/>
            <a:ext cx="11091672" cy="1097280"/>
          </a:xfrm>
          <a:prstGeom prst="roundRect">
            <a:avLst>
              <a:gd name="adj" fmla="val 8333"/>
            </a:avLst>
          </a:prstGeom>
          <a:solidFill>
            <a:schemeClr val="accent4">
              <a:alpha val="10000"/>
            </a:schemeClr>
          </a:solidFill>
          <a:ln/>
        </p:spPr>
      </p:sp>
      <p:sp>
        <p:nvSpPr>
          <p:cNvPr id="19" name="generic value"/>
          <p:cNvSpPr txBox="1"/>
          <p:nvPr/>
        </p:nvSpPr>
        <p:spPr>
          <a:xfrm>
            <a:off x="914400" y="5120640"/>
            <a:ext cx="2194560" cy="1005840"/>
          </a:xfrm>
          <a:prstGeom prst="rect">
            <a:avLst/>
          </a:prstGeom>
          <a:noFill/>
          <a:ln/>
        </p:spPr>
        <p:txBody>
          <a:bodyPr wrap="square" lIns="0" tIns="0" rIns="0" bIns="0" rtlCol="0" anchor="ctr"/>
          <a:lstStyle/>
          <a:p>
            <a:pPr algn="ctr" indent="0" marL="0">
              <a:buNone/>
            </a:pPr>
            <a:r>
              <a:rPr lang="en-US" sz="3200" b="1" dirty="0">
                <a:solidFill>
                  <a:schemeClr val="accent6"/>
                </a:solidFill>
              </a:rPr>
              <a:t>56–62 %</a:t>
            </a:r>
            <a:endParaRPr lang="en-US" sz="3200" dirty="0"/>
          </a:p>
        </p:txBody>
      </p:sp>
      <p:sp>
        <p:nvSpPr>
          <p:cNvPr id="20" name="scaling arrow"/>
          <p:cNvSpPr/>
          <p:nvPr/>
        </p:nvSpPr>
        <p:spPr>
          <a:xfrm>
            <a:off x="3246120" y="5440680"/>
            <a:ext cx="822960" cy="365760"/>
          </a:xfrm>
          <a:prstGeom prst="rightArrow">
            <a:avLst/>
          </a:prstGeom>
          <a:solidFill>
            <a:schemeClr val="accent6"/>
          </a:solidFill>
          <a:ln/>
        </p:spPr>
      </p:sp>
      <p:sp>
        <p:nvSpPr>
          <p:cNvPr id="21" name="person value"/>
          <p:cNvSpPr txBox="1"/>
          <p:nvPr/>
        </p:nvSpPr>
        <p:spPr>
          <a:xfrm>
            <a:off x="4206240" y="5120640"/>
            <a:ext cx="1737360" cy="1005840"/>
          </a:xfrm>
          <a:prstGeom prst="rect">
            <a:avLst/>
          </a:prstGeom>
          <a:noFill/>
          <a:ln/>
        </p:spPr>
        <p:txBody>
          <a:bodyPr wrap="square" lIns="0" tIns="0" rIns="0" bIns="0" rtlCol="0" anchor="ctr"/>
          <a:lstStyle/>
          <a:p>
            <a:pPr algn="ctr" indent="0" marL="0">
              <a:buNone/>
            </a:pPr>
            <a:r>
              <a:rPr lang="en-US" sz="3200" b="1" dirty="0">
                <a:solidFill>
                  <a:schemeClr val="accent4"/>
                </a:solidFill>
              </a:rPr>
              <a:t>90 %</a:t>
            </a:r>
            <a:endParaRPr lang="en-US" sz="3200" dirty="0"/>
          </a:p>
        </p:txBody>
      </p:sp>
      <p:sp>
        <p:nvSpPr>
          <p:cNvPr id="22" name="scaling result text"/>
          <p:cNvSpPr txBox="1"/>
          <p:nvPr/>
        </p:nvSpPr>
        <p:spPr>
          <a:xfrm>
            <a:off x="6172200" y="5120640"/>
            <a:ext cx="5212080" cy="1005840"/>
          </a:xfrm>
          <a:prstGeom prst="rect">
            <a:avLst/>
          </a:prstGeom>
          <a:noFill/>
          <a:ln/>
        </p:spPr>
        <p:txBody>
          <a:bodyPr wrap="square" lIns="0" tIns="0" rIns="0" bIns="0" rtlCol="0" anchor="ctr"/>
          <a:lstStyle/>
          <a:p>
            <a:pPr indent="0" marL="0">
              <a:buNone/>
            </a:pPr>
            <a:r>
              <a:rPr lang="en-US" sz="1400" dirty="0">
                <a:solidFill>
                  <a:schemeClr val="tx1"/>
                </a:solidFill>
              </a:rPr>
              <a:t>obstacle height for a new person, generic → person scaling (chance 33 %); the same features, no labels added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Models used</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Simple, interpretable models first; a neural network as a check.</a:t>
            </a:r>
            <a:endParaRPr lang="en-US" sz="1700" dirty="0"/>
          </a:p>
        </p:txBody>
      </p:sp>
      <p:sp>
        <p:nvSpPr>
          <p:cNvPr id="4" name="model 1 card"/>
          <p:cNvSpPr/>
          <p:nvPr/>
        </p:nvSpPr>
        <p:spPr>
          <a:xfrm>
            <a:off x="548640" y="1691640"/>
            <a:ext cx="2606040" cy="2103120"/>
          </a:xfrm>
          <a:prstGeom prst="roundRect">
            <a:avLst>
              <a:gd name="adj" fmla="val 4348"/>
            </a:avLst>
          </a:prstGeom>
          <a:solidFill>
            <a:schemeClr val="bg2"/>
          </a:solidFill>
          <a:ln/>
        </p:spPr>
      </p:sp>
      <p:sp>
        <p:nvSpPr>
          <p:cNvPr id="5" name="model 1 circle"/>
          <p:cNvSpPr/>
          <p:nvPr/>
        </p:nvSpPr>
        <p:spPr>
          <a:xfrm>
            <a:off x="777240" y="1920240"/>
            <a:ext cx="502920" cy="502920"/>
          </a:xfrm>
          <a:prstGeom prst="ellipse">
            <a:avLst/>
          </a:prstGeom>
          <a:solidFill>
            <a:schemeClr val="accent1"/>
          </a:solidFill>
          <a:ln/>
        </p:spPr>
      </p:sp>
      <p:pic>
        <p:nvPicPr>
          <p:cNvPr id="6" name="model 1 icon"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7" name="model 1 head"/>
          <p:cNvSpPr txBox="1"/>
          <p:nvPr/>
        </p:nvSpPr>
        <p:spPr>
          <a:xfrm>
            <a:off x="777240" y="2560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Logistic regression</a:t>
            </a:r>
            <a:endParaRPr lang="en-US" sz="1600" dirty="0"/>
          </a:p>
        </p:txBody>
      </p:sp>
      <p:sp>
        <p:nvSpPr>
          <p:cNvPr id="8" name="model 1 body"/>
          <p:cNvSpPr txBox="1"/>
          <p:nvPr/>
        </p:nvSpPr>
        <p:spPr>
          <a:xfrm>
            <a:off x="777240" y="2971800"/>
            <a:ext cx="2148840" cy="685800"/>
          </a:xfrm>
          <a:prstGeom prst="rect">
            <a:avLst/>
          </a:prstGeom>
          <a:noFill/>
          <a:ln/>
        </p:spPr>
        <p:txBody>
          <a:bodyPr wrap="square" lIns="0" tIns="0" rIns="0" bIns="0" rtlCol="0" anchor="t"/>
          <a:lstStyle/>
          <a:p>
            <a:pPr indent="0" marL="0">
              <a:buNone/>
            </a:pPr>
            <a:r>
              <a:rPr lang="en-US" sz="1400" dirty="0">
                <a:solidFill>
                  <a:schemeClr val="tx1"/>
                </a:solidFill>
              </a:rPr>
              <a:t>L2-penalised (C = 0.1): the transparent baseline.</a:t>
            </a:r>
            <a:endParaRPr lang="en-US" sz="1400" dirty="0"/>
          </a:p>
        </p:txBody>
      </p:sp>
      <p:sp>
        <p:nvSpPr>
          <p:cNvPr id="9" name="model 2 card"/>
          <p:cNvSpPr/>
          <p:nvPr/>
        </p:nvSpPr>
        <p:spPr>
          <a:xfrm>
            <a:off x="3364992" y="1691640"/>
            <a:ext cx="2606040" cy="2103120"/>
          </a:xfrm>
          <a:prstGeom prst="roundRect">
            <a:avLst>
              <a:gd name="adj" fmla="val 4348"/>
            </a:avLst>
          </a:prstGeom>
          <a:solidFill>
            <a:schemeClr val="bg2"/>
          </a:solidFill>
          <a:ln/>
        </p:spPr>
      </p:sp>
      <p:sp>
        <p:nvSpPr>
          <p:cNvPr id="10" name="model 2 circle"/>
          <p:cNvSpPr/>
          <p:nvPr/>
        </p:nvSpPr>
        <p:spPr>
          <a:xfrm>
            <a:off x="3593592" y="1920240"/>
            <a:ext cx="502920" cy="502920"/>
          </a:xfrm>
          <a:prstGeom prst="ellipse">
            <a:avLst/>
          </a:prstGeom>
          <a:solidFill>
            <a:schemeClr val="accent3"/>
          </a:solidFill>
          <a:ln/>
        </p:spPr>
      </p:sp>
      <p:pic>
        <p:nvPicPr>
          <p:cNvPr id="11" name="model 2 icon" descr="preencoded.png">    </p:cNvPr>
          <p:cNvPicPr>
            <a:picLocks noChangeAspect="1"/>
          </p:cNvPicPr>
          <p:nvPr/>
        </p:nvPicPr>
        <p:blipFill>
          <a:blip r:embed="rId2"/>
          <a:stretch>
            <a:fillRect/>
          </a:stretch>
        </p:blipFill>
        <p:spPr>
          <a:xfrm>
            <a:off x="3714293" y="2040941"/>
            <a:ext cx="261518" cy="261518"/>
          </a:xfrm>
          <a:prstGeom prst="rect">
            <a:avLst/>
          </a:prstGeom>
        </p:spPr>
      </p:pic>
      <p:sp>
        <p:nvSpPr>
          <p:cNvPr id="12" name="model 2 head"/>
          <p:cNvSpPr txBox="1"/>
          <p:nvPr/>
        </p:nvSpPr>
        <p:spPr>
          <a:xfrm>
            <a:off x="3593592" y="2560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Random forest</a:t>
            </a:r>
            <a:endParaRPr lang="en-US" sz="1600" dirty="0"/>
          </a:p>
        </p:txBody>
      </p:sp>
      <p:sp>
        <p:nvSpPr>
          <p:cNvPr id="13" name="model 2 body"/>
          <p:cNvSpPr txBox="1"/>
          <p:nvPr/>
        </p:nvSpPr>
        <p:spPr>
          <a:xfrm>
            <a:off x="3593592" y="2971800"/>
            <a:ext cx="2148840" cy="685800"/>
          </a:xfrm>
          <a:prstGeom prst="rect">
            <a:avLst/>
          </a:prstGeom>
          <a:noFill/>
          <a:ln/>
        </p:spPr>
        <p:txBody>
          <a:bodyPr wrap="square" lIns="0" tIns="0" rIns="0" bIns="0" rtlCol="0" anchor="t"/>
          <a:lstStyle/>
          <a:p>
            <a:pPr indent="0" marL="0">
              <a:buNone/>
            </a:pPr>
            <a:r>
              <a:rPr lang="en-US" sz="1400" dirty="0">
                <a:solidFill>
                  <a:schemeClr val="tx1"/>
                </a:solidFill>
              </a:rPr>
              <a:t>300–500 trees, min. leaf 2: the best single model.</a:t>
            </a:r>
            <a:endParaRPr lang="en-US" sz="1400" dirty="0"/>
          </a:p>
        </p:txBody>
      </p:sp>
      <p:sp>
        <p:nvSpPr>
          <p:cNvPr id="14" name="model 3 card"/>
          <p:cNvSpPr/>
          <p:nvPr/>
        </p:nvSpPr>
        <p:spPr>
          <a:xfrm>
            <a:off x="6181344" y="1691640"/>
            <a:ext cx="2606040" cy="2103120"/>
          </a:xfrm>
          <a:prstGeom prst="roundRect">
            <a:avLst>
              <a:gd name="adj" fmla="val 4348"/>
            </a:avLst>
          </a:prstGeom>
          <a:solidFill>
            <a:schemeClr val="bg2"/>
          </a:solidFill>
          <a:ln/>
        </p:spPr>
      </p:sp>
      <p:sp>
        <p:nvSpPr>
          <p:cNvPr id="15" name="model 3 circle"/>
          <p:cNvSpPr/>
          <p:nvPr/>
        </p:nvSpPr>
        <p:spPr>
          <a:xfrm>
            <a:off x="6409944" y="1920240"/>
            <a:ext cx="502920" cy="502920"/>
          </a:xfrm>
          <a:prstGeom prst="ellipse">
            <a:avLst/>
          </a:prstGeom>
          <a:solidFill>
            <a:schemeClr val="accent2"/>
          </a:solidFill>
          <a:ln/>
        </p:spPr>
      </p:sp>
      <p:pic>
        <p:nvPicPr>
          <p:cNvPr id="16" name="model 3 icon" descr="preencoded.png">    </p:cNvPr>
          <p:cNvPicPr>
            <a:picLocks noChangeAspect="1"/>
          </p:cNvPicPr>
          <p:nvPr/>
        </p:nvPicPr>
        <p:blipFill>
          <a:blip r:embed="rId3"/>
          <a:stretch>
            <a:fillRect/>
          </a:stretch>
        </p:blipFill>
        <p:spPr>
          <a:xfrm>
            <a:off x="6530645" y="2040941"/>
            <a:ext cx="261518" cy="261518"/>
          </a:xfrm>
          <a:prstGeom prst="rect">
            <a:avLst/>
          </a:prstGeom>
        </p:spPr>
      </p:pic>
      <p:sp>
        <p:nvSpPr>
          <p:cNvPr id="17" name="model 3 head"/>
          <p:cNvSpPr txBox="1"/>
          <p:nvPr/>
        </p:nvSpPr>
        <p:spPr>
          <a:xfrm>
            <a:off x="6409944" y="2560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Two-leg vote</a:t>
            </a:r>
            <a:endParaRPr lang="en-US" sz="1600" dirty="0"/>
          </a:p>
        </p:txBody>
      </p:sp>
      <p:sp>
        <p:nvSpPr>
          <p:cNvPr id="18" name="model 3 body"/>
          <p:cNvSpPr txBox="1"/>
          <p:nvPr/>
        </p:nvSpPr>
        <p:spPr>
          <a:xfrm>
            <a:off x="6409944" y="2971800"/>
            <a:ext cx="2148840" cy="685800"/>
          </a:xfrm>
          <a:prstGeom prst="rect">
            <a:avLst/>
          </a:prstGeom>
          <a:noFill/>
          <a:ln/>
        </p:spPr>
        <p:txBody>
          <a:bodyPr wrap="square" lIns="0" tIns="0" rIns="0" bIns="0" rtlCol="0" anchor="t"/>
          <a:lstStyle/>
          <a:p>
            <a:pPr indent="0" marL="0">
              <a:buNone/>
            </a:pPr>
            <a:r>
              <a:rPr lang="en-US" sz="1400" dirty="0">
                <a:solidFill>
                  <a:schemeClr val="tx1"/>
                </a:solidFill>
              </a:rPr>
              <a:t>One model per leg; their class probabilities averaged.</a:t>
            </a:r>
            <a:endParaRPr lang="en-US" sz="1400" dirty="0"/>
          </a:p>
        </p:txBody>
      </p:sp>
      <p:sp>
        <p:nvSpPr>
          <p:cNvPr id="19" name="model 4 card"/>
          <p:cNvSpPr/>
          <p:nvPr/>
        </p:nvSpPr>
        <p:spPr>
          <a:xfrm>
            <a:off x="8997696" y="1691640"/>
            <a:ext cx="2606040" cy="2103120"/>
          </a:xfrm>
          <a:prstGeom prst="roundRect">
            <a:avLst>
              <a:gd name="adj" fmla="val 4348"/>
            </a:avLst>
          </a:prstGeom>
          <a:solidFill>
            <a:schemeClr val="bg2"/>
          </a:solidFill>
          <a:ln/>
        </p:spPr>
      </p:sp>
      <p:sp>
        <p:nvSpPr>
          <p:cNvPr id="20" name="model 4 circle"/>
          <p:cNvSpPr/>
          <p:nvPr/>
        </p:nvSpPr>
        <p:spPr>
          <a:xfrm>
            <a:off x="9226296" y="1920240"/>
            <a:ext cx="502920" cy="502920"/>
          </a:xfrm>
          <a:prstGeom prst="ellipse">
            <a:avLst/>
          </a:prstGeom>
          <a:solidFill>
            <a:schemeClr val="accent6"/>
          </a:solidFill>
          <a:ln/>
        </p:spPr>
      </p:sp>
      <p:pic>
        <p:nvPicPr>
          <p:cNvPr id="21" name="model 4 icon" descr="preencoded.png">    </p:cNvPr>
          <p:cNvPicPr>
            <a:picLocks noChangeAspect="1"/>
          </p:cNvPicPr>
          <p:nvPr/>
        </p:nvPicPr>
        <p:blipFill>
          <a:blip r:embed="rId4"/>
          <a:stretch>
            <a:fillRect/>
          </a:stretch>
        </p:blipFill>
        <p:spPr>
          <a:xfrm>
            <a:off x="9346997" y="2040941"/>
            <a:ext cx="261518" cy="261518"/>
          </a:xfrm>
          <a:prstGeom prst="rect">
            <a:avLst/>
          </a:prstGeom>
        </p:spPr>
      </p:pic>
      <p:sp>
        <p:nvSpPr>
          <p:cNvPr id="22" name="model 4 head"/>
          <p:cNvSpPr txBox="1"/>
          <p:nvPr/>
        </p:nvSpPr>
        <p:spPr>
          <a:xfrm>
            <a:off x="9226296" y="2560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SVM and boosting</a:t>
            </a:r>
            <a:endParaRPr lang="en-US" sz="1600" dirty="0"/>
          </a:p>
        </p:txBody>
      </p:sp>
      <p:sp>
        <p:nvSpPr>
          <p:cNvPr id="23" name="model 4 body"/>
          <p:cNvSpPr txBox="1"/>
          <p:nvPr/>
        </p:nvSpPr>
        <p:spPr>
          <a:xfrm>
            <a:off x="9226296" y="2971800"/>
            <a:ext cx="2148840" cy="685800"/>
          </a:xfrm>
          <a:prstGeom prst="rect">
            <a:avLst/>
          </a:prstGeom>
          <a:noFill/>
          <a:ln/>
        </p:spPr>
        <p:txBody>
          <a:bodyPr wrap="square" lIns="0" tIns="0" rIns="0" bIns="0" rtlCol="0" anchor="t"/>
          <a:lstStyle/>
          <a:p>
            <a:pPr indent="0" marL="0">
              <a:buNone/>
            </a:pPr>
            <a:r>
              <a:rPr lang="en-US" sz="1400" dirty="0">
                <a:solidFill>
                  <a:schemeClr val="tx1"/>
                </a:solidFill>
              </a:rPr>
              <a:t>RBF SVM, boosted trees and an eight-model vote.</a:t>
            </a:r>
            <a:endParaRPr lang="en-US" sz="1400" dirty="0"/>
          </a:p>
        </p:txBody>
      </p:sp>
      <p:sp>
        <p:nvSpPr>
          <p:cNvPr id="24" name="model 5 card"/>
          <p:cNvSpPr/>
          <p:nvPr/>
        </p:nvSpPr>
        <p:spPr>
          <a:xfrm>
            <a:off x="548640" y="3977640"/>
            <a:ext cx="2606040" cy="2103120"/>
          </a:xfrm>
          <a:prstGeom prst="roundRect">
            <a:avLst>
              <a:gd name="adj" fmla="val 4348"/>
            </a:avLst>
          </a:prstGeom>
          <a:solidFill>
            <a:schemeClr val="bg2"/>
          </a:solidFill>
          <a:ln/>
        </p:spPr>
      </p:sp>
      <p:sp>
        <p:nvSpPr>
          <p:cNvPr id="25" name="model 5 circle"/>
          <p:cNvSpPr/>
          <p:nvPr/>
        </p:nvSpPr>
        <p:spPr>
          <a:xfrm>
            <a:off x="777240" y="4206240"/>
            <a:ext cx="502920" cy="502920"/>
          </a:xfrm>
          <a:prstGeom prst="ellipse">
            <a:avLst/>
          </a:prstGeom>
          <a:solidFill>
            <a:schemeClr val="accent4"/>
          </a:solidFill>
          <a:ln/>
        </p:spPr>
      </p:sp>
      <p:pic>
        <p:nvPicPr>
          <p:cNvPr id="26" name="model 5 icon" descr="preencoded.png">    </p:cNvPr>
          <p:cNvPicPr>
            <a:picLocks noChangeAspect="1"/>
          </p:cNvPicPr>
          <p:nvPr/>
        </p:nvPicPr>
        <p:blipFill>
          <a:blip r:embed="rId5"/>
          <a:stretch>
            <a:fillRect/>
          </a:stretch>
        </p:blipFill>
        <p:spPr>
          <a:xfrm>
            <a:off x="897941" y="4326941"/>
            <a:ext cx="261518" cy="261518"/>
          </a:xfrm>
          <a:prstGeom prst="rect">
            <a:avLst/>
          </a:prstGeom>
        </p:spPr>
      </p:pic>
      <p:sp>
        <p:nvSpPr>
          <p:cNvPr id="27" name="model 5 head"/>
          <p:cNvSpPr txBox="1"/>
          <p:nvPr/>
        </p:nvSpPr>
        <p:spPr>
          <a:xfrm>
            <a:off x="777240" y="4846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1D CNN</a:t>
            </a:r>
            <a:endParaRPr lang="en-US" sz="1600" dirty="0"/>
          </a:p>
        </p:txBody>
      </p:sp>
      <p:sp>
        <p:nvSpPr>
          <p:cNvPr id="28" name="model 5 body"/>
          <p:cNvSpPr txBox="1"/>
          <p:nvPr/>
        </p:nvSpPr>
        <p:spPr>
          <a:xfrm>
            <a:off x="777240" y="5257800"/>
            <a:ext cx="2148840" cy="685800"/>
          </a:xfrm>
          <a:prstGeom prst="rect">
            <a:avLst/>
          </a:prstGeom>
          <a:noFill/>
          <a:ln/>
        </p:spPr>
        <p:txBody>
          <a:bodyPr wrap="square" lIns="0" tIns="0" rIns="0" bIns="0" rtlCol="0" anchor="t"/>
          <a:lstStyle/>
          <a:p>
            <a:pPr indent="0" marL="0">
              <a:buNone/>
            </a:pPr>
            <a:r>
              <a:rPr lang="en-US" sz="1400" dirty="0">
                <a:solidFill>
                  <a:schemeClr val="tx1"/>
                </a:solidFill>
              </a:rPr>
              <a:t>A convolutional network on the raw swing curves.</a:t>
            </a:r>
            <a:endParaRPr lang="en-US" sz="1400" dirty="0"/>
          </a:p>
        </p:txBody>
      </p:sp>
      <p:sp>
        <p:nvSpPr>
          <p:cNvPr id="29" name="model 6 card"/>
          <p:cNvSpPr/>
          <p:nvPr/>
        </p:nvSpPr>
        <p:spPr>
          <a:xfrm>
            <a:off x="3364992" y="3977640"/>
            <a:ext cx="2606040" cy="2103120"/>
          </a:xfrm>
          <a:prstGeom prst="roundRect">
            <a:avLst>
              <a:gd name="adj" fmla="val 4348"/>
            </a:avLst>
          </a:prstGeom>
          <a:solidFill>
            <a:schemeClr val="bg2"/>
          </a:solidFill>
          <a:ln/>
        </p:spPr>
      </p:sp>
      <p:sp>
        <p:nvSpPr>
          <p:cNvPr id="30" name="model 6 circle"/>
          <p:cNvSpPr/>
          <p:nvPr/>
        </p:nvSpPr>
        <p:spPr>
          <a:xfrm>
            <a:off x="3593592" y="4206240"/>
            <a:ext cx="502920" cy="502920"/>
          </a:xfrm>
          <a:prstGeom prst="ellipse">
            <a:avLst/>
          </a:prstGeom>
          <a:solidFill>
            <a:schemeClr val="accent1"/>
          </a:solidFill>
          <a:ln/>
        </p:spPr>
      </p:sp>
      <p:pic>
        <p:nvPicPr>
          <p:cNvPr id="31" name="model 6 icon" descr="preencoded.png">    </p:cNvPr>
          <p:cNvPicPr>
            <a:picLocks noChangeAspect="1"/>
          </p:cNvPicPr>
          <p:nvPr/>
        </p:nvPicPr>
        <p:blipFill>
          <a:blip r:embed="rId6"/>
          <a:stretch>
            <a:fillRect/>
          </a:stretch>
        </p:blipFill>
        <p:spPr>
          <a:xfrm>
            <a:off x="3714293" y="4326941"/>
            <a:ext cx="261518" cy="261518"/>
          </a:xfrm>
          <a:prstGeom prst="rect">
            <a:avLst/>
          </a:prstGeom>
        </p:spPr>
      </p:pic>
      <p:sp>
        <p:nvSpPr>
          <p:cNvPr id="32" name="model 6 head"/>
          <p:cNvSpPr txBox="1"/>
          <p:nvPr/>
        </p:nvSpPr>
        <p:spPr>
          <a:xfrm>
            <a:off x="3593592" y="4846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Height in cm</a:t>
            </a:r>
            <a:endParaRPr lang="en-US" sz="1600" dirty="0"/>
          </a:p>
        </p:txBody>
      </p:sp>
      <p:sp>
        <p:nvSpPr>
          <p:cNvPr id="33" name="model 6 body"/>
          <p:cNvSpPr txBox="1"/>
          <p:nvPr/>
        </p:nvSpPr>
        <p:spPr>
          <a:xfrm>
            <a:off x="3593592" y="5257800"/>
            <a:ext cx="2148840" cy="685800"/>
          </a:xfrm>
          <a:prstGeom prst="rect">
            <a:avLst/>
          </a:prstGeom>
          <a:noFill/>
          <a:ln/>
        </p:spPr>
        <p:txBody>
          <a:bodyPr wrap="square" lIns="0" tIns="0" rIns="0" bIns="0" rtlCol="0" anchor="t"/>
          <a:lstStyle/>
          <a:p>
            <a:pPr indent="0" marL="0">
              <a:buNone/>
            </a:pPr>
            <a:r>
              <a:rPr lang="en-US" sz="1400" dirty="0">
                <a:solidFill>
                  <a:schemeClr val="tx1"/>
                </a:solidFill>
              </a:rPr>
              <a:t>Ridge and forest regression of the nominal height.</a:t>
            </a:r>
            <a:endParaRPr lang="en-US" sz="1400" dirty="0"/>
          </a:p>
        </p:txBody>
      </p:sp>
      <p:sp>
        <p:nvSpPr>
          <p:cNvPr id="34" name="model 7 card"/>
          <p:cNvSpPr/>
          <p:nvPr/>
        </p:nvSpPr>
        <p:spPr>
          <a:xfrm>
            <a:off x="6181344" y="3977640"/>
            <a:ext cx="2606040" cy="2103120"/>
          </a:xfrm>
          <a:prstGeom prst="roundRect">
            <a:avLst>
              <a:gd name="adj" fmla="val 4348"/>
            </a:avLst>
          </a:prstGeom>
          <a:solidFill>
            <a:schemeClr val="bg2"/>
          </a:solidFill>
          <a:ln/>
        </p:spPr>
      </p:sp>
      <p:sp>
        <p:nvSpPr>
          <p:cNvPr id="35" name="model 7 circle"/>
          <p:cNvSpPr/>
          <p:nvPr/>
        </p:nvSpPr>
        <p:spPr>
          <a:xfrm>
            <a:off x="6409944" y="4206240"/>
            <a:ext cx="502920" cy="502920"/>
          </a:xfrm>
          <a:prstGeom prst="ellipse">
            <a:avLst/>
          </a:prstGeom>
          <a:solidFill>
            <a:schemeClr val="accent3"/>
          </a:solidFill>
          <a:ln/>
        </p:spPr>
      </p:sp>
      <p:pic>
        <p:nvPicPr>
          <p:cNvPr id="36" name="model 7 icon" descr="preencoded.png">    </p:cNvPr>
          <p:cNvPicPr>
            <a:picLocks noChangeAspect="1"/>
          </p:cNvPicPr>
          <p:nvPr/>
        </p:nvPicPr>
        <p:blipFill>
          <a:blip r:embed="rId7"/>
          <a:stretch>
            <a:fillRect/>
          </a:stretch>
        </p:blipFill>
        <p:spPr>
          <a:xfrm>
            <a:off x="6530645" y="4326941"/>
            <a:ext cx="261518" cy="261518"/>
          </a:xfrm>
          <a:prstGeom prst="rect">
            <a:avLst/>
          </a:prstGeom>
        </p:spPr>
      </p:pic>
      <p:sp>
        <p:nvSpPr>
          <p:cNvPr id="37" name="model 7 head"/>
          <p:cNvSpPr txBox="1"/>
          <p:nvPr/>
        </p:nvSpPr>
        <p:spPr>
          <a:xfrm>
            <a:off x="6409944" y="4846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Offset model</a:t>
            </a:r>
            <a:endParaRPr lang="en-US" sz="1600" dirty="0"/>
          </a:p>
        </p:txBody>
      </p:sp>
      <p:sp>
        <p:nvSpPr>
          <p:cNvPr id="38" name="model 7 body"/>
          <p:cNvSpPr txBox="1"/>
          <p:nvPr/>
        </p:nvSpPr>
        <p:spPr>
          <a:xfrm>
            <a:off x="6409944" y="5257800"/>
            <a:ext cx="2148840" cy="685800"/>
          </a:xfrm>
          <a:prstGeom prst="rect">
            <a:avLst/>
          </a:prstGeom>
          <a:noFill/>
          <a:ln/>
        </p:spPr>
        <p:txBody>
          <a:bodyPr wrap="square" lIns="0" tIns="0" rIns="0" bIns="0" rtlCol="0" anchor="t"/>
          <a:lstStyle/>
          <a:p>
            <a:pPr indent="0" marL="0">
              <a:buNone/>
            </a:pPr>
            <a:r>
              <a:rPr lang="en-US" sz="1400" dirty="0">
                <a:solidFill>
                  <a:schemeClr val="tx1"/>
                </a:solidFill>
              </a:rPr>
              <a:t>Physics: foot lift = obstacle height + a personal margin.</a:t>
            </a:r>
            <a:endParaRPr lang="en-US" sz="1400" dirty="0"/>
          </a:p>
        </p:txBody>
      </p:sp>
      <p:sp>
        <p:nvSpPr>
          <p:cNvPr id="39" name="model 8 card"/>
          <p:cNvSpPr/>
          <p:nvPr/>
        </p:nvSpPr>
        <p:spPr>
          <a:xfrm>
            <a:off x="8997696" y="3977640"/>
            <a:ext cx="2606040" cy="2103120"/>
          </a:xfrm>
          <a:prstGeom prst="roundRect">
            <a:avLst>
              <a:gd name="adj" fmla="val 4348"/>
            </a:avLst>
          </a:prstGeom>
          <a:solidFill>
            <a:schemeClr val="bg2"/>
          </a:solidFill>
          <a:ln/>
        </p:spPr>
      </p:sp>
      <p:sp>
        <p:nvSpPr>
          <p:cNvPr id="40" name="model 8 circle"/>
          <p:cNvSpPr/>
          <p:nvPr/>
        </p:nvSpPr>
        <p:spPr>
          <a:xfrm>
            <a:off x="9226296" y="4206240"/>
            <a:ext cx="502920" cy="502920"/>
          </a:xfrm>
          <a:prstGeom prst="ellipse">
            <a:avLst/>
          </a:prstGeom>
          <a:solidFill>
            <a:schemeClr val="accent2"/>
          </a:solidFill>
          <a:ln/>
        </p:spPr>
      </p:sp>
      <p:pic>
        <p:nvPicPr>
          <p:cNvPr id="41" name="model 8 icon" descr="preencoded.png">    </p:cNvPr>
          <p:cNvPicPr>
            <a:picLocks noChangeAspect="1"/>
          </p:cNvPicPr>
          <p:nvPr/>
        </p:nvPicPr>
        <p:blipFill>
          <a:blip r:embed="rId8"/>
          <a:stretch>
            <a:fillRect/>
          </a:stretch>
        </p:blipFill>
        <p:spPr>
          <a:xfrm>
            <a:off x="9346997" y="4326941"/>
            <a:ext cx="261518" cy="261518"/>
          </a:xfrm>
          <a:prstGeom prst="rect">
            <a:avLst/>
          </a:prstGeom>
        </p:spPr>
      </p:pic>
      <p:sp>
        <p:nvSpPr>
          <p:cNvPr id="42" name="model 8 head"/>
          <p:cNvSpPr txBox="1"/>
          <p:nvPr/>
        </p:nvSpPr>
        <p:spPr>
          <a:xfrm>
            <a:off x="9226296" y="48463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Threshold rules</a:t>
            </a:r>
            <a:endParaRPr lang="en-US" sz="1600" dirty="0"/>
          </a:p>
        </p:txBody>
      </p:sp>
      <p:sp>
        <p:nvSpPr>
          <p:cNvPr id="43" name="model 8 body"/>
          <p:cNvSpPr txBox="1"/>
          <p:nvPr/>
        </p:nvSpPr>
        <p:spPr>
          <a:xfrm>
            <a:off x="9226296" y="5257800"/>
            <a:ext cx="2148840" cy="685800"/>
          </a:xfrm>
          <a:prstGeom prst="rect">
            <a:avLst/>
          </a:prstGeom>
          <a:noFill/>
          <a:ln/>
        </p:spPr>
        <p:txBody>
          <a:bodyPr wrap="square" lIns="0" tIns="0" rIns="0" bIns="0" rtlCol="0" anchor="t"/>
          <a:lstStyle/>
          <a:p>
            <a:pPr indent="0" marL="0">
              <a:buNone/>
            </a:pPr>
            <a:r>
              <a:rPr lang="en-US" sz="1400" dirty="0">
                <a:solidFill>
                  <a:schemeClr val="tx1"/>
                </a:solidFill>
              </a:rPr>
              <a:t>One signal, one moment, two thresholds: the cue logic.</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914400"/>
          </a:xfrm>
          <a:prstGeom prst="rect">
            <a:avLst/>
          </a:prstGeom>
          <a:noFill/>
          <a:ln/>
        </p:spPr>
        <p:txBody>
          <a:bodyPr wrap="square" lIns="0" tIns="0" rIns="0" bIns="0" rtlCol="0" anchor="ctr"/>
          <a:lstStyle/>
          <a:p>
            <a:pPr algn="l" indent="0" marL="0">
              <a:buNone/>
            </a:pPr>
            <a:r>
              <a:rPr lang="en-US" sz="4000" b="1" dirty="0">
                <a:solidFill>
                  <a:schemeClr val="bg1"/>
                </a:solidFill>
              </a:rPr>
              <a:t>How people cross</a:t>
            </a:r>
            <a:endParaRPr lang="en-US" sz="4000" dirty="0"/>
          </a:p>
        </p:txBody>
      </p:sp>
      <p:sp>
        <p:nvSpPr>
          <p:cNvPr id="3" name="Text 0"/>
          <p:cNvSpPr/>
          <p:nvPr>
            <p:ph idx="101" type="body" hasCustomPrompt="1"/>
          </p:nvPr>
        </p:nvSpPr>
        <p:spPr>
          <a:xfrm>
            <a:off x="731520" y="356616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Foot lift, where the height shows, and the personal walking signature</a:t>
            </a:r>
            <a:endParaRPr lang="en-US" sz="2000" dirty="0"/>
          </a:p>
        </p:txBody>
      </p:sp>
      <p:sp>
        <p:nvSpPr>
          <p:cNvPr id="4" name="section number"/>
          <p:cNvSpPr txBox="1"/>
          <p:nvPr/>
        </p:nvSpPr>
        <p:spPr>
          <a:xfrm>
            <a:off x="731520" y="1417320"/>
            <a:ext cx="2743200" cy="914400"/>
          </a:xfrm>
          <a:prstGeom prst="rect">
            <a:avLst/>
          </a:prstGeom>
          <a:noFill/>
          <a:ln/>
        </p:spPr>
        <p:txBody>
          <a:bodyPr wrap="square" lIns="0" tIns="0" rIns="0" bIns="0" rtlCol="0" anchor="b"/>
          <a:lstStyle/>
          <a:p>
            <a:pPr indent="0" marL="0">
              <a:buNone/>
            </a:pPr>
            <a:r>
              <a:rPr lang="en-US" sz="5400" b="1" dirty="0">
                <a:solidFill>
                  <a:schemeClr val="accent2"/>
                </a:solidFill>
              </a:rPr>
              <a:t>03</a:t>
            </a:r>
            <a:endParaRPr lang="en-US" sz="5400" dirty="0"/>
          </a:p>
        </p:txBody>
      </p:sp>
      <p:sp>
        <p:nvSpPr>
          <p:cNvPr id="5" name="section circle"/>
          <p:cNvSpPr/>
          <p:nvPr/>
        </p:nvSpPr>
        <p:spPr>
          <a:xfrm>
            <a:off x="8915400" y="2011680"/>
            <a:ext cx="2468880" cy="2468880"/>
          </a:xfrm>
          <a:prstGeom prst="ellipse">
            <a:avLst/>
          </a:prstGeom>
          <a:solidFill>
            <a:schemeClr val="accent3"/>
          </a:solidFill>
          <a:ln/>
        </p:spPr>
      </p:sp>
      <p:pic>
        <p:nvPicPr>
          <p:cNvPr id="6" name="section icon" descr="preencoded.png">    </p:cNvPr>
          <p:cNvPicPr>
            <a:picLocks noChangeAspect="1"/>
          </p:cNvPicPr>
          <p:nvPr/>
        </p:nvPicPr>
        <p:blipFill>
          <a:blip r:embed="rId1"/>
          <a:stretch>
            <a:fillRect/>
          </a:stretch>
        </p:blipFill>
        <p:spPr>
          <a:xfrm>
            <a:off x="9507931" y="2604211"/>
            <a:ext cx="1283818" cy="1283818"/>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Each foot is lifted by about the obstacle height</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People raise each foot by the obstacle height and keep a nearly constant safety margin.</a:t>
            </a:r>
            <a:endParaRPr lang="en-US" sz="1700" dirty="0"/>
          </a:p>
        </p:txBody>
      </p:sp>
      <p:pic>
        <p:nvPicPr>
          <p:cNvPr id="4" name="figure fig_story_strategy" descr="Foot lift against obstacle height per participant, per-participant slopes, and foot lift over the five repeats">    </p:cNvPr>
          <p:cNvPicPr>
            <a:picLocks noChangeAspect="1"/>
          </p:cNvPicPr>
          <p:nvPr/>
        </p:nvPicPr>
        <p:blipFill>
          <a:blip r:embed="rId1"/>
          <a:stretch>
            <a:fillRect/>
          </a:stretch>
        </p:blipFill>
        <p:spPr>
          <a:xfrm>
            <a:off x="548640" y="1645920"/>
            <a:ext cx="6099806" cy="4526280"/>
          </a:xfrm>
          <a:prstGeom prst="rect">
            <a:avLst/>
          </a:prstGeom>
        </p:spPr>
      </p:pic>
      <p:sp>
        <p:nvSpPr>
          <p:cNvPr id="5" name="takeaway card"/>
          <p:cNvSpPr/>
          <p:nvPr/>
        </p:nvSpPr>
        <p:spPr>
          <a:xfrm>
            <a:off x="6922766" y="1645920"/>
            <a:ext cx="4717546" cy="4526280"/>
          </a:xfrm>
          <a:prstGeom prst="roundRect">
            <a:avLst>
              <a:gd name="adj" fmla="val 2020"/>
            </a:avLst>
          </a:prstGeom>
          <a:solidFill>
            <a:schemeClr val="bg2"/>
          </a:solidFill>
          <a:ln/>
        </p:spPr>
      </p:sp>
      <p:sp>
        <p:nvSpPr>
          <p:cNvPr id="6" name="takeaway head"/>
          <p:cNvSpPr txBox="1"/>
          <p:nvPr/>
        </p:nvSpPr>
        <p:spPr>
          <a:xfrm>
            <a:off x="7151366" y="1828800"/>
            <a:ext cx="4260346"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7151366" y="2331720"/>
            <a:ext cx="4260346" cy="86868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+10.1 / +11.1 mm</a:t>
            </a:r>
            <a:endParaRPr lang="en-US" sz="2000" dirty="0"/>
          </a:p>
          <a:p>
            <a:pPr indent="0" marL="0">
              <a:spcAft>
                <a:spcPts val="200"/>
              </a:spcAft>
              <a:buNone/>
            </a:pPr>
            <a:r>
              <a:rPr lang="en-US" sz="1400" dirty="0">
                <a:solidFill>
                  <a:schemeClr val="tx1"/>
                </a:solidFill>
              </a:rPr>
              <a:t>leading / trailing foot lift per cm (mixed model), every participant</a:t>
            </a:r>
            <a:endParaRPr lang="en-US" sz="2000" dirty="0"/>
          </a:p>
        </p:txBody>
      </p:sp>
      <p:sp>
        <p:nvSpPr>
          <p:cNvPr id="8" name="takeaway 2"/>
          <p:cNvSpPr txBox="1"/>
          <p:nvPr/>
        </p:nvSpPr>
        <p:spPr>
          <a:xfrm>
            <a:off x="7151366" y="3246120"/>
            <a:ext cx="4260346" cy="86868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+1.2° per cm</a:t>
            </a:r>
            <a:endParaRPr lang="en-US" sz="2000" dirty="0"/>
          </a:p>
          <a:p>
            <a:pPr indent="0" marL="0">
              <a:spcAft>
                <a:spcPts val="200"/>
              </a:spcAft>
              <a:buNone/>
            </a:pPr>
            <a:r>
              <a:rPr lang="en-US" sz="1400" dirty="0">
                <a:solidFill>
                  <a:schemeClr val="tx1"/>
                </a:solidFill>
              </a:rPr>
              <a:t>more leading-thigh flexion and more trailing-shank heel-up</a:t>
            </a:r>
            <a:endParaRPr lang="en-US" sz="2000" dirty="0"/>
          </a:p>
        </p:txBody>
      </p:sp>
      <p:sp>
        <p:nvSpPr>
          <p:cNvPr id="9" name="takeaway 3"/>
          <p:cNvSpPr txBox="1"/>
          <p:nvPr/>
        </p:nvSpPr>
        <p:spPr>
          <a:xfrm>
            <a:off x="7151366" y="4160520"/>
            <a:ext cx="4260346"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 constant</a:t>
            </a:r>
            <a:endParaRPr lang="en-US" sz="2000" dirty="0"/>
          </a:p>
          <a:p>
            <a:pPr indent="0" marL="0">
              <a:spcAft>
                <a:spcPts val="200"/>
              </a:spcAft>
              <a:buNone/>
            </a:pPr>
            <a:r>
              <a:rPr lang="en-US" sz="1400" dirty="0">
                <a:solidFill>
                  <a:schemeClr val="tx1"/>
                </a:solidFill>
              </a:rPr>
              <a:t>camera clearance margin: no significant change</a:t>
            </a:r>
            <a:endParaRPr lang="en-US" sz="2000" dirty="0"/>
          </a:p>
        </p:txBody>
      </p:sp>
      <p:sp>
        <p:nvSpPr>
          <p:cNvPr id="10" name="takeaway 4"/>
          <p:cNvSpPr txBox="1"/>
          <p:nvPr/>
        </p:nvSpPr>
        <p:spPr>
          <a:xfrm>
            <a:off x="7151366" y="5074920"/>
            <a:ext cx="4260346" cy="86868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+11.7 mm</a:t>
            </a:r>
            <a:endParaRPr lang="en-US" sz="2000" dirty="0"/>
          </a:p>
          <a:p>
            <a:pPr indent="0" marL="0">
              <a:spcAft>
                <a:spcPts val="200"/>
              </a:spcAft>
              <a:buNone/>
            </a:pPr>
            <a:r>
              <a:rPr lang="en-US" sz="1400" dirty="0">
                <a:solidFill>
                  <a:schemeClr val="tx1"/>
                </a:solidFill>
              </a:rPr>
              <a:t>extra leading lift on the first crossing of an obstacle</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Where in the swing the obstacle shows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Height is written in the leading leg at its apex and in the trailing leg at push-off.</a:t>
            </a:r>
            <a:endParaRPr lang="en-US" sz="1700" dirty="0"/>
          </a:p>
        </p:txBody>
      </p:sp>
      <p:pic>
        <p:nvPicPr>
          <p:cNvPr id="4" name="figure fig_story_map" descr="Heat maps of the within-person effect size of height and width along the swing for six signals of each leg">    </p:cNvPr>
          <p:cNvPicPr>
            <a:picLocks noChangeAspect="1"/>
          </p:cNvPicPr>
          <p:nvPr/>
        </p:nvPicPr>
        <p:blipFill>
          <a:blip r:embed="rId1"/>
          <a:stretch>
            <a:fillRect/>
          </a:stretch>
        </p:blipFill>
        <p:spPr>
          <a:xfrm>
            <a:off x="548640" y="1645920"/>
            <a:ext cx="6952414" cy="4526280"/>
          </a:xfrm>
          <a:prstGeom prst="rect">
            <a:avLst/>
          </a:prstGeom>
        </p:spPr>
      </p:pic>
      <p:sp>
        <p:nvSpPr>
          <p:cNvPr id="5" name="takeaway card"/>
          <p:cNvSpPr/>
          <p:nvPr/>
        </p:nvSpPr>
        <p:spPr>
          <a:xfrm>
            <a:off x="7775374" y="1645920"/>
            <a:ext cx="3864938" cy="4526280"/>
          </a:xfrm>
          <a:prstGeom prst="roundRect">
            <a:avLst>
              <a:gd name="adj" fmla="val 2366"/>
            </a:avLst>
          </a:prstGeom>
          <a:solidFill>
            <a:schemeClr val="bg2"/>
          </a:solidFill>
          <a:ln/>
        </p:spPr>
      </p:sp>
      <p:sp>
        <p:nvSpPr>
          <p:cNvPr id="6" name="takeaway head"/>
          <p:cNvSpPr txBox="1"/>
          <p:nvPr/>
        </p:nvSpPr>
        <p:spPr>
          <a:xfrm>
            <a:off x="8003974" y="1828800"/>
            <a:ext cx="3407738"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8003974" y="2331720"/>
            <a:ext cx="3407738" cy="86868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η² 0.76</a:t>
            </a:r>
            <a:endParaRPr lang="en-US" sz="2000" dirty="0"/>
          </a:p>
          <a:p>
            <a:pPr indent="0" marL="0">
              <a:spcAft>
                <a:spcPts val="200"/>
              </a:spcAft>
              <a:buNone/>
            </a:pPr>
            <a:r>
              <a:rPr lang="en-US" sz="1400" dirty="0">
                <a:solidFill>
                  <a:schemeClr val="tx1"/>
                </a:solidFill>
              </a:rPr>
              <a:t>trailing foot height at 20 % of its swing</a:t>
            </a:r>
            <a:endParaRPr lang="en-US" sz="2000" dirty="0"/>
          </a:p>
        </p:txBody>
      </p:sp>
      <p:sp>
        <p:nvSpPr>
          <p:cNvPr id="8" name="takeaway 2"/>
          <p:cNvSpPr txBox="1"/>
          <p:nvPr/>
        </p:nvSpPr>
        <p:spPr>
          <a:xfrm>
            <a:off x="8003974" y="3246120"/>
            <a:ext cx="3407738" cy="86868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η² 0.66</a:t>
            </a:r>
            <a:endParaRPr lang="en-US" sz="2000" dirty="0"/>
          </a:p>
          <a:p>
            <a:pPr indent="0" marL="0">
              <a:spcAft>
                <a:spcPts val="200"/>
              </a:spcAft>
              <a:buNone/>
            </a:pPr>
            <a:r>
              <a:rPr lang="en-US" sz="1400" dirty="0">
                <a:solidFill>
                  <a:schemeClr val="tx1"/>
                </a:solidFill>
              </a:rPr>
              <a:t>trailing shank tilt at push-off (4 % of swing)</a:t>
            </a:r>
            <a:endParaRPr lang="en-US" sz="2000" dirty="0"/>
          </a:p>
        </p:txBody>
      </p:sp>
      <p:sp>
        <p:nvSpPr>
          <p:cNvPr id="9" name="takeaway 3"/>
          <p:cNvSpPr txBox="1"/>
          <p:nvPr/>
        </p:nvSpPr>
        <p:spPr>
          <a:xfrm>
            <a:off x="8003974" y="4160520"/>
            <a:ext cx="3407738" cy="86868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η² 0.62</a:t>
            </a:r>
            <a:endParaRPr lang="en-US" sz="2000" dirty="0"/>
          </a:p>
          <a:p>
            <a:pPr indent="0" marL="0">
              <a:spcAft>
                <a:spcPts val="200"/>
              </a:spcAft>
              <a:buNone/>
            </a:pPr>
            <a:r>
              <a:rPr lang="en-US" sz="1400" dirty="0">
                <a:solidFill>
                  <a:schemeClr val="tx1"/>
                </a:solidFill>
              </a:rPr>
              <a:t>leading foot height near its apex (48 %)</a:t>
            </a:r>
            <a:endParaRPr lang="en-US" sz="2000" dirty="0"/>
          </a:p>
        </p:txBody>
      </p:sp>
      <p:sp>
        <p:nvSpPr>
          <p:cNvPr id="10" name="takeaway 4"/>
          <p:cNvSpPr txBox="1"/>
          <p:nvPr/>
        </p:nvSpPr>
        <p:spPr>
          <a:xfrm>
            <a:off x="8003974" y="5074920"/>
            <a:ext cx="3407738" cy="86868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 0.08</a:t>
            </a:r>
            <a:endParaRPr lang="en-US" sz="2000" dirty="0"/>
          </a:p>
          <a:p>
            <a:pPr indent="0" marL="0">
              <a:spcAft>
                <a:spcPts val="200"/>
              </a:spcAft>
              <a:buNone/>
            </a:pPr>
            <a:r>
              <a:rPr lang="en-US" sz="1400" dirty="0">
                <a:solidFill>
                  <a:schemeClr val="tx1"/>
                </a:solidFill>
              </a:rPr>
              <a:t>width: almost no trace anywhere</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Each person has a strong walking signature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One crossing identifies the walker; scaling to the person reveals the obstacle.</a:t>
            </a:r>
            <a:endParaRPr lang="en-US" sz="1700" dirty="0"/>
          </a:p>
        </p:txBody>
      </p:sp>
      <p:pic>
        <p:nvPicPr>
          <p:cNvPr id="4" name="figure fig_story_person" descr="Variance explained per feature by the participant, the obstacle height and the height within person">    </p:cNvPr>
          <p:cNvPicPr>
            <a:picLocks noChangeAspect="1"/>
          </p:cNvPicPr>
          <p:nvPr/>
        </p:nvPicPr>
        <p:blipFill>
          <a:blip r:embed="rId1"/>
          <a:stretch>
            <a:fillRect/>
          </a:stretch>
        </p:blipFill>
        <p:spPr>
          <a:xfrm>
            <a:off x="548640" y="1600200"/>
            <a:ext cx="4937760" cy="2986771"/>
          </a:xfrm>
          <a:prstGeom prst="rect">
            <a:avLst/>
          </a:prstGeom>
        </p:spPr>
      </p:pic>
      <p:pic>
        <p:nvPicPr>
          <p:cNvPr id="5" name="figure fig_story_embed" descr="t-SNE maps of all crossings coloured by participant and by height">    </p:cNvPr>
          <p:cNvPicPr>
            <a:picLocks noChangeAspect="1"/>
          </p:cNvPicPr>
          <p:nvPr/>
        </p:nvPicPr>
        <p:blipFill>
          <a:blip r:embed="rId2"/>
          <a:stretch>
            <a:fillRect/>
          </a:stretch>
        </p:blipFill>
        <p:spPr>
          <a:xfrm>
            <a:off x="5715000" y="1600200"/>
            <a:ext cx="5925312" cy="2880119"/>
          </a:xfrm>
          <a:prstGeom prst="rect">
            <a:avLst/>
          </a:prstGeom>
        </p:spPr>
      </p:pic>
      <p:sp>
        <p:nvSpPr>
          <p:cNvPr id="6" name="takeaway card 1"/>
          <p:cNvSpPr/>
          <p:nvPr/>
        </p:nvSpPr>
        <p:spPr>
          <a:xfrm>
            <a:off x="548640" y="4815571"/>
            <a:ext cx="3544824" cy="1402349"/>
          </a:xfrm>
          <a:prstGeom prst="roundRect">
            <a:avLst>
              <a:gd name="adj" fmla="val 6520"/>
            </a:avLst>
          </a:prstGeom>
          <a:solidFill>
            <a:schemeClr val="bg2"/>
          </a:solidFill>
          <a:ln/>
        </p:spPr>
      </p:sp>
      <p:sp>
        <p:nvSpPr>
          <p:cNvPr id="7" name="takeaway 1"/>
          <p:cNvSpPr txBox="1"/>
          <p:nvPr/>
        </p:nvSpPr>
        <p:spPr>
          <a:xfrm>
            <a:off x="731520" y="4925299"/>
            <a:ext cx="3179064" cy="1219469"/>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99 %</a:t>
            </a:r>
            <a:endParaRPr lang="en-US" sz="2000" dirty="0"/>
          </a:p>
          <a:p>
            <a:pPr indent="0" marL="0">
              <a:spcAft>
                <a:spcPts val="200"/>
              </a:spcAft>
              <a:buNone/>
            </a:pPr>
            <a:r>
              <a:rPr lang="en-US" sz="1400" dirty="0">
                <a:solidFill>
                  <a:schemeClr val="tx1"/>
                </a:solidFill>
              </a:rPr>
              <a:t>one crossing identifies the person (chance 10 %)</a:t>
            </a:r>
            <a:endParaRPr lang="en-US" sz="2000" dirty="0"/>
          </a:p>
        </p:txBody>
      </p:sp>
      <p:sp>
        <p:nvSpPr>
          <p:cNvPr id="8" name="takeaway card 2"/>
          <p:cNvSpPr/>
          <p:nvPr/>
        </p:nvSpPr>
        <p:spPr>
          <a:xfrm>
            <a:off x="4322064" y="4815571"/>
            <a:ext cx="3544824" cy="1402349"/>
          </a:xfrm>
          <a:prstGeom prst="roundRect">
            <a:avLst>
              <a:gd name="adj" fmla="val 6520"/>
            </a:avLst>
          </a:prstGeom>
          <a:solidFill>
            <a:schemeClr val="bg2"/>
          </a:solidFill>
          <a:ln/>
        </p:spPr>
      </p:sp>
      <p:sp>
        <p:nvSpPr>
          <p:cNvPr id="9" name="takeaway 2"/>
          <p:cNvSpPr txBox="1"/>
          <p:nvPr/>
        </p:nvSpPr>
        <p:spPr>
          <a:xfrm>
            <a:off x="4504944" y="4925299"/>
            <a:ext cx="3179064" cy="1219469"/>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0.42 vs 0.02</a:t>
            </a:r>
            <a:endParaRPr lang="en-US" sz="2000" dirty="0"/>
          </a:p>
          <a:p>
            <a:pPr indent="0" marL="0">
              <a:spcAft>
                <a:spcPts val="200"/>
              </a:spcAft>
              <a:buNone/>
            </a:pPr>
            <a:r>
              <a:rPr lang="en-US" sz="1400" dirty="0">
                <a:solidFill>
                  <a:schemeClr val="tx1"/>
                </a:solidFill>
              </a:rPr>
              <a:t>median share of feature variance: the person vs the obstacle height</a:t>
            </a:r>
            <a:endParaRPr lang="en-US" sz="2000" dirty="0"/>
          </a:p>
        </p:txBody>
      </p:sp>
      <p:sp>
        <p:nvSpPr>
          <p:cNvPr id="10" name="takeaway card 3"/>
          <p:cNvSpPr/>
          <p:nvPr/>
        </p:nvSpPr>
        <p:spPr>
          <a:xfrm>
            <a:off x="8095488" y="4815571"/>
            <a:ext cx="3544824" cy="1402349"/>
          </a:xfrm>
          <a:prstGeom prst="roundRect">
            <a:avLst>
              <a:gd name="adj" fmla="val 6520"/>
            </a:avLst>
          </a:prstGeom>
          <a:solidFill>
            <a:schemeClr val="bg2"/>
          </a:solidFill>
          <a:ln/>
        </p:spPr>
      </p:sp>
      <p:sp>
        <p:nvSpPr>
          <p:cNvPr id="11" name="takeaway 3"/>
          <p:cNvSpPr txBox="1"/>
          <p:nvPr/>
        </p:nvSpPr>
        <p:spPr>
          <a:xfrm>
            <a:off x="8278368" y="4925299"/>
            <a:ext cx="3179064" cy="1219469"/>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−0.04 → 0.26</a:t>
            </a:r>
            <a:endParaRPr lang="en-US" sz="2000" dirty="0"/>
          </a:p>
          <a:p>
            <a:pPr indent="0" marL="0">
              <a:spcAft>
                <a:spcPts val="200"/>
              </a:spcAft>
              <a:buNone/>
            </a:pPr>
            <a:r>
              <a:rPr lang="en-US" sz="1400" dirty="0">
                <a:solidFill>
                  <a:schemeClr val="tx1"/>
                </a:solidFill>
              </a:rPr>
              <a:t>silhouette by height: raw → person-scaled features</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914400"/>
          </a:xfrm>
          <a:prstGeom prst="rect">
            <a:avLst/>
          </a:prstGeom>
          <a:noFill/>
          <a:ln/>
        </p:spPr>
        <p:txBody>
          <a:bodyPr wrap="square" lIns="0" tIns="0" rIns="0" bIns="0" rtlCol="0" anchor="ctr"/>
          <a:lstStyle/>
          <a:p>
            <a:pPr algn="l" indent="0" marL="0">
              <a:buNone/>
            </a:pPr>
            <a:r>
              <a:rPr lang="en-US" sz="4000" b="1" dirty="0">
                <a:solidFill>
                  <a:schemeClr val="bg1"/>
                </a:solidFill>
              </a:rPr>
              <a:t>Recognising the obstacle</a:t>
            </a:r>
            <a:endParaRPr lang="en-US" sz="4000" dirty="0"/>
          </a:p>
        </p:txBody>
      </p:sp>
      <p:sp>
        <p:nvSpPr>
          <p:cNvPr id="3" name="Text 0"/>
          <p:cNvSpPr/>
          <p:nvPr>
            <p:ph idx="101" type="body" hasCustomPrompt="1"/>
          </p:nvPr>
        </p:nvSpPr>
        <p:spPr>
          <a:xfrm>
            <a:off x="731520" y="356616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Obstacle height and width for a person the model has never seen</a:t>
            </a:r>
            <a:endParaRPr lang="en-US" sz="2000" dirty="0"/>
          </a:p>
        </p:txBody>
      </p:sp>
      <p:sp>
        <p:nvSpPr>
          <p:cNvPr id="4" name="section number"/>
          <p:cNvSpPr txBox="1"/>
          <p:nvPr/>
        </p:nvSpPr>
        <p:spPr>
          <a:xfrm>
            <a:off x="731520" y="1417320"/>
            <a:ext cx="2743200" cy="914400"/>
          </a:xfrm>
          <a:prstGeom prst="rect">
            <a:avLst/>
          </a:prstGeom>
          <a:noFill/>
          <a:ln/>
        </p:spPr>
        <p:txBody>
          <a:bodyPr wrap="square" lIns="0" tIns="0" rIns="0" bIns="0" rtlCol="0" anchor="b"/>
          <a:lstStyle/>
          <a:p>
            <a:pPr indent="0" marL="0">
              <a:buNone/>
            </a:pPr>
            <a:r>
              <a:rPr lang="en-US" sz="5400" b="1" dirty="0">
                <a:solidFill>
                  <a:schemeClr val="accent2"/>
                </a:solidFill>
              </a:rPr>
              <a:t>04</a:t>
            </a:r>
            <a:endParaRPr lang="en-US" sz="5400" dirty="0"/>
          </a:p>
        </p:txBody>
      </p:sp>
      <p:sp>
        <p:nvSpPr>
          <p:cNvPr id="5" name="section circle"/>
          <p:cNvSpPr/>
          <p:nvPr/>
        </p:nvSpPr>
        <p:spPr>
          <a:xfrm>
            <a:off x="8915400" y="2011680"/>
            <a:ext cx="2468880" cy="2468880"/>
          </a:xfrm>
          <a:prstGeom prst="ellipse">
            <a:avLst/>
          </a:prstGeom>
          <a:solidFill>
            <a:schemeClr val="accent4"/>
          </a:solidFill>
          <a:ln/>
        </p:spPr>
      </p:sp>
      <p:pic>
        <p:nvPicPr>
          <p:cNvPr id="6" name="section icon" descr="preencoded.png">    </p:cNvPr>
          <p:cNvPicPr>
            <a:picLocks noChangeAspect="1"/>
          </p:cNvPicPr>
          <p:nvPr/>
        </p:nvPicPr>
        <p:blipFill>
          <a:blip r:embed="rId1"/>
          <a:stretch>
            <a:fillRect/>
          </a:stretch>
        </p:blipFill>
        <p:spPr>
          <a:xfrm>
            <a:off x="9507931" y="2604211"/>
            <a:ext cx="1283818" cy="1283818"/>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Person scaling turns 60 % into 90 %</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The same features, scaled to the person's own crossings, recognise the height of a new person's obstacle.</a:t>
            </a:r>
            <a:endParaRPr lang="en-US" sz="1700" dirty="0"/>
          </a:p>
        </p:txBody>
      </p:sp>
      <p:pic>
        <p:nvPicPr>
          <p:cNvPr id="4" name="figure fig_limbs" descr="Accuracy of leading, trailing and fused models for height, width, six obstacles, obstacle vs level and limb role">    </p:cNvPr>
          <p:cNvPicPr>
            <a:picLocks noChangeAspect="1"/>
          </p:cNvPicPr>
          <p:nvPr/>
        </p:nvPicPr>
        <p:blipFill>
          <a:blip r:embed="rId1"/>
          <a:stretch>
            <a:fillRect/>
          </a:stretch>
        </p:blipFill>
        <p:spPr>
          <a:xfrm>
            <a:off x="548640" y="1645920"/>
            <a:ext cx="7005108" cy="4526280"/>
          </a:xfrm>
          <a:prstGeom prst="rect">
            <a:avLst/>
          </a:prstGeom>
        </p:spPr>
      </p:pic>
      <p:sp>
        <p:nvSpPr>
          <p:cNvPr id="5" name="takeaway card"/>
          <p:cNvSpPr/>
          <p:nvPr/>
        </p:nvSpPr>
        <p:spPr>
          <a:xfrm>
            <a:off x="7828068" y="1645920"/>
            <a:ext cx="3812244" cy="4526280"/>
          </a:xfrm>
          <a:prstGeom prst="roundRect">
            <a:avLst>
              <a:gd name="adj" fmla="val 2399"/>
            </a:avLst>
          </a:prstGeom>
          <a:solidFill>
            <a:schemeClr val="bg2"/>
          </a:solidFill>
          <a:ln/>
        </p:spPr>
      </p:sp>
      <p:sp>
        <p:nvSpPr>
          <p:cNvPr id="6" name="takeaway head"/>
          <p:cNvSpPr txBox="1"/>
          <p:nvPr/>
        </p:nvSpPr>
        <p:spPr>
          <a:xfrm>
            <a:off x="8056668" y="1828800"/>
            <a:ext cx="3355044"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8056668" y="2331720"/>
            <a:ext cx="3355044" cy="86868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56–62 %</a:t>
            </a:r>
            <a:endParaRPr lang="en-US" sz="2000" dirty="0"/>
          </a:p>
          <a:p>
            <a:pPr indent="0" marL="0">
              <a:spcAft>
                <a:spcPts val="200"/>
              </a:spcAft>
              <a:buNone/>
            </a:pPr>
            <a:r>
              <a:rPr lang="en-US" sz="1400" dirty="0">
                <a:solidFill>
                  <a:schemeClr val="tx1"/>
                </a:solidFill>
              </a:rPr>
              <a:t>generic models, height (chance 33 %)</a:t>
            </a:r>
            <a:endParaRPr lang="en-US" sz="2000" dirty="0"/>
          </a:p>
        </p:txBody>
      </p:sp>
      <p:sp>
        <p:nvSpPr>
          <p:cNvPr id="8" name="takeaway 2"/>
          <p:cNvSpPr txBox="1"/>
          <p:nvPr/>
        </p:nvSpPr>
        <p:spPr>
          <a:xfrm>
            <a:off x="8056668" y="3246120"/>
            <a:ext cx="3355044"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90 %</a:t>
            </a:r>
            <a:endParaRPr lang="en-US" sz="2000" dirty="0"/>
          </a:p>
          <a:p>
            <a:pPr indent="0" marL="0">
              <a:spcAft>
                <a:spcPts val="200"/>
              </a:spcAft>
              <a:buNone/>
            </a:pPr>
            <a:r>
              <a:rPr lang="en-US" sz="1400" dirty="0">
                <a:solidFill>
                  <a:schemeClr val="tx1"/>
                </a:solidFill>
              </a:rPr>
              <a:t>person scaling, forest vote of both legs (CI 85–95)</a:t>
            </a:r>
            <a:endParaRPr lang="en-US" sz="2000" dirty="0"/>
          </a:p>
        </p:txBody>
      </p:sp>
      <p:sp>
        <p:nvSpPr>
          <p:cNvPr id="9" name="takeaway 3"/>
          <p:cNvSpPr txBox="1"/>
          <p:nvPr/>
        </p:nvSpPr>
        <p:spPr>
          <a:xfrm>
            <a:off x="8056668" y="4160520"/>
            <a:ext cx="3355044"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29 → 61 %</a:t>
            </a:r>
            <a:endParaRPr lang="en-US" sz="2000" dirty="0"/>
          </a:p>
          <a:p>
            <a:pPr indent="0" marL="0">
              <a:spcAft>
                <a:spcPts val="200"/>
              </a:spcAft>
              <a:buNone/>
            </a:pPr>
            <a:r>
              <a:rPr lang="en-US" sz="1400" dirty="0">
                <a:solidFill>
                  <a:schemeClr val="tx1"/>
                </a:solidFill>
              </a:rPr>
              <a:t>six obstacles, generic → person scaling (chance 17 %)</a:t>
            </a:r>
            <a:endParaRPr lang="en-US" sz="2000" dirty="0"/>
          </a:p>
        </p:txBody>
      </p:sp>
      <p:sp>
        <p:nvSpPr>
          <p:cNvPr id="10" name="takeaway 4"/>
          <p:cNvSpPr txBox="1"/>
          <p:nvPr/>
        </p:nvSpPr>
        <p:spPr>
          <a:xfrm>
            <a:off x="8056668" y="5074920"/>
            <a:ext cx="3355044"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100 %</a:t>
            </a:r>
            <a:endParaRPr lang="en-US" sz="2000" dirty="0"/>
          </a:p>
          <a:p>
            <a:pPr indent="0" marL="0">
              <a:spcAft>
                <a:spcPts val="200"/>
              </a:spcAft>
              <a:buNone/>
            </a:pPr>
            <a:r>
              <a:rPr lang="en-US" sz="1400" dirty="0">
                <a:solidFill>
                  <a:schemeClr val="tx1"/>
                </a:solidFill>
              </a:rPr>
              <a:t>leading vs trailing swing; crossing vs level stride</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Which sensor data carry the height</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Generic model: every feature set beats chance, but none is good enough on its own.</a:t>
            </a:r>
            <a:endParaRPr lang="en-US" sz="1700" dirty="0"/>
          </a:p>
        </p:txBody>
      </p:sp>
      <p:pic>
        <p:nvPicPr>
          <p:cNvPr id="4" name="figure fig_feature_sets" descr="Generic accuracy of each Dot feature set for height and width with the permutation null">    </p:cNvPr>
          <p:cNvPicPr>
            <a:picLocks noChangeAspect="1"/>
          </p:cNvPicPr>
          <p:nvPr/>
        </p:nvPicPr>
        <p:blipFill>
          <a:blip r:embed="rId1"/>
          <a:stretch>
            <a:fillRect/>
          </a:stretch>
        </p:blipFill>
        <p:spPr>
          <a:xfrm>
            <a:off x="548640" y="1645920"/>
            <a:ext cx="6419865" cy="4526280"/>
          </a:xfrm>
          <a:prstGeom prst="rect">
            <a:avLst/>
          </a:prstGeom>
        </p:spPr>
      </p:pic>
      <p:sp>
        <p:nvSpPr>
          <p:cNvPr id="5" name="takeaway card"/>
          <p:cNvSpPr/>
          <p:nvPr/>
        </p:nvSpPr>
        <p:spPr>
          <a:xfrm>
            <a:off x="7242825" y="1645920"/>
            <a:ext cx="4397487" cy="4526280"/>
          </a:xfrm>
          <a:prstGeom prst="roundRect">
            <a:avLst>
              <a:gd name="adj" fmla="val 2079"/>
            </a:avLst>
          </a:prstGeom>
          <a:solidFill>
            <a:schemeClr val="bg2"/>
          </a:solidFill>
          <a:ln/>
        </p:spPr>
      </p:sp>
      <p:sp>
        <p:nvSpPr>
          <p:cNvPr id="6" name="takeaway head"/>
          <p:cNvSpPr txBox="1"/>
          <p:nvPr/>
        </p:nvSpPr>
        <p:spPr>
          <a:xfrm>
            <a:off x="7471425" y="1828800"/>
            <a:ext cx="3940287"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7471425" y="2331720"/>
            <a:ext cx="3940287"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p ≤ 0.037</a:t>
            </a:r>
            <a:endParaRPr lang="en-US" sz="2000" dirty="0"/>
          </a:p>
          <a:p>
            <a:pPr indent="0" marL="0">
              <a:spcAft>
                <a:spcPts val="200"/>
              </a:spcAft>
              <a:buNone/>
            </a:pPr>
            <a:r>
              <a:rPr lang="en-US" sz="1400" dirty="0">
                <a:solidFill>
                  <a:schemeClr val="tx1"/>
                </a:solidFill>
              </a:rPr>
              <a:t>every feature set predicts height above its permutation null</a:t>
            </a:r>
            <a:endParaRPr lang="en-US" sz="2000" dirty="0"/>
          </a:p>
        </p:txBody>
      </p:sp>
      <p:sp>
        <p:nvSpPr>
          <p:cNvPr id="8" name="takeaway 2"/>
          <p:cNvSpPr txBox="1"/>
          <p:nvPr/>
        </p:nvSpPr>
        <p:spPr>
          <a:xfrm>
            <a:off x="7471425" y="3246120"/>
            <a:ext cx="3940287" cy="86868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66.5 %</a:t>
            </a:r>
            <a:endParaRPr lang="en-US" sz="2000" dirty="0"/>
          </a:p>
          <a:p>
            <a:pPr indent="0" marL="0">
              <a:spcAft>
                <a:spcPts val="200"/>
              </a:spcAft>
              <a:buNone/>
            </a:pPr>
            <a:r>
              <a:rPr lang="en-US" sz="1400" dirty="0">
                <a:solidFill>
                  <a:schemeClr val="tx1"/>
                </a:solidFill>
              </a:rPr>
              <a:t>best set: the leading foot angles</a:t>
            </a:r>
            <a:endParaRPr lang="en-US" sz="2000" dirty="0"/>
          </a:p>
        </p:txBody>
      </p:sp>
      <p:sp>
        <p:nvSpPr>
          <p:cNvPr id="9" name="takeaway 3"/>
          <p:cNvSpPr txBox="1"/>
          <p:nvPr/>
        </p:nvSpPr>
        <p:spPr>
          <a:xfrm>
            <a:off x="7471425" y="4160520"/>
            <a:ext cx="3940287" cy="86868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Thigh: leading</a:t>
            </a:r>
            <a:endParaRPr lang="en-US" sz="2000" dirty="0"/>
          </a:p>
          <a:p>
            <a:pPr indent="0" marL="0">
              <a:spcAft>
                <a:spcPts val="200"/>
              </a:spcAft>
              <a:buNone/>
            </a:pPr>
            <a:r>
              <a:rPr lang="en-US" sz="1400" dirty="0">
                <a:solidFill>
                  <a:schemeClr val="tx1"/>
                </a:solidFill>
              </a:rPr>
              <a:t>thigh and foot angles: leading leg; shank: trailing leg</a:t>
            </a:r>
            <a:endParaRPr lang="en-US" sz="2000" dirty="0"/>
          </a:p>
        </p:txBody>
      </p:sp>
      <p:sp>
        <p:nvSpPr>
          <p:cNvPr id="10" name="takeaway 4"/>
          <p:cNvSpPr txBox="1"/>
          <p:nvPr/>
        </p:nvSpPr>
        <p:spPr>
          <a:xfrm>
            <a:off x="7471425" y="5074920"/>
            <a:ext cx="3940287" cy="86868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46–59 %</a:t>
            </a:r>
            <a:endParaRPr lang="en-US" sz="2000" dirty="0"/>
          </a:p>
          <a:p>
            <a:pPr indent="0" marL="0">
              <a:spcAft>
                <a:spcPts val="200"/>
              </a:spcAft>
              <a:buNone/>
            </a:pPr>
            <a:r>
              <a:rPr lang="en-US" sz="1400" dirty="0">
                <a:solidFill>
                  <a:schemeClr val="tx1"/>
                </a:solidFill>
              </a:rPr>
              <a:t>width with any set: around its null (chance 50 %)</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Generic errors fall between neighbouring heights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The generic model rarely mixes H1 with H3 but often misses the middle height.</a:t>
            </a:r>
            <a:endParaRPr lang="en-US" sz="1700" dirty="0"/>
          </a:p>
        </p:txBody>
      </p:sp>
      <p:pic>
        <p:nvPicPr>
          <p:cNvPr id="4" name="figure fig_confusion" descr="Confusion matrices of the generic model for height and width">    </p:cNvPr>
          <p:cNvPicPr>
            <a:picLocks noChangeAspect="1"/>
          </p:cNvPicPr>
          <p:nvPr/>
        </p:nvPicPr>
        <p:blipFill>
          <a:blip r:embed="rId1"/>
          <a:stretch>
            <a:fillRect/>
          </a:stretch>
        </p:blipFill>
        <p:spPr>
          <a:xfrm>
            <a:off x="1437799" y="1600200"/>
            <a:ext cx="9313354" cy="3657600"/>
          </a:xfrm>
          <a:prstGeom prst="rect">
            <a:avLst/>
          </a:prstGeom>
        </p:spPr>
      </p:pic>
      <p:sp>
        <p:nvSpPr>
          <p:cNvPr id="5" name="takeaway card 1"/>
          <p:cNvSpPr/>
          <p:nvPr/>
        </p:nvSpPr>
        <p:spPr>
          <a:xfrm>
            <a:off x="548640" y="5486400"/>
            <a:ext cx="3544824" cy="731520"/>
          </a:xfrm>
          <a:prstGeom prst="roundRect">
            <a:avLst>
              <a:gd name="adj" fmla="val 12500"/>
            </a:avLst>
          </a:prstGeom>
          <a:solidFill>
            <a:schemeClr val="bg2"/>
          </a:solidFill>
          <a:ln/>
        </p:spPr>
      </p:sp>
      <p:sp>
        <p:nvSpPr>
          <p:cNvPr id="6" name="takeaway 1"/>
          <p:cNvSpPr txBox="1"/>
          <p:nvPr/>
        </p:nvSpPr>
        <p:spPr>
          <a:xfrm>
            <a:off x="731520" y="5596128"/>
            <a:ext cx="3179064" cy="54864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4 of 170</a:t>
            </a:r>
            <a:endParaRPr lang="en-US" sz="2000" dirty="0"/>
          </a:p>
          <a:p>
            <a:pPr indent="0" marL="0">
              <a:spcAft>
                <a:spcPts val="200"/>
              </a:spcAft>
              <a:buNone/>
            </a:pPr>
            <a:r>
              <a:rPr lang="en-US" sz="1400" dirty="0">
                <a:solidFill>
                  <a:schemeClr val="tx1"/>
                </a:solidFill>
              </a:rPr>
              <a:t>H1 and H3 crossings confused (all features)</a:t>
            </a:r>
            <a:endParaRPr lang="en-US" sz="2000" dirty="0"/>
          </a:p>
        </p:txBody>
      </p:sp>
      <p:sp>
        <p:nvSpPr>
          <p:cNvPr id="7" name="takeaway card 2"/>
          <p:cNvSpPr/>
          <p:nvPr/>
        </p:nvSpPr>
        <p:spPr>
          <a:xfrm>
            <a:off x="4322064" y="5486400"/>
            <a:ext cx="3544824" cy="731520"/>
          </a:xfrm>
          <a:prstGeom prst="roundRect">
            <a:avLst>
              <a:gd name="adj" fmla="val 12500"/>
            </a:avLst>
          </a:prstGeom>
          <a:solidFill>
            <a:schemeClr val="bg2"/>
          </a:solidFill>
          <a:ln/>
        </p:spPr>
      </p:sp>
      <p:sp>
        <p:nvSpPr>
          <p:cNvPr id="8" name="takeaway 2"/>
          <p:cNvSpPr txBox="1"/>
          <p:nvPr/>
        </p:nvSpPr>
        <p:spPr>
          <a:xfrm>
            <a:off x="4504944" y="5596128"/>
            <a:ext cx="3179064" cy="54864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39 %</a:t>
            </a:r>
            <a:endParaRPr lang="en-US" sz="2000" dirty="0"/>
          </a:p>
          <a:p>
            <a:pPr indent="0" marL="0">
              <a:spcAft>
                <a:spcPts val="200"/>
              </a:spcAft>
              <a:buNone/>
            </a:pPr>
            <a:r>
              <a:rPr lang="en-US" sz="1400" dirty="0">
                <a:solidFill>
                  <a:schemeClr val="tx1"/>
                </a:solidFill>
              </a:rPr>
              <a:t>H2 recognised (50 % with the leading leg alone)</a:t>
            </a:r>
            <a:endParaRPr lang="en-US" sz="2000" dirty="0"/>
          </a:p>
        </p:txBody>
      </p:sp>
      <p:sp>
        <p:nvSpPr>
          <p:cNvPr id="9" name="takeaway card 3"/>
          <p:cNvSpPr/>
          <p:nvPr/>
        </p:nvSpPr>
        <p:spPr>
          <a:xfrm>
            <a:off x="8095488" y="5486400"/>
            <a:ext cx="3544824" cy="731520"/>
          </a:xfrm>
          <a:prstGeom prst="roundRect">
            <a:avLst>
              <a:gd name="adj" fmla="val 12500"/>
            </a:avLst>
          </a:prstGeom>
          <a:solidFill>
            <a:schemeClr val="bg2"/>
          </a:solidFill>
          <a:ln/>
        </p:spPr>
      </p:sp>
      <p:sp>
        <p:nvSpPr>
          <p:cNvPr id="10" name="takeaway 3"/>
          <p:cNvSpPr txBox="1"/>
          <p:nvPr/>
        </p:nvSpPr>
        <p:spPr>
          <a:xfrm>
            <a:off x="8278368" y="5596128"/>
            <a:ext cx="3179064" cy="54864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62 / 53 %</a:t>
            </a:r>
            <a:endParaRPr lang="en-US" sz="2000" dirty="0"/>
          </a:p>
          <a:p>
            <a:pPr indent="0" marL="0">
              <a:spcAft>
                <a:spcPts val="200"/>
              </a:spcAft>
              <a:buNone/>
            </a:pPr>
            <a:r>
              <a:rPr lang="en-US" sz="1400" dirty="0">
                <a:solidFill>
                  <a:schemeClr val="tx1"/>
                </a:solidFill>
              </a:rPr>
              <a:t>width: the 5 cm / 15 cm obstacle recognised</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The generic model varies between people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Some people are recognised well, others near chance: a sign of personal offsets.</a:t>
            </a:r>
            <a:endParaRPr lang="en-US" sz="1700" dirty="0"/>
          </a:p>
        </p:txBody>
      </p:sp>
      <p:pic>
        <p:nvPicPr>
          <p:cNvPr id="4" name="figure fig_participants" descr="Generic accuracy per participant for all features, leading leg only and trailing leg only">    </p:cNvPr>
          <p:cNvPicPr>
            <a:picLocks noChangeAspect="1"/>
          </p:cNvPicPr>
          <p:nvPr/>
        </p:nvPicPr>
        <p:blipFill>
          <a:blip r:embed="rId1"/>
          <a:stretch>
            <a:fillRect/>
          </a:stretch>
        </p:blipFill>
        <p:spPr>
          <a:xfrm>
            <a:off x="2314464" y="1600200"/>
            <a:ext cx="7560025" cy="3611880"/>
          </a:xfrm>
          <a:prstGeom prst="rect">
            <a:avLst/>
          </a:prstGeom>
        </p:spPr>
      </p:pic>
      <p:sp>
        <p:nvSpPr>
          <p:cNvPr id="5" name="takeaway card 1"/>
          <p:cNvSpPr/>
          <p:nvPr/>
        </p:nvSpPr>
        <p:spPr>
          <a:xfrm>
            <a:off x="548640" y="5440680"/>
            <a:ext cx="3544824" cy="777240"/>
          </a:xfrm>
          <a:prstGeom prst="roundRect">
            <a:avLst>
              <a:gd name="adj" fmla="val 11765"/>
            </a:avLst>
          </a:prstGeom>
          <a:solidFill>
            <a:schemeClr val="bg2"/>
          </a:solidFill>
          <a:ln/>
        </p:spPr>
      </p:sp>
      <p:sp>
        <p:nvSpPr>
          <p:cNvPr id="6" name="takeaway 1"/>
          <p:cNvSpPr txBox="1"/>
          <p:nvPr/>
        </p:nvSpPr>
        <p:spPr>
          <a:xfrm>
            <a:off x="731520" y="5550408"/>
            <a:ext cx="3179064" cy="59436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31–74 %</a:t>
            </a:r>
            <a:endParaRPr lang="en-US" sz="2000" dirty="0"/>
          </a:p>
          <a:p>
            <a:pPr indent="0" marL="0">
              <a:spcAft>
                <a:spcPts val="200"/>
              </a:spcAft>
              <a:buNone/>
            </a:pPr>
            <a:r>
              <a:rPr lang="en-US" sz="1400" dirty="0">
                <a:solidFill>
                  <a:schemeClr val="tx1"/>
                </a:solidFill>
              </a:rPr>
              <a:t>all features, per participant</a:t>
            </a:r>
            <a:endParaRPr lang="en-US" sz="2000" dirty="0"/>
          </a:p>
        </p:txBody>
      </p:sp>
      <p:sp>
        <p:nvSpPr>
          <p:cNvPr id="7" name="takeaway card 2"/>
          <p:cNvSpPr/>
          <p:nvPr/>
        </p:nvSpPr>
        <p:spPr>
          <a:xfrm>
            <a:off x="4322064" y="5440680"/>
            <a:ext cx="3544824" cy="777240"/>
          </a:xfrm>
          <a:prstGeom prst="roundRect">
            <a:avLst>
              <a:gd name="adj" fmla="val 11765"/>
            </a:avLst>
          </a:prstGeom>
          <a:solidFill>
            <a:schemeClr val="bg2"/>
          </a:solidFill>
          <a:ln/>
        </p:spPr>
      </p:sp>
      <p:sp>
        <p:nvSpPr>
          <p:cNvPr id="8" name="takeaway 2"/>
          <p:cNvSpPr txBox="1"/>
          <p:nvPr/>
        </p:nvSpPr>
        <p:spPr>
          <a:xfrm>
            <a:off x="4504944" y="5550408"/>
            <a:ext cx="3179064" cy="59436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42–85 %</a:t>
            </a:r>
            <a:endParaRPr lang="en-US" sz="2000" dirty="0"/>
          </a:p>
          <a:p>
            <a:pPr indent="0" marL="0">
              <a:spcAft>
                <a:spcPts val="200"/>
              </a:spcAft>
              <a:buNone/>
            </a:pPr>
            <a:r>
              <a:rPr lang="en-US" sz="1400" dirty="0">
                <a:solidFill>
                  <a:schemeClr val="tx1"/>
                </a:solidFill>
              </a:rPr>
              <a:t>leading leg only</a:t>
            </a:r>
            <a:endParaRPr lang="en-US" sz="2000" dirty="0"/>
          </a:p>
        </p:txBody>
      </p:sp>
      <p:sp>
        <p:nvSpPr>
          <p:cNvPr id="9" name="takeaway card 3"/>
          <p:cNvSpPr/>
          <p:nvPr/>
        </p:nvSpPr>
        <p:spPr>
          <a:xfrm>
            <a:off x="8095488" y="5440680"/>
            <a:ext cx="3544824" cy="777240"/>
          </a:xfrm>
          <a:prstGeom prst="roundRect">
            <a:avLst>
              <a:gd name="adj" fmla="val 11765"/>
            </a:avLst>
          </a:prstGeom>
          <a:solidFill>
            <a:schemeClr val="bg2"/>
          </a:solidFill>
          <a:ln/>
        </p:spPr>
      </p:sp>
      <p:sp>
        <p:nvSpPr>
          <p:cNvPr id="10" name="takeaway 3"/>
          <p:cNvSpPr txBox="1"/>
          <p:nvPr/>
        </p:nvSpPr>
        <p:spPr>
          <a:xfrm>
            <a:off x="8278368" y="5550408"/>
            <a:ext cx="3179064" cy="59436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108: 85 vs 31 %</a:t>
            </a:r>
            <a:endParaRPr lang="en-US" sz="2000" dirty="0"/>
          </a:p>
          <a:p>
            <a:pPr indent="0" marL="0">
              <a:spcAft>
                <a:spcPts val="200"/>
              </a:spcAft>
              <a:buNone/>
            </a:pPr>
            <a:r>
              <a:rPr lang="en-US" sz="1400" dirty="0">
                <a:solidFill>
                  <a:schemeClr val="tx1"/>
                </a:solidFill>
              </a:rPr>
              <a:t>leading vs trailing leg: their trailing lift is the least consistent</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Better inputs and fair model choice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Shape features help the generic model; person scaling is what makes the large step.</a:t>
            </a:r>
            <a:endParaRPr lang="en-US" sz="1700" dirty="0"/>
          </a:p>
        </p:txBody>
      </p:sp>
      <p:pic>
        <p:nvPicPr>
          <p:cNvPr id="4" name="figure fig_explore" descr="Accuracy of the main model-improvement ideas and of a short personal calibration">    </p:cNvPr>
          <p:cNvPicPr>
            <a:picLocks noChangeAspect="1"/>
          </p:cNvPicPr>
          <p:nvPr/>
        </p:nvPicPr>
        <p:blipFill>
          <a:blip r:embed="rId1"/>
          <a:stretch>
            <a:fillRect/>
          </a:stretch>
        </p:blipFill>
        <p:spPr>
          <a:xfrm>
            <a:off x="2448771" y="1600200"/>
            <a:ext cx="7291409" cy="3291840"/>
          </a:xfrm>
          <a:prstGeom prst="rect">
            <a:avLst/>
          </a:prstGeom>
        </p:spPr>
      </p:pic>
      <p:sp>
        <p:nvSpPr>
          <p:cNvPr id="5" name="takeaway card 1"/>
          <p:cNvSpPr/>
          <p:nvPr/>
        </p:nvSpPr>
        <p:spPr>
          <a:xfrm>
            <a:off x="548640" y="5120640"/>
            <a:ext cx="2601468" cy="1097280"/>
          </a:xfrm>
          <a:prstGeom prst="roundRect">
            <a:avLst>
              <a:gd name="adj" fmla="val 8333"/>
            </a:avLst>
          </a:prstGeom>
          <a:solidFill>
            <a:schemeClr val="bg2"/>
          </a:solidFill>
          <a:ln/>
        </p:spPr>
      </p:sp>
      <p:sp>
        <p:nvSpPr>
          <p:cNvPr id="6" name="takeaway 1"/>
          <p:cNvSpPr txBox="1"/>
          <p:nvPr/>
        </p:nvSpPr>
        <p:spPr>
          <a:xfrm>
            <a:off x="731520" y="5230368"/>
            <a:ext cx="2235708" cy="91440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72.8 %</a:t>
            </a:r>
            <a:endParaRPr lang="en-US" sz="2000" dirty="0"/>
          </a:p>
          <a:p>
            <a:pPr indent="0" marL="0">
              <a:spcAft>
                <a:spcPts val="200"/>
              </a:spcAft>
              <a:buNone/>
            </a:pPr>
            <a:r>
              <a:rPr lang="en-US" sz="1400" dirty="0">
                <a:solidFill>
                  <a:schemeClr val="tx1"/>
                </a:solidFill>
              </a:rPr>
              <a:t>clearance-shape features, generic (vs 62.1 % summary)</a:t>
            </a:r>
            <a:endParaRPr lang="en-US" sz="2000" dirty="0"/>
          </a:p>
        </p:txBody>
      </p:sp>
      <p:sp>
        <p:nvSpPr>
          <p:cNvPr id="7" name="takeaway card 2"/>
          <p:cNvSpPr/>
          <p:nvPr/>
        </p:nvSpPr>
        <p:spPr>
          <a:xfrm>
            <a:off x="3378708" y="5120640"/>
            <a:ext cx="2601468" cy="1097280"/>
          </a:xfrm>
          <a:prstGeom prst="roundRect">
            <a:avLst>
              <a:gd name="adj" fmla="val 8333"/>
            </a:avLst>
          </a:prstGeom>
          <a:solidFill>
            <a:schemeClr val="bg2"/>
          </a:solidFill>
          <a:ln/>
        </p:spPr>
      </p:sp>
      <p:sp>
        <p:nvSpPr>
          <p:cNvPr id="8" name="takeaway 2"/>
          <p:cNvSpPr txBox="1"/>
          <p:nvPr/>
        </p:nvSpPr>
        <p:spPr>
          <a:xfrm>
            <a:off x="3561588" y="5230368"/>
            <a:ext cx="2235708" cy="91440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69.4 %</a:t>
            </a:r>
            <a:endParaRPr lang="en-US" sz="2000" dirty="0"/>
          </a:p>
          <a:p>
            <a:pPr indent="0" marL="0">
              <a:spcAft>
                <a:spcPts val="200"/>
              </a:spcAft>
              <a:buNone/>
            </a:pPr>
            <a:r>
              <a:rPr lang="en-US" sz="1400" dirty="0">
                <a:solidFill>
                  <a:schemeClr val="tx1"/>
                </a:solidFill>
              </a:rPr>
              <a:t>fair (nested) choice among generic settings</a:t>
            </a:r>
            <a:endParaRPr lang="en-US" sz="2000" dirty="0"/>
          </a:p>
        </p:txBody>
      </p:sp>
      <p:sp>
        <p:nvSpPr>
          <p:cNvPr id="9" name="takeaway card 3"/>
          <p:cNvSpPr/>
          <p:nvPr/>
        </p:nvSpPr>
        <p:spPr>
          <a:xfrm>
            <a:off x="6208776" y="5120640"/>
            <a:ext cx="2601468" cy="1097280"/>
          </a:xfrm>
          <a:prstGeom prst="roundRect">
            <a:avLst>
              <a:gd name="adj" fmla="val 8333"/>
            </a:avLst>
          </a:prstGeom>
          <a:solidFill>
            <a:schemeClr val="bg2"/>
          </a:solidFill>
          <a:ln/>
        </p:spPr>
      </p:sp>
      <p:sp>
        <p:nvSpPr>
          <p:cNvPr id="10" name="takeaway 3"/>
          <p:cNvSpPr txBox="1"/>
          <p:nvPr/>
        </p:nvSpPr>
        <p:spPr>
          <a:xfrm>
            <a:off x="6391656" y="5230368"/>
            <a:ext cx="2235708" cy="91440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91.5 %</a:t>
            </a:r>
            <a:endParaRPr lang="en-US" sz="2000" dirty="0"/>
          </a:p>
          <a:p>
            <a:pPr indent="0" marL="0">
              <a:spcAft>
                <a:spcPts val="200"/>
              </a:spcAft>
              <a:buNone/>
            </a:pPr>
            <a:r>
              <a:rPr lang="en-US" sz="1400" dirty="0">
                <a:solidFill>
                  <a:schemeClr val="tx1"/>
                </a:solidFill>
              </a:rPr>
              <a:t>fair choice among all settings (95 % CI 86–97)</a:t>
            </a:r>
            <a:endParaRPr lang="en-US" sz="2000" dirty="0"/>
          </a:p>
        </p:txBody>
      </p:sp>
      <p:sp>
        <p:nvSpPr>
          <p:cNvPr id="11" name="takeaway card 4"/>
          <p:cNvSpPr/>
          <p:nvPr/>
        </p:nvSpPr>
        <p:spPr>
          <a:xfrm>
            <a:off x="9038844" y="5120640"/>
            <a:ext cx="2601468" cy="1097280"/>
          </a:xfrm>
          <a:prstGeom prst="roundRect">
            <a:avLst>
              <a:gd name="adj" fmla="val 8333"/>
            </a:avLst>
          </a:prstGeom>
          <a:solidFill>
            <a:schemeClr val="bg2"/>
          </a:solidFill>
          <a:ln/>
        </p:spPr>
      </p:sp>
      <p:sp>
        <p:nvSpPr>
          <p:cNvPr id="12" name="takeaway 4"/>
          <p:cNvSpPr txBox="1"/>
          <p:nvPr/>
        </p:nvSpPr>
        <p:spPr>
          <a:xfrm>
            <a:off x="9221724" y="5230368"/>
            <a:ext cx="2235708" cy="91440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88.0 %</a:t>
            </a:r>
            <a:endParaRPr lang="en-US" sz="2000" dirty="0"/>
          </a:p>
          <a:p>
            <a:pPr indent="0" marL="0">
              <a:spcAft>
                <a:spcPts val="200"/>
              </a:spcAft>
              <a:buNone/>
            </a:pPr>
            <a:r>
              <a:rPr lang="en-US" sz="1400" dirty="0">
                <a:solidFill>
                  <a:schemeClr val="tx1"/>
                </a:solidFill>
              </a:rPr>
              <a:t>1D CNN on the raw curves, no hand-made features</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Which segment, and how early</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The foot carries the most; the leading leg gives the height before the trailing leg lifts.</a:t>
            </a:r>
            <a:endParaRPr lang="en-US" sz="1700" dirty="0"/>
          </a:p>
        </p:txBody>
      </p:sp>
      <p:pic>
        <p:nvPicPr>
          <p:cNvPr id="4" name="figure fig_settings" descr="Height accuracy by segment and limb, and over the leading swing, generic vs person scaling">    </p:cNvPr>
          <p:cNvPicPr>
            <a:picLocks noChangeAspect="1"/>
          </p:cNvPicPr>
          <p:nvPr/>
        </p:nvPicPr>
        <p:blipFill>
          <a:blip r:embed="rId1"/>
          <a:stretch>
            <a:fillRect/>
          </a:stretch>
        </p:blipFill>
        <p:spPr>
          <a:xfrm>
            <a:off x="548640" y="1645920"/>
            <a:ext cx="7150721" cy="4526280"/>
          </a:xfrm>
          <a:prstGeom prst="rect">
            <a:avLst/>
          </a:prstGeom>
        </p:spPr>
      </p:pic>
      <p:sp>
        <p:nvSpPr>
          <p:cNvPr id="5" name="takeaway card"/>
          <p:cNvSpPr/>
          <p:nvPr/>
        </p:nvSpPr>
        <p:spPr>
          <a:xfrm>
            <a:off x="7973681" y="1645920"/>
            <a:ext cx="3666631" cy="4526280"/>
          </a:xfrm>
          <a:prstGeom prst="roundRect">
            <a:avLst>
              <a:gd name="adj" fmla="val 2494"/>
            </a:avLst>
          </a:prstGeom>
          <a:solidFill>
            <a:schemeClr val="bg2"/>
          </a:solidFill>
          <a:ln/>
        </p:spPr>
      </p:sp>
      <p:sp>
        <p:nvSpPr>
          <p:cNvPr id="6" name="takeaway head"/>
          <p:cNvSpPr txBox="1"/>
          <p:nvPr/>
        </p:nvSpPr>
        <p:spPr>
          <a:xfrm>
            <a:off x="8202281" y="1828800"/>
            <a:ext cx="3209431"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8202281" y="2331720"/>
            <a:ext cx="3209431"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88–89 %</a:t>
            </a:r>
            <a:endParaRPr lang="en-US" sz="2000" dirty="0"/>
          </a:p>
          <a:p>
            <a:pPr indent="0" marL="0">
              <a:spcAft>
                <a:spcPts val="200"/>
              </a:spcAft>
              <a:buNone/>
            </a:pPr>
            <a:r>
              <a:rPr lang="en-US" sz="1400" dirty="0">
                <a:solidFill>
                  <a:schemeClr val="tx1"/>
                </a:solidFill>
              </a:rPr>
              <a:t>foot angles or foot trajectory alone (person scaling)</a:t>
            </a:r>
            <a:endParaRPr lang="en-US" sz="2000" dirty="0"/>
          </a:p>
        </p:txBody>
      </p:sp>
      <p:sp>
        <p:nvSpPr>
          <p:cNvPr id="8" name="takeaway 2"/>
          <p:cNvSpPr txBox="1"/>
          <p:nvPr/>
        </p:nvSpPr>
        <p:spPr>
          <a:xfrm>
            <a:off x="8202281" y="3246120"/>
            <a:ext cx="3209431" cy="86868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77 vs 44 %</a:t>
            </a:r>
            <a:endParaRPr lang="en-US" sz="2000" dirty="0"/>
          </a:p>
          <a:p>
            <a:pPr indent="0" marL="0">
              <a:spcAft>
                <a:spcPts val="200"/>
              </a:spcAft>
              <a:buNone/>
            </a:pPr>
            <a:r>
              <a:rPr lang="en-US" sz="1400" dirty="0">
                <a:solidFill>
                  <a:schemeClr val="tx1"/>
                </a:solidFill>
              </a:rPr>
              <a:t>thigh: leading vs trailing leg</a:t>
            </a:r>
            <a:endParaRPr lang="en-US" sz="2000" dirty="0"/>
          </a:p>
        </p:txBody>
      </p:sp>
      <p:sp>
        <p:nvSpPr>
          <p:cNvPr id="9" name="takeaway 3"/>
          <p:cNvSpPr txBox="1"/>
          <p:nvPr/>
        </p:nvSpPr>
        <p:spPr>
          <a:xfrm>
            <a:off x="8202281" y="4160520"/>
            <a:ext cx="3209431"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52 → 80 %</a:t>
            </a:r>
            <a:endParaRPr lang="en-US" sz="2000" dirty="0"/>
          </a:p>
          <a:p>
            <a:pPr indent="0" marL="0">
              <a:spcAft>
                <a:spcPts val="200"/>
              </a:spcAft>
              <a:buNone/>
            </a:pPr>
            <a:r>
              <a:rPr lang="en-US" sz="1400" dirty="0">
                <a:solidFill>
                  <a:schemeClr val="tx1"/>
                </a:solidFill>
              </a:rPr>
              <a:t>from the leading toe-off to its apex, 0.46 s before the deadline</a:t>
            </a:r>
            <a:endParaRPr lang="en-US" sz="2000" dirty="0"/>
          </a:p>
        </p:txBody>
      </p:sp>
      <p:sp>
        <p:nvSpPr>
          <p:cNvPr id="10" name="takeaway 4"/>
          <p:cNvSpPr txBox="1"/>
          <p:nvPr/>
        </p:nvSpPr>
        <p:spPr>
          <a:xfrm>
            <a:off x="8202281" y="5074920"/>
            <a:ext cx="3209431"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88.5 %</a:t>
            </a:r>
            <a:endParaRPr lang="en-US" sz="2000" dirty="0"/>
          </a:p>
          <a:p>
            <a:pPr indent="0" marL="0">
              <a:spcAft>
                <a:spcPts val="200"/>
              </a:spcAft>
              <a:buNone/>
            </a:pPr>
            <a:r>
              <a:rPr lang="en-US" sz="1400" dirty="0">
                <a:solidFill>
                  <a:schemeClr val="tx1"/>
                </a:solidFill>
              </a:rPr>
              <a:t>at 70 % of the leading swing, 0.36 s before</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More data does not fix the generic model</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The generic model plateaus early, and more training people barely help.</a:t>
            </a:r>
            <a:endParaRPr lang="en-US" sz="1700" dirty="0"/>
          </a:p>
        </p:txBody>
      </p:sp>
      <p:pic>
        <p:nvPicPr>
          <p:cNvPr id="4" name="figure fig_cueing_time" descr="Generic accuracy using the leading-limb data available up to each moment">    </p:cNvPr>
          <p:cNvPicPr>
            <a:picLocks noChangeAspect="1"/>
          </p:cNvPicPr>
          <p:nvPr/>
        </p:nvPicPr>
        <p:blipFill>
          <a:blip r:embed="rId1"/>
          <a:stretch>
            <a:fillRect/>
          </a:stretch>
        </p:blipFill>
        <p:spPr>
          <a:xfrm>
            <a:off x="548640" y="1600200"/>
            <a:ext cx="5486400" cy="2845119"/>
          </a:xfrm>
          <a:prstGeom prst="rect">
            <a:avLst/>
          </a:prstGeom>
        </p:spPr>
      </p:pic>
      <p:pic>
        <p:nvPicPr>
          <p:cNvPr id="5" name="figure fig_learning_curve" descr="Learning curve of the generic model over the number of training participants">    </p:cNvPr>
          <p:cNvPicPr>
            <a:picLocks noChangeAspect="1"/>
          </p:cNvPicPr>
          <p:nvPr/>
        </p:nvPicPr>
        <p:blipFill>
          <a:blip r:embed="rId2"/>
          <a:stretch>
            <a:fillRect/>
          </a:stretch>
        </p:blipFill>
        <p:spPr>
          <a:xfrm>
            <a:off x="6263640" y="1600200"/>
            <a:ext cx="5376672" cy="3031467"/>
          </a:xfrm>
          <a:prstGeom prst="rect">
            <a:avLst/>
          </a:prstGeom>
        </p:spPr>
      </p:pic>
      <p:sp>
        <p:nvSpPr>
          <p:cNvPr id="6" name="takeaway card 1"/>
          <p:cNvSpPr/>
          <p:nvPr/>
        </p:nvSpPr>
        <p:spPr>
          <a:xfrm>
            <a:off x="548640" y="4860267"/>
            <a:ext cx="3544824" cy="1357653"/>
          </a:xfrm>
          <a:prstGeom prst="roundRect">
            <a:avLst>
              <a:gd name="adj" fmla="val 6735"/>
            </a:avLst>
          </a:prstGeom>
          <a:solidFill>
            <a:schemeClr val="bg2"/>
          </a:solidFill>
          <a:ln/>
        </p:spPr>
      </p:sp>
      <p:sp>
        <p:nvSpPr>
          <p:cNvPr id="7" name="takeaway 1"/>
          <p:cNvSpPr txBox="1"/>
          <p:nvPr/>
        </p:nvSpPr>
        <p:spPr>
          <a:xfrm>
            <a:off x="731520" y="4969995"/>
            <a:ext cx="3179064" cy="1174773"/>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42 → 60 %</a:t>
            </a:r>
            <a:endParaRPr lang="en-US" sz="2000" dirty="0"/>
          </a:p>
          <a:p>
            <a:pPr indent="0" marL="0">
              <a:spcAft>
                <a:spcPts val="200"/>
              </a:spcAft>
              <a:buNone/>
            </a:pPr>
            <a:r>
              <a:rPr lang="en-US" sz="1400" dirty="0">
                <a:solidFill>
                  <a:schemeClr val="tx1"/>
                </a:solidFill>
              </a:rPr>
              <a:t>generic, from the leading toe-off to its apex, then flat</a:t>
            </a:r>
            <a:endParaRPr lang="en-US" sz="2000" dirty="0"/>
          </a:p>
        </p:txBody>
      </p:sp>
      <p:sp>
        <p:nvSpPr>
          <p:cNvPr id="8" name="takeaway card 2"/>
          <p:cNvSpPr/>
          <p:nvPr/>
        </p:nvSpPr>
        <p:spPr>
          <a:xfrm>
            <a:off x="4322064" y="4860267"/>
            <a:ext cx="3544824" cy="1357653"/>
          </a:xfrm>
          <a:prstGeom prst="roundRect">
            <a:avLst>
              <a:gd name="adj" fmla="val 6735"/>
            </a:avLst>
          </a:prstGeom>
          <a:solidFill>
            <a:schemeClr val="bg2"/>
          </a:solidFill>
          <a:ln/>
        </p:spPr>
      </p:sp>
      <p:sp>
        <p:nvSpPr>
          <p:cNvPr id="9" name="takeaway 2"/>
          <p:cNvSpPr txBox="1"/>
          <p:nvPr/>
        </p:nvSpPr>
        <p:spPr>
          <a:xfrm>
            <a:off x="4504944" y="4969995"/>
            <a:ext cx="3179064" cy="1174773"/>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54–57 %</a:t>
            </a:r>
            <a:endParaRPr lang="en-US" sz="2000" dirty="0"/>
          </a:p>
          <a:p>
            <a:pPr indent="0" marL="0">
              <a:spcAft>
                <a:spcPts val="200"/>
              </a:spcAft>
              <a:buNone/>
            </a:pPr>
            <a:r>
              <a:rPr lang="en-US" sz="1400" dirty="0">
                <a:solidFill>
                  <a:schemeClr val="tx1"/>
                </a:solidFill>
              </a:rPr>
              <a:t>all features, with 2 to 9 training people</a:t>
            </a:r>
            <a:endParaRPr lang="en-US" sz="2000" dirty="0"/>
          </a:p>
        </p:txBody>
      </p:sp>
      <p:sp>
        <p:nvSpPr>
          <p:cNvPr id="10" name="takeaway card 3"/>
          <p:cNvSpPr/>
          <p:nvPr/>
        </p:nvSpPr>
        <p:spPr>
          <a:xfrm>
            <a:off x="8095488" y="4860267"/>
            <a:ext cx="3544824" cy="1357653"/>
          </a:xfrm>
          <a:prstGeom prst="roundRect">
            <a:avLst>
              <a:gd name="adj" fmla="val 6735"/>
            </a:avLst>
          </a:prstGeom>
          <a:solidFill>
            <a:schemeClr val="bg2"/>
          </a:solidFill>
          <a:ln/>
        </p:spPr>
      </p:sp>
      <p:sp>
        <p:nvSpPr>
          <p:cNvPr id="11" name="takeaway 3"/>
          <p:cNvSpPr txBox="1"/>
          <p:nvPr/>
        </p:nvSpPr>
        <p:spPr>
          <a:xfrm>
            <a:off x="8278368" y="4969995"/>
            <a:ext cx="3179064" cy="1174773"/>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 +2 points</a:t>
            </a:r>
            <a:endParaRPr lang="en-US" sz="2000" dirty="0"/>
          </a:p>
          <a:p>
            <a:pPr indent="0" marL="0">
              <a:spcAft>
                <a:spcPts val="200"/>
              </a:spcAft>
              <a:buNone/>
            </a:pPr>
            <a:r>
              <a:rPr lang="en-US" sz="1400" dirty="0">
                <a:solidFill>
                  <a:schemeClr val="tx1"/>
                </a:solidFill>
              </a:rPr>
              <a:t>gain from 6 to 9 training people (leading-leg models)</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Checks: generalisation and trust</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The model interpolates unseen heights, depends on both feet and is conservative.</a:t>
            </a:r>
            <a:endParaRPr lang="en-US" sz="1700" dirty="0"/>
          </a:p>
        </p:txBody>
      </p:sp>
      <p:pic>
        <p:nvPicPr>
          <p:cNvPr id="4" name="figure fig_validate" descr="Validation panels: unseen height level, clearance mechanism, permutation importance and probability calibration">    </p:cNvPr>
          <p:cNvPicPr>
            <a:picLocks noChangeAspect="1"/>
          </p:cNvPicPr>
          <p:nvPr/>
        </p:nvPicPr>
        <p:blipFill>
          <a:blip r:embed="rId1"/>
          <a:stretch>
            <a:fillRect/>
          </a:stretch>
        </p:blipFill>
        <p:spPr>
          <a:xfrm>
            <a:off x="548640" y="1645920"/>
            <a:ext cx="7101602" cy="4526280"/>
          </a:xfrm>
          <a:prstGeom prst="rect">
            <a:avLst/>
          </a:prstGeom>
        </p:spPr>
      </p:pic>
      <p:sp>
        <p:nvSpPr>
          <p:cNvPr id="5" name="takeaway card"/>
          <p:cNvSpPr/>
          <p:nvPr/>
        </p:nvSpPr>
        <p:spPr>
          <a:xfrm>
            <a:off x="7924562" y="1645920"/>
            <a:ext cx="3715750" cy="4526280"/>
          </a:xfrm>
          <a:prstGeom prst="roundRect">
            <a:avLst>
              <a:gd name="adj" fmla="val 2461"/>
            </a:avLst>
          </a:prstGeom>
          <a:solidFill>
            <a:schemeClr val="bg2"/>
          </a:solidFill>
          <a:ln/>
        </p:spPr>
      </p:sp>
      <p:sp>
        <p:nvSpPr>
          <p:cNvPr id="6" name="takeaway head"/>
          <p:cNvSpPr txBox="1"/>
          <p:nvPr/>
        </p:nvSpPr>
        <p:spPr>
          <a:xfrm>
            <a:off x="8153162" y="1828800"/>
            <a:ext cx="3258550"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8153162" y="2331720"/>
            <a:ext cx="3258550"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3.1 cm</a:t>
            </a:r>
            <a:endParaRPr lang="en-US" sz="2000" dirty="0"/>
          </a:p>
          <a:p>
            <a:pPr indent="0" marL="0">
              <a:spcAft>
                <a:spcPts val="200"/>
              </a:spcAft>
              <a:buNone/>
            </a:pPr>
            <a:r>
              <a:rPr lang="en-US" sz="1400" dirty="0">
                <a:solidFill>
                  <a:schemeClr val="tx1"/>
                </a:solidFill>
              </a:rPr>
              <a:t>error for an untrained middle height (79 % right level)</a:t>
            </a:r>
            <a:endParaRPr lang="en-US" sz="2000" dirty="0"/>
          </a:p>
        </p:txBody>
      </p:sp>
      <p:sp>
        <p:nvSpPr>
          <p:cNvPr id="8" name="takeaway 2"/>
          <p:cNvSpPr txBox="1"/>
          <p:nvPr/>
        </p:nvSpPr>
        <p:spPr>
          <a:xfrm>
            <a:off x="8153162" y="3246120"/>
            <a:ext cx="3258550" cy="86868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−6.5 points</a:t>
            </a:r>
            <a:endParaRPr lang="en-US" sz="2000" dirty="0"/>
          </a:p>
          <a:p>
            <a:pPr indent="0" marL="0">
              <a:spcAft>
                <a:spcPts val="200"/>
              </a:spcAft>
              <a:buNone/>
            </a:pPr>
            <a:r>
              <a:rPr lang="en-US" sz="1400" dirty="0">
                <a:solidFill>
                  <a:schemeClr val="tx1"/>
                </a:solidFill>
              </a:rPr>
              <a:t>height trained on one width, tested on the other</a:t>
            </a:r>
            <a:endParaRPr lang="en-US" sz="2000" dirty="0"/>
          </a:p>
        </p:txBody>
      </p:sp>
      <p:sp>
        <p:nvSpPr>
          <p:cNvPr id="9" name="takeaway 3"/>
          <p:cNvSpPr txBox="1"/>
          <p:nvPr/>
        </p:nvSpPr>
        <p:spPr>
          <a:xfrm>
            <a:off x="8153162" y="4160520"/>
            <a:ext cx="3258550" cy="86868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33 / 25 points</a:t>
            </a:r>
            <a:endParaRPr lang="en-US" sz="2000" dirty="0"/>
          </a:p>
          <a:p>
            <a:pPr indent="0" marL="0">
              <a:spcAft>
                <a:spcPts val="200"/>
              </a:spcAft>
              <a:buNone/>
            </a:pPr>
            <a:r>
              <a:rPr lang="en-US" sz="1400" dirty="0">
                <a:solidFill>
                  <a:schemeClr val="tx1"/>
                </a:solidFill>
              </a:rPr>
              <a:t>accuracy lost without the trailing / leading foot features</a:t>
            </a:r>
            <a:endParaRPr lang="en-US" sz="2000" dirty="0"/>
          </a:p>
        </p:txBody>
      </p:sp>
      <p:sp>
        <p:nvSpPr>
          <p:cNvPr id="10" name="takeaway 4"/>
          <p:cNvSpPr txBox="1"/>
          <p:nvPr/>
        </p:nvSpPr>
        <p:spPr>
          <a:xfrm>
            <a:off x="8153162" y="5074920"/>
            <a:ext cx="3258550"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Conservative</a:t>
            </a:r>
            <a:endParaRPr lang="en-US" sz="2000" dirty="0"/>
          </a:p>
          <a:p>
            <a:pPr indent="0" marL="0">
              <a:spcAft>
                <a:spcPts val="200"/>
              </a:spcAft>
              <a:buNone/>
            </a:pPr>
            <a:r>
              <a:rPr lang="en-US" sz="1400" dirty="0">
                <a:solidFill>
                  <a:schemeClr val="tx1"/>
                </a:solidFill>
              </a:rPr>
              <a:t>stated probabilities under-state the real accuracy</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Width is behavioural, not a sensor limit</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People cross a 5 cm and a 15 cm deep obstacle in almost the same way.</a:t>
            </a:r>
            <a:endParaRPr lang="en-US" sz="1700" dirty="0"/>
          </a:p>
        </p:txBody>
      </p:sp>
      <p:pic>
        <p:nvPicPr>
          <p:cNvPr id="4" name="figure fig_lateral" descr="Width effect size of the most width-sensitive sagittal and out-of-plane features">    </p:cNvPr>
          <p:cNvPicPr>
            <a:picLocks noChangeAspect="1"/>
          </p:cNvPicPr>
          <p:nvPr/>
        </p:nvPicPr>
        <p:blipFill>
          <a:blip r:embed="rId1"/>
          <a:stretch>
            <a:fillRect/>
          </a:stretch>
        </p:blipFill>
        <p:spPr>
          <a:xfrm>
            <a:off x="2590103" y="1600200"/>
            <a:ext cx="7008745" cy="3429000"/>
          </a:xfrm>
          <a:prstGeom prst="rect">
            <a:avLst/>
          </a:prstGeom>
        </p:spPr>
      </p:pic>
      <p:sp>
        <p:nvSpPr>
          <p:cNvPr id="5" name="takeaway card 1"/>
          <p:cNvSpPr/>
          <p:nvPr/>
        </p:nvSpPr>
        <p:spPr>
          <a:xfrm>
            <a:off x="548640" y="5257800"/>
            <a:ext cx="2601468" cy="960120"/>
          </a:xfrm>
          <a:prstGeom prst="roundRect">
            <a:avLst>
              <a:gd name="adj" fmla="val 9524"/>
            </a:avLst>
          </a:prstGeom>
          <a:solidFill>
            <a:schemeClr val="bg2"/>
          </a:solidFill>
          <a:ln/>
        </p:spPr>
      </p:sp>
      <p:sp>
        <p:nvSpPr>
          <p:cNvPr id="6" name="takeaway 1"/>
          <p:cNvSpPr txBox="1"/>
          <p:nvPr/>
        </p:nvSpPr>
        <p:spPr>
          <a:xfrm>
            <a:off x="731520" y="5367528"/>
            <a:ext cx="2235708" cy="77724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54–66 %</a:t>
            </a:r>
            <a:endParaRPr lang="en-US" sz="2000" dirty="0"/>
          </a:p>
          <a:p>
            <a:pPr indent="0" marL="0">
              <a:spcAft>
                <a:spcPts val="200"/>
              </a:spcAft>
              <a:buNone/>
            </a:pPr>
            <a:r>
              <a:rPr lang="en-US" sz="1400" dirty="0">
                <a:solidFill>
                  <a:schemeClr val="tx1"/>
                </a:solidFill>
              </a:rPr>
              <a:t>width with any input or model (chance 50 %)</a:t>
            </a:r>
            <a:endParaRPr lang="en-US" sz="2000" dirty="0"/>
          </a:p>
        </p:txBody>
      </p:sp>
      <p:sp>
        <p:nvSpPr>
          <p:cNvPr id="7" name="takeaway card 2"/>
          <p:cNvSpPr/>
          <p:nvPr/>
        </p:nvSpPr>
        <p:spPr>
          <a:xfrm>
            <a:off x="3378708" y="5257800"/>
            <a:ext cx="2601468" cy="960120"/>
          </a:xfrm>
          <a:prstGeom prst="roundRect">
            <a:avLst>
              <a:gd name="adj" fmla="val 9524"/>
            </a:avLst>
          </a:prstGeom>
          <a:solidFill>
            <a:schemeClr val="bg2"/>
          </a:solidFill>
          <a:ln/>
        </p:spPr>
      </p:sp>
      <p:sp>
        <p:nvSpPr>
          <p:cNvPr id="8" name="takeaway 2"/>
          <p:cNvSpPr txBox="1"/>
          <p:nvPr/>
        </p:nvSpPr>
        <p:spPr>
          <a:xfrm>
            <a:off x="3561588" y="5367528"/>
            <a:ext cx="2235708" cy="77724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57.6 %</a:t>
            </a:r>
            <a:endParaRPr lang="en-US" sz="2000" dirty="0"/>
          </a:p>
          <a:p>
            <a:pPr indent="0" marL="0">
              <a:spcAft>
                <a:spcPts val="200"/>
              </a:spcAft>
              <a:buNone/>
            </a:pPr>
            <a:r>
              <a:rPr lang="en-US" sz="1400" dirty="0">
                <a:solidFill>
                  <a:schemeClr val="tx1"/>
                </a:solidFill>
              </a:rPr>
              <a:t>even from the camera foot placement</a:t>
            </a:r>
            <a:endParaRPr lang="en-US" sz="2000" dirty="0"/>
          </a:p>
        </p:txBody>
      </p:sp>
      <p:sp>
        <p:nvSpPr>
          <p:cNvPr id="9" name="takeaway card 3"/>
          <p:cNvSpPr/>
          <p:nvPr/>
        </p:nvSpPr>
        <p:spPr>
          <a:xfrm>
            <a:off x="6208776" y="5257800"/>
            <a:ext cx="2601468" cy="960120"/>
          </a:xfrm>
          <a:prstGeom prst="roundRect">
            <a:avLst>
              <a:gd name="adj" fmla="val 9524"/>
            </a:avLst>
          </a:prstGeom>
          <a:solidFill>
            <a:schemeClr val="bg2"/>
          </a:solidFill>
          <a:ln/>
        </p:spPr>
      </p:sp>
      <p:sp>
        <p:nvSpPr>
          <p:cNvPr id="10" name="takeaway 3"/>
          <p:cNvSpPr txBox="1"/>
          <p:nvPr/>
        </p:nvSpPr>
        <p:spPr>
          <a:xfrm>
            <a:off x="6391656" y="5367528"/>
            <a:ext cx="2235708" cy="77724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+37 mm</a:t>
            </a:r>
            <a:endParaRPr lang="en-US" sz="2000" dirty="0"/>
          </a:p>
          <a:p>
            <a:pPr indent="0" marL="0">
              <a:spcAft>
                <a:spcPts val="200"/>
              </a:spcAft>
              <a:buNone/>
            </a:pPr>
            <a:r>
              <a:rPr lang="en-US" sz="1400" dirty="0">
                <a:solidFill>
                  <a:schemeClr val="tx1"/>
                </a:solidFill>
              </a:rPr>
              <a:t>longer crossing step for a 10 cm deeper obstacle</a:t>
            </a:r>
            <a:endParaRPr lang="en-US" sz="2000" dirty="0"/>
          </a:p>
        </p:txBody>
      </p:sp>
      <p:sp>
        <p:nvSpPr>
          <p:cNvPr id="11" name="takeaway card 4"/>
          <p:cNvSpPr/>
          <p:nvPr/>
        </p:nvSpPr>
        <p:spPr>
          <a:xfrm>
            <a:off x="9038844" y="5257800"/>
            <a:ext cx="2601468" cy="960120"/>
          </a:xfrm>
          <a:prstGeom prst="roundRect">
            <a:avLst>
              <a:gd name="adj" fmla="val 9524"/>
            </a:avLst>
          </a:prstGeom>
          <a:solidFill>
            <a:schemeClr val="bg2"/>
          </a:solidFill>
          <a:ln/>
        </p:spPr>
      </p:sp>
      <p:sp>
        <p:nvSpPr>
          <p:cNvPr id="12" name="takeaway 4"/>
          <p:cNvSpPr txBox="1"/>
          <p:nvPr/>
        </p:nvSpPr>
        <p:spPr>
          <a:xfrm>
            <a:off x="9221724" y="5367528"/>
            <a:ext cx="2235708" cy="77724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0.06</a:t>
            </a:r>
            <a:endParaRPr lang="en-US" sz="2000" dirty="0"/>
          </a:p>
          <a:p>
            <a:pPr indent="0" marL="0">
              <a:spcAft>
                <a:spcPts val="200"/>
              </a:spcAft>
              <a:buNone/>
            </a:pPr>
            <a:r>
              <a:rPr lang="en-US" sz="1400" dirty="0">
                <a:solidFill>
                  <a:schemeClr val="tx1"/>
                </a:solidFill>
              </a:rPr>
              <a:t>largest out-of-plane η² (0.15 sagittal)</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914400"/>
          </a:xfrm>
          <a:prstGeom prst="rect">
            <a:avLst/>
          </a:prstGeom>
          <a:noFill/>
          <a:ln/>
        </p:spPr>
        <p:txBody>
          <a:bodyPr wrap="square" lIns="0" tIns="0" rIns="0" bIns="0" rtlCol="0" anchor="ctr"/>
          <a:lstStyle/>
          <a:p>
            <a:pPr algn="l" indent="0" marL="0">
              <a:buNone/>
            </a:pPr>
            <a:r>
              <a:rPr lang="en-US" sz="4000" b="1" dirty="0">
                <a:solidFill>
                  <a:schemeClr val="bg1"/>
                </a:solidFill>
              </a:rPr>
              <a:t>Device and haptic cue</a:t>
            </a:r>
            <a:endParaRPr lang="en-US" sz="4000" dirty="0"/>
          </a:p>
        </p:txBody>
      </p:sp>
      <p:sp>
        <p:nvSpPr>
          <p:cNvPr id="3" name="Text 0"/>
          <p:cNvSpPr/>
          <p:nvPr>
            <p:ph idx="101" type="body" hasCustomPrompt="1"/>
          </p:nvPr>
        </p:nvSpPr>
        <p:spPr>
          <a:xfrm>
            <a:off x="731520" y="356616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Sensors, calibration, a camera-free pipeline, a real session, and when to cue</a:t>
            </a:r>
            <a:endParaRPr lang="en-US" sz="2000" dirty="0"/>
          </a:p>
        </p:txBody>
      </p:sp>
      <p:sp>
        <p:nvSpPr>
          <p:cNvPr id="4" name="section number"/>
          <p:cNvSpPr txBox="1"/>
          <p:nvPr/>
        </p:nvSpPr>
        <p:spPr>
          <a:xfrm>
            <a:off x="731520" y="1417320"/>
            <a:ext cx="2743200" cy="914400"/>
          </a:xfrm>
          <a:prstGeom prst="rect">
            <a:avLst/>
          </a:prstGeom>
          <a:noFill/>
          <a:ln/>
        </p:spPr>
        <p:txBody>
          <a:bodyPr wrap="square" lIns="0" tIns="0" rIns="0" bIns="0" rtlCol="0" anchor="b"/>
          <a:lstStyle/>
          <a:p>
            <a:pPr indent="0" marL="0">
              <a:buNone/>
            </a:pPr>
            <a:r>
              <a:rPr lang="en-US" sz="5400" b="1" dirty="0">
                <a:solidFill>
                  <a:schemeClr val="accent2"/>
                </a:solidFill>
              </a:rPr>
              <a:t>05</a:t>
            </a:r>
            <a:endParaRPr lang="en-US" sz="5400" dirty="0"/>
          </a:p>
        </p:txBody>
      </p:sp>
      <p:sp>
        <p:nvSpPr>
          <p:cNvPr id="5" name="section circle"/>
          <p:cNvSpPr/>
          <p:nvPr/>
        </p:nvSpPr>
        <p:spPr>
          <a:xfrm>
            <a:off x="8915400" y="2011680"/>
            <a:ext cx="2468880" cy="2468880"/>
          </a:xfrm>
          <a:prstGeom prst="ellipse">
            <a:avLst/>
          </a:prstGeom>
          <a:solidFill>
            <a:schemeClr val="accent2"/>
          </a:solidFill>
          <a:ln/>
        </p:spPr>
      </p:sp>
      <p:pic>
        <p:nvPicPr>
          <p:cNvPr id="6" name="section icon" descr="preencoded.png">    </p:cNvPr>
          <p:cNvPicPr>
            <a:picLocks noChangeAspect="1"/>
          </p:cNvPicPr>
          <p:nvPr/>
        </p:nvPicPr>
        <p:blipFill>
          <a:blip r:embed="rId1"/>
          <a:stretch>
            <a:fillRect/>
          </a:stretch>
        </p:blipFill>
        <p:spPr>
          <a:xfrm>
            <a:off x="9507931" y="2604211"/>
            <a:ext cx="1283818" cy="1283818"/>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What the device needs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Two foot IMUs and a few of the user's own crossings are enough.</a:t>
            </a:r>
            <a:endParaRPr lang="en-US" sz="1700" dirty="0"/>
          </a:p>
        </p:txBody>
      </p:sp>
      <p:pic>
        <p:nvPicPr>
          <p:cNvPr id="4" name="figure fig_device" descr="Accuracy by sensor set, by confidence threshold, by number of training participants and by calibration option">    </p:cNvPr>
          <p:cNvPicPr>
            <a:picLocks noChangeAspect="1"/>
          </p:cNvPicPr>
          <p:nvPr/>
        </p:nvPicPr>
        <p:blipFill>
          <a:blip r:embed="rId1"/>
          <a:stretch>
            <a:fillRect/>
          </a:stretch>
        </p:blipFill>
        <p:spPr>
          <a:xfrm>
            <a:off x="548640" y="1645920"/>
            <a:ext cx="7159418" cy="4526280"/>
          </a:xfrm>
          <a:prstGeom prst="rect">
            <a:avLst/>
          </a:prstGeom>
        </p:spPr>
      </p:pic>
      <p:sp>
        <p:nvSpPr>
          <p:cNvPr id="5" name="takeaway card"/>
          <p:cNvSpPr/>
          <p:nvPr/>
        </p:nvSpPr>
        <p:spPr>
          <a:xfrm>
            <a:off x="7982378" y="1645920"/>
            <a:ext cx="3657934" cy="4526280"/>
          </a:xfrm>
          <a:prstGeom prst="roundRect">
            <a:avLst>
              <a:gd name="adj" fmla="val 2500"/>
            </a:avLst>
          </a:prstGeom>
          <a:solidFill>
            <a:schemeClr val="bg2"/>
          </a:solidFill>
          <a:ln/>
        </p:spPr>
      </p:sp>
      <p:sp>
        <p:nvSpPr>
          <p:cNvPr id="6" name="takeaway head"/>
          <p:cNvSpPr txBox="1"/>
          <p:nvPr/>
        </p:nvSpPr>
        <p:spPr>
          <a:xfrm>
            <a:off x="8210978" y="1828800"/>
            <a:ext cx="3200734"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8210978" y="2331720"/>
            <a:ext cx="3200734"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92 %</a:t>
            </a:r>
            <a:endParaRPr lang="en-US" sz="2000" dirty="0"/>
          </a:p>
          <a:p>
            <a:pPr indent="0" marL="0">
              <a:spcAft>
                <a:spcPts val="200"/>
              </a:spcAft>
              <a:buNone/>
            </a:pPr>
            <a:r>
              <a:rPr lang="en-US" sz="1400" dirty="0">
                <a:solidFill>
                  <a:schemeClr val="tx1"/>
                </a:solidFill>
              </a:rPr>
              <a:t>two foot IMUs (95 % CI 87–96), as good as six IMUs (91 %)</a:t>
            </a:r>
            <a:endParaRPr lang="en-US" sz="2000" dirty="0"/>
          </a:p>
        </p:txBody>
      </p:sp>
      <p:sp>
        <p:nvSpPr>
          <p:cNvPr id="8" name="takeaway 2"/>
          <p:cNvSpPr txBox="1"/>
          <p:nvPr/>
        </p:nvSpPr>
        <p:spPr>
          <a:xfrm>
            <a:off x="8210978" y="3246120"/>
            <a:ext cx="3200734"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80 %</a:t>
            </a:r>
            <a:endParaRPr lang="en-US" sz="2000" dirty="0"/>
          </a:p>
          <a:p>
            <a:pPr indent="0" marL="0">
              <a:spcAft>
                <a:spcPts val="200"/>
              </a:spcAft>
              <a:buNone/>
            </a:pPr>
            <a:r>
              <a:rPr lang="en-US" sz="1400" dirty="0">
                <a:solidFill>
                  <a:schemeClr val="tx1"/>
                </a:solidFill>
              </a:rPr>
              <a:t>one labelled crossing; 81–85 % with 10–15 unlabelled ones</a:t>
            </a:r>
            <a:endParaRPr lang="en-US" sz="2000" dirty="0"/>
          </a:p>
        </p:txBody>
      </p:sp>
      <p:sp>
        <p:nvSpPr>
          <p:cNvPr id="9" name="takeaway 3"/>
          <p:cNvSpPr txBox="1"/>
          <p:nvPr/>
        </p:nvSpPr>
        <p:spPr>
          <a:xfrm>
            <a:off x="8210978" y="4160520"/>
            <a:ext cx="3200734"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97 %</a:t>
            </a:r>
            <a:endParaRPr lang="en-US" sz="2000" dirty="0"/>
          </a:p>
          <a:p>
            <a:pPr indent="0" marL="0">
              <a:spcAft>
                <a:spcPts val="200"/>
              </a:spcAft>
              <a:buNone/>
            </a:pPr>
            <a:r>
              <a:rPr lang="en-US" sz="1400" dirty="0">
                <a:solidFill>
                  <a:schemeClr val="tx1"/>
                </a:solidFill>
              </a:rPr>
              <a:t>right when answering only at p ≥ 0.6 (79 % of crossings)</a:t>
            </a:r>
            <a:endParaRPr lang="en-US" sz="2000" dirty="0"/>
          </a:p>
        </p:txBody>
      </p:sp>
      <p:sp>
        <p:nvSpPr>
          <p:cNvPr id="10" name="takeaway 4"/>
          <p:cNvSpPr txBox="1"/>
          <p:nvPr/>
        </p:nvSpPr>
        <p:spPr>
          <a:xfrm>
            <a:off x="8210978" y="5074920"/>
            <a:ext cx="3200734" cy="868680"/>
          </a:xfrm>
          <a:prstGeom prst="rect">
            <a:avLst/>
          </a:prstGeom>
          <a:noFill/>
          <a:ln/>
        </p:spPr>
        <p:txBody>
          <a:bodyPr wrap="square" lIns="0" tIns="0" rIns="0" bIns="0" rtlCol="0" anchor="t"/>
          <a:lstStyle/>
          <a:p>
            <a:pPr indent="0" marL="0">
              <a:spcAft>
                <a:spcPts val="200"/>
              </a:spcAft>
              <a:buNone/>
            </a:pPr>
            <a:r>
              <a:rPr lang="en-US" sz="2000" b="1" dirty="0">
                <a:solidFill>
                  <a:schemeClr val="accent6"/>
                </a:solidFill>
              </a:rPr>
              <a:t>Flat</a:t>
            </a:r>
            <a:endParaRPr lang="en-US" sz="2000" dirty="0"/>
          </a:p>
          <a:p>
            <a:pPr indent="0" marL="0">
              <a:spcAft>
                <a:spcPts val="200"/>
              </a:spcAft>
              <a:buNone/>
            </a:pPr>
            <a:r>
              <a:rPr lang="en-US" sz="1400" dirty="0">
                <a:solidFill>
                  <a:schemeClr val="tx1"/>
                </a:solidFill>
              </a:rPr>
              <a:t>88–92 % from 2 to 9 training people</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No camera: the IMU stream alone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Detect, pair and recognise every crossing from the continuous Dot data.</a:t>
            </a:r>
            <a:endParaRPr lang="en-US" sz="1700" dirty="0"/>
          </a:p>
        </p:txBody>
      </p:sp>
      <p:pic>
        <p:nvPicPr>
          <p:cNvPr id="4" name="figure fig_stream" descr="Camera-free pipeline: crossings found, paired and classified, learning during use and per participant">    </p:cNvPr>
          <p:cNvPicPr>
            <a:picLocks noChangeAspect="1"/>
          </p:cNvPicPr>
          <p:nvPr/>
        </p:nvPicPr>
        <p:blipFill>
          <a:blip r:embed="rId1"/>
          <a:stretch>
            <a:fillRect/>
          </a:stretch>
        </p:blipFill>
        <p:spPr>
          <a:xfrm>
            <a:off x="548640" y="1645920"/>
            <a:ext cx="6096352" cy="4526280"/>
          </a:xfrm>
          <a:prstGeom prst="rect">
            <a:avLst/>
          </a:prstGeom>
        </p:spPr>
      </p:pic>
      <p:sp>
        <p:nvSpPr>
          <p:cNvPr id="5" name="takeaway card"/>
          <p:cNvSpPr/>
          <p:nvPr/>
        </p:nvSpPr>
        <p:spPr>
          <a:xfrm>
            <a:off x="6919312" y="1645920"/>
            <a:ext cx="4721000" cy="4526280"/>
          </a:xfrm>
          <a:prstGeom prst="roundRect">
            <a:avLst>
              <a:gd name="adj" fmla="val 2020"/>
            </a:avLst>
          </a:prstGeom>
          <a:solidFill>
            <a:schemeClr val="bg2"/>
          </a:solidFill>
          <a:ln/>
        </p:spPr>
      </p:sp>
      <p:sp>
        <p:nvSpPr>
          <p:cNvPr id="6" name="takeaway head"/>
          <p:cNvSpPr txBox="1"/>
          <p:nvPr/>
        </p:nvSpPr>
        <p:spPr>
          <a:xfrm>
            <a:off x="7147912" y="1828800"/>
            <a:ext cx="4263800"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7147912" y="2331720"/>
            <a:ext cx="4263800"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98.7 %</a:t>
            </a:r>
            <a:endParaRPr lang="en-US" sz="2000" dirty="0"/>
          </a:p>
          <a:p>
            <a:pPr indent="0" marL="0">
              <a:spcAft>
                <a:spcPts val="200"/>
              </a:spcAft>
              <a:buNone/>
            </a:pPr>
            <a:r>
              <a:rPr lang="en-US" sz="1400" dirty="0">
                <a:solidFill>
                  <a:schemeClr val="tx1"/>
                </a:solidFill>
              </a:rPr>
              <a:t>crossings found (precision 97.2 %)</a:t>
            </a:r>
            <a:endParaRPr lang="en-US" sz="2000" dirty="0"/>
          </a:p>
        </p:txBody>
      </p:sp>
      <p:sp>
        <p:nvSpPr>
          <p:cNvPr id="8" name="takeaway 2"/>
          <p:cNvSpPr txBox="1"/>
          <p:nvPr/>
        </p:nvSpPr>
        <p:spPr>
          <a:xfrm>
            <a:off x="7147912" y="3246120"/>
            <a:ext cx="4263800"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95.2 %</a:t>
            </a:r>
            <a:endParaRPr lang="en-US" sz="2000" dirty="0"/>
          </a:p>
          <a:p>
            <a:pPr indent="0" marL="0">
              <a:spcAft>
                <a:spcPts val="200"/>
              </a:spcAft>
              <a:buNone/>
            </a:pPr>
            <a:r>
              <a:rPr lang="en-US" sz="1400" dirty="0">
                <a:solidFill>
                  <a:schemeClr val="tx1"/>
                </a:solidFill>
              </a:rPr>
              <a:t>leading and trailing legs paired correctly</a:t>
            </a:r>
            <a:endParaRPr lang="en-US" sz="2000" dirty="0"/>
          </a:p>
        </p:txBody>
      </p:sp>
      <p:sp>
        <p:nvSpPr>
          <p:cNvPr id="9" name="takeaway 3"/>
          <p:cNvSpPr txBox="1"/>
          <p:nvPr/>
        </p:nvSpPr>
        <p:spPr>
          <a:xfrm>
            <a:off x="7147912" y="4160520"/>
            <a:ext cx="4263800"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86 %</a:t>
            </a:r>
            <a:endParaRPr lang="en-US" sz="2000" dirty="0"/>
          </a:p>
          <a:p>
            <a:pPr indent="0" marL="0">
              <a:spcAft>
                <a:spcPts val="200"/>
              </a:spcAft>
              <a:buNone/>
            </a:pPr>
            <a:r>
              <a:rPr lang="en-US" sz="1400" dirty="0">
                <a:solidFill>
                  <a:schemeClr val="tx1"/>
                </a:solidFill>
              </a:rPr>
              <a:t>found, paired and height correct (83.5 % of all crossings walked)</a:t>
            </a:r>
            <a:endParaRPr lang="en-US" sz="2000" dirty="0"/>
          </a:p>
        </p:txBody>
      </p:sp>
      <p:sp>
        <p:nvSpPr>
          <p:cNvPr id="10" name="takeaway 4"/>
          <p:cNvSpPr txBox="1"/>
          <p:nvPr/>
        </p:nvSpPr>
        <p:spPr>
          <a:xfrm>
            <a:off x="7147912" y="5074920"/>
            <a:ext cx="4263800"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69–96 %</a:t>
            </a:r>
            <a:endParaRPr lang="en-US" sz="2000" dirty="0"/>
          </a:p>
          <a:p>
            <a:pPr indent="0" marL="0">
              <a:spcAft>
                <a:spcPts val="200"/>
              </a:spcAft>
              <a:buNone/>
            </a:pPr>
            <a:r>
              <a:rPr lang="en-US" sz="1400" dirty="0">
                <a:solidFill>
                  <a:schemeClr val="tx1"/>
                </a:solidFill>
              </a:rPr>
              <a:t>all correct, per participant</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In a real session</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The device learns the person while they walk; a real-time cue is right about three times in four.</a:t>
            </a:r>
            <a:endParaRPr lang="en-US" sz="1700" dirty="0"/>
          </a:p>
        </p:txBody>
      </p:sp>
      <p:pic>
        <p:nvPicPr>
          <p:cNvPr id="4" name="figure fig_realworld" descr="Accuracy by crossing number, accuracy against trailing-lift consistency, and outcome of a real-time cue">    </p:cNvPr>
          <p:cNvPicPr>
            <a:picLocks noChangeAspect="1"/>
          </p:cNvPicPr>
          <p:nvPr/>
        </p:nvPicPr>
        <p:blipFill>
          <a:blip r:embed="rId1"/>
          <a:stretch>
            <a:fillRect/>
          </a:stretch>
        </p:blipFill>
        <p:spPr>
          <a:xfrm>
            <a:off x="548640" y="1645920"/>
            <a:ext cx="6291161" cy="4526280"/>
          </a:xfrm>
          <a:prstGeom prst="rect">
            <a:avLst/>
          </a:prstGeom>
        </p:spPr>
      </p:pic>
      <p:sp>
        <p:nvSpPr>
          <p:cNvPr id="5" name="takeaway card"/>
          <p:cNvSpPr/>
          <p:nvPr/>
        </p:nvSpPr>
        <p:spPr>
          <a:xfrm>
            <a:off x="7114121" y="1645920"/>
            <a:ext cx="4526191" cy="4526280"/>
          </a:xfrm>
          <a:prstGeom prst="roundRect">
            <a:avLst>
              <a:gd name="adj" fmla="val 2020"/>
            </a:avLst>
          </a:prstGeom>
          <a:solidFill>
            <a:schemeClr val="bg2"/>
          </a:solidFill>
          <a:ln/>
        </p:spPr>
      </p:sp>
      <p:sp>
        <p:nvSpPr>
          <p:cNvPr id="6" name="takeaway head"/>
          <p:cNvSpPr txBox="1"/>
          <p:nvPr/>
        </p:nvSpPr>
        <p:spPr>
          <a:xfrm>
            <a:off x="7342721" y="1828800"/>
            <a:ext cx="4068991"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7342721" y="2331720"/>
            <a:ext cx="4068991"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72 → 90 %</a:t>
            </a:r>
            <a:endParaRPr lang="en-US" sz="2000" dirty="0"/>
          </a:p>
          <a:p>
            <a:pPr indent="0" marL="0">
              <a:spcAft>
                <a:spcPts val="200"/>
              </a:spcAft>
              <a:buNone/>
            </a:pPr>
            <a:r>
              <a:rPr lang="en-US" sz="1400" dirty="0">
                <a:solidFill>
                  <a:schemeClr val="tx1"/>
                </a:solidFill>
              </a:rPr>
              <a:t>mixed obstacle order: crossings 1–5 → from 16 on</a:t>
            </a:r>
            <a:endParaRPr lang="en-US" sz="2000" dirty="0"/>
          </a:p>
        </p:txBody>
      </p:sp>
      <p:sp>
        <p:nvSpPr>
          <p:cNvPr id="8" name="takeaway 2"/>
          <p:cNvSpPr txBox="1"/>
          <p:nvPr/>
        </p:nvSpPr>
        <p:spPr>
          <a:xfrm>
            <a:off x="7342721" y="3246120"/>
            <a:ext cx="4068991"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71 / 76 %</a:t>
            </a:r>
            <a:endParaRPr lang="en-US" sz="2000" dirty="0"/>
          </a:p>
          <a:p>
            <a:pPr indent="0" marL="0">
              <a:spcAft>
                <a:spcPts val="200"/>
              </a:spcAft>
              <a:buNone/>
            </a:pPr>
            <a:r>
              <a:rPr lang="en-US" sz="1400" dirty="0">
                <a:solidFill>
                  <a:schemeClr val="tx1"/>
                </a:solidFill>
              </a:rPr>
              <a:t>correct real-time cues at the leading apex / landing</a:t>
            </a:r>
            <a:endParaRPr lang="en-US" sz="2000" dirty="0"/>
          </a:p>
        </p:txBody>
      </p:sp>
      <p:sp>
        <p:nvSpPr>
          <p:cNvPr id="9" name="takeaway 3"/>
          <p:cNvSpPr txBox="1"/>
          <p:nvPr/>
        </p:nvSpPr>
        <p:spPr>
          <a:xfrm>
            <a:off x="7342721" y="4160520"/>
            <a:ext cx="4068991" cy="868680"/>
          </a:xfrm>
          <a:prstGeom prst="rect">
            <a:avLst/>
          </a:prstGeom>
          <a:noFill/>
          <a:ln/>
        </p:spPr>
        <p:txBody>
          <a:bodyPr wrap="square" lIns="0" tIns="0" rIns="0" bIns="0" rtlCol="0" anchor="t"/>
          <a:lstStyle/>
          <a:p>
            <a:pPr indent="0" marL="0">
              <a:spcAft>
                <a:spcPts val="200"/>
              </a:spcAft>
              <a:buNone/>
            </a:pPr>
            <a:r>
              <a:rPr lang="en-US" sz="2000" b="1" dirty="0">
                <a:solidFill>
                  <a:schemeClr val="accent3"/>
                </a:solidFill>
              </a:rPr>
              <a:t>79–82 %</a:t>
            </a:r>
            <a:endParaRPr lang="en-US" sz="2000" dirty="0"/>
          </a:p>
          <a:p>
            <a:pPr indent="0" marL="0">
              <a:spcAft>
                <a:spcPts val="200"/>
              </a:spcAft>
              <a:buNone/>
            </a:pPr>
            <a:r>
              <a:rPr lang="en-US" sz="1400" dirty="0">
                <a:solidFill>
                  <a:schemeClr val="tx1"/>
                </a:solidFill>
              </a:rPr>
              <a:t>of the given cues right when the device cues only at p ≥ 0.6</a:t>
            </a:r>
            <a:endParaRPr lang="en-US" sz="2000" dirty="0"/>
          </a:p>
        </p:txBody>
      </p:sp>
      <p:sp>
        <p:nvSpPr>
          <p:cNvPr id="10" name="takeaway 4"/>
          <p:cNvSpPr txBox="1"/>
          <p:nvPr/>
        </p:nvSpPr>
        <p:spPr>
          <a:xfrm>
            <a:off x="7342721" y="5074920"/>
            <a:ext cx="4068991" cy="868680"/>
          </a:xfrm>
          <a:prstGeom prst="rect">
            <a:avLst/>
          </a:prstGeom>
          <a:noFill/>
          <a:ln/>
        </p:spPr>
        <p:txBody>
          <a:bodyPr wrap="square" lIns="0" tIns="0" rIns="0" bIns="0" rtlCol="0" anchor="t"/>
          <a:lstStyle/>
          <a:p>
            <a:pPr indent="0" marL="0">
              <a:spcAft>
                <a:spcPts val="200"/>
              </a:spcAft>
              <a:buNone/>
            </a:pPr>
            <a:r>
              <a:rPr lang="en-US" sz="2000" b="1" dirty="0">
                <a:solidFill>
                  <a:schemeClr val="accent4"/>
                </a:solidFill>
              </a:rPr>
              <a:t>r = 0.77</a:t>
            </a:r>
            <a:endParaRPr lang="en-US" sz="2000" dirty="0"/>
          </a:p>
          <a:p>
            <a:pPr indent="0" marL="0">
              <a:spcAft>
                <a:spcPts val="200"/>
              </a:spcAft>
              <a:buNone/>
            </a:pPr>
            <a:r>
              <a:rPr lang="en-US" sz="1400" dirty="0">
                <a:solidFill>
                  <a:schemeClr val="tx1"/>
                </a:solidFill>
              </a:rPr>
              <a:t>accuracy follows how consistently the trailing foot is lifted (d′)</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When one signal tells the height</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Only the leading leg informs before the trailing toe lifts.</a:t>
            </a:r>
            <a:endParaRPr lang="en-US" sz="1700" dirty="0"/>
          </a:p>
        </p:txBody>
      </p:sp>
      <p:pic>
        <p:nvPicPr>
          <p:cNvPr id="4" name="figure fig_haptic" descr="Height accuracy over time from one signal for the leading and trailing leg">    </p:cNvPr>
          <p:cNvPicPr>
            <a:picLocks noChangeAspect="1"/>
          </p:cNvPicPr>
          <p:nvPr/>
        </p:nvPicPr>
        <p:blipFill>
          <a:blip r:embed="rId1"/>
          <a:stretch>
            <a:fillRect/>
          </a:stretch>
        </p:blipFill>
        <p:spPr>
          <a:xfrm>
            <a:off x="2316277" y="1600200"/>
            <a:ext cx="7556397" cy="3520440"/>
          </a:xfrm>
          <a:prstGeom prst="rect">
            <a:avLst/>
          </a:prstGeom>
        </p:spPr>
      </p:pic>
      <p:sp>
        <p:nvSpPr>
          <p:cNvPr id="5" name="takeaway card 1"/>
          <p:cNvSpPr/>
          <p:nvPr/>
        </p:nvSpPr>
        <p:spPr>
          <a:xfrm>
            <a:off x="548640" y="5349240"/>
            <a:ext cx="2601468" cy="868680"/>
          </a:xfrm>
          <a:prstGeom prst="roundRect">
            <a:avLst>
              <a:gd name="adj" fmla="val 10526"/>
            </a:avLst>
          </a:prstGeom>
          <a:solidFill>
            <a:schemeClr val="bg2"/>
          </a:solidFill>
          <a:ln/>
        </p:spPr>
      </p:sp>
      <p:sp>
        <p:nvSpPr>
          <p:cNvPr id="6" name="takeaway 1"/>
          <p:cNvSpPr txBox="1"/>
          <p:nvPr/>
        </p:nvSpPr>
        <p:spPr>
          <a:xfrm>
            <a:off x="731520" y="5458968"/>
            <a:ext cx="2235708" cy="68580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72 %</a:t>
            </a:r>
            <a:endParaRPr lang="en-US" sz="2000" dirty="0"/>
          </a:p>
          <a:p>
            <a:pPr indent="0" marL="0">
              <a:spcAft>
                <a:spcPts val="200"/>
              </a:spcAft>
              <a:buNone/>
            </a:pPr>
            <a:r>
              <a:rPr lang="en-US" sz="1400" dirty="0">
                <a:solidFill>
                  <a:schemeClr val="tx1"/>
                </a:solidFill>
              </a:rPr>
              <a:t>leading foot height, about 0.47 s before the deadline</a:t>
            </a:r>
            <a:endParaRPr lang="en-US" sz="2000" dirty="0"/>
          </a:p>
        </p:txBody>
      </p:sp>
      <p:sp>
        <p:nvSpPr>
          <p:cNvPr id="7" name="takeaway card 2"/>
          <p:cNvSpPr/>
          <p:nvPr/>
        </p:nvSpPr>
        <p:spPr>
          <a:xfrm>
            <a:off x="3378708" y="5349240"/>
            <a:ext cx="2601468" cy="868680"/>
          </a:xfrm>
          <a:prstGeom prst="roundRect">
            <a:avLst>
              <a:gd name="adj" fmla="val 10526"/>
            </a:avLst>
          </a:prstGeom>
          <a:solidFill>
            <a:schemeClr val="bg2"/>
          </a:solidFill>
          <a:ln/>
        </p:spPr>
      </p:sp>
      <p:sp>
        <p:nvSpPr>
          <p:cNvPr id="8" name="takeaway 2"/>
          <p:cNvSpPr txBox="1"/>
          <p:nvPr/>
        </p:nvSpPr>
        <p:spPr>
          <a:xfrm>
            <a:off x="3561588" y="5458968"/>
            <a:ext cx="2235708" cy="68580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 60 %</a:t>
            </a:r>
            <a:endParaRPr lang="en-US" sz="2000" dirty="0"/>
          </a:p>
          <a:p>
            <a:pPr indent="0" marL="0">
              <a:spcAft>
                <a:spcPts val="200"/>
              </a:spcAft>
              <a:buNone/>
            </a:pPr>
            <a:r>
              <a:rPr lang="en-US" sz="1400" dirty="0">
                <a:solidFill>
                  <a:schemeClr val="tx1"/>
                </a:solidFill>
              </a:rPr>
              <a:t>leading thigh tilt at the same time</a:t>
            </a:r>
            <a:endParaRPr lang="en-US" sz="2000" dirty="0"/>
          </a:p>
        </p:txBody>
      </p:sp>
      <p:sp>
        <p:nvSpPr>
          <p:cNvPr id="9" name="takeaway card 3"/>
          <p:cNvSpPr/>
          <p:nvPr/>
        </p:nvSpPr>
        <p:spPr>
          <a:xfrm>
            <a:off x="6208776" y="5349240"/>
            <a:ext cx="2601468" cy="868680"/>
          </a:xfrm>
          <a:prstGeom prst="roundRect">
            <a:avLst>
              <a:gd name="adj" fmla="val 10526"/>
            </a:avLst>
          </a:prstGeom>
          <a:solidFill>
            <a:schemeClr val="bg2"/>
          </a:solidFill>
          <a:ln/>
        </p:spPr>
      </p:sp>
      <p:sp>
        <p:nvSpPr>
          <p:cNvPr id="10" name="takeaway 3"/>
          <p:cNvSpPr txBox="1"/>
          <p:nvPr/>
        </p:nvSpPr>
        <p:spPr>
          <a:xfrm>
            <a:off x="6391656" y="5458968"/>
            <a:ext cx="2235708" cy="68580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41–51 %</a:t>
            </a:r>
            <a:endParaRPr lang="en-US" sz="2000" dirty="0"/>
          </a:p>
          <a:p>
            <a:pPr indent="0" marL="0">
              <a:spcAft>
                <a:spcPts val="200"/>
              </a:spcAft>
              <a:buNone/>
            </a:pPr>
            <a:r>
              <a:rPr lang="en-US" sz="1400" dirty="0">
                <a:solidFill>
                  <a:schemeClr val="tx1"/>
                </a:solidFill>
              </a:rPr>
              <a:t>trailing-leg signals before lift-off: chance</a:t>
            </a:r>
            <a:endParaRPr lang="en-US" sz="2000" dirty="0"/>
          </a:p>
        </p:txBody>
      </p:sp>
      <p:sp>
        <p:nvSpPr>
          <p:cNvPr id="11" name="takeaway card 4"/>
          <p:cNvSpPr/>
          <p:nvPr/>
        </p:nvSpPr>
        <p:spPr>
          <a:xfrm>
            <a:off x="9038844" y="5349240"/>
            <a:ext cx="2601468" cy="868680"/>
          </a:xfrm>
          <a:prstGeom prst="roundRect">
            <a:avLst>
              <a:gd name="adj" fmla="val 10526"/>
            </a:avLst>
          </a:prstGeom>
          <a:solidFill>
            <a:schemeClr val="bg2"/>
          </a:solidFill>
          <a:ln/>
        </p:spPr>
      </p:sp>
      <p:sp>
        <p:nvSpPr>
          <p:cNvPr id="12" name="takeaway 4"/>
          <p:cNvSpPr txBox="1"/>
          <p:nvPr/>
        </p:nvSpPr>
        <p:spPr>
          <a:xfrm>
            <a:off x="9221724" y="5458968"/>
            <a:ext cx="2235708" cy="68580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81–82 %</a:t>
            </a:r>
            <a:endParaRPr lang="en-US" sz="2000" dirty="0"/>
          </a:p>
          <a:p>
            <a:pPr indent="0" marL="0">
              <a:spcAft>
                <a:spcPts val="200"/>
              </a:spcAft>
              <a:buNone/>
            </a:pPr>
            <a:r>
              <a:rPr lang="en-US" sz="1400" dirty="0">
                <a:solidFill>
                  <a:schemeClr val="tx1"/>
                </a:solidFill>
              </a:rPr>
              <a:t>trailing shank and foot, but only after lift-off</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The cue signals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The leading thigh and foot separate the heights 0.6–0.8 s before the deadline; the trailing leg only after it.</a:t>
            </a:r>
            <a:endParaRPr lang="en-US" sz="1700" dirty="0"/>
          </a:p>
        </p:txBody>
      </p:sp>
      <p:pic>
        <p:nvPicPr>
          <p:cNvPr id="4" name="figure fig_haptic_curves" descr="Mean leading thigh, trailing shank, leading and trailing foot height per obstacle height around the trailing lift-off">    </p:cNvPr>
          <p:cNvPicPr>
            <a:picLocks noChangeAspect="1"/>
          </p:cNvPicPr>
          <p:nvPr/>
        </p:nvPicPr>
        <p:blipFill>
          <a:blip r:embed="rId1"/>
          <a:stretch>
            <a:fillRect/>
          </a:stretch>
        </p:blipFill>
        <p:spPr>
          <a:xfrm>
            <a:off x="548640" y="1645920"/>
            <a:ext cx="6118424" cy="4526280"/>
          </a:xfrm>
          <a:prstGeom prst="rect">
            <a:avLst/>
          </a:prstGeom>
        </p:spPr>
      </p:pic>
      <p:sp>
        <p:nvSpPr>
          <p:cNvPr id="5" name="takeaway card"/>
          <p:cNvSpPr/>
          <p:nvPr/>
        </p:nvSpPr>
        <p:spPr>
          <a:xfrm>
            <a:off x="6941384" y="1645920"/>
            <a:ext cx="4698928" cy="4526280"/>
          </a:xfrm>
          <a:prstGeom prst="roundRect">
            <a:avLst>
              <a:gd name="adj" fmla="val 2020"/>
            </a:avLst>
          </a:prstGeom>
          <a:solidFill>
            <a:schemeClr val="bg2"/>
          </a:solidFill>
          <a:ln/>
        </p:spPr>
      </p:sp>
      <p:sp>
        <p:nvSpPr>
          <p:cNvPr id="6" name="takeaway head"/>
          <p:cNvSpPr txBox="1"/>
          <p:nvPr/>
        </p:nvSpPr>
        <p:spPr>
          <a:xfrm>
            <a:off x="7169984" y="1828800"/>
            <a:ext cx="4241728" cy="365760"/>
          </a:xfrm>
          <a:prstGeom prst="rect">
            <a:avLst/>
          </a:prstGeom>
          <a:noFill/>
          <a:ln/>
        </p:spPr>
        <p:txBody>
          <a:bodyPr wrap="square" lIns="0" tIns="0" rIns="0" bIns="0" rtlCol="0" anchor="t"/>
          <a:lstStyle/>
          <a:p>
            <a:pPr indent="0" marL="0">
              <a:buNone/>
            </a:pPr>
            <a:r>
              <a:rPr lang="en-US" sz="1600" b="1" dirty="0">
                <a:solidFill>
                  <a:schemeClr val="tx2"/>
                </a:solidFill>
              </a:rPr>
              <a:t>Key numbers</a:t>
            </a:r>
            <a:endParaRPr lang="en-US" sz="1600" dirty="0"/>
          </a:p>
        </p:txBody>
      </p:sp>
      <p:sp>
        <p:nvSpPr>
          <p:cNvPr id="7" name="takeaway 1"/>
          <p:cNvSpPr txBox="1"/>
          <p:nvPr/>
        </p:nvSpPr>
        <p:spPr>
          <a:xfrm>
            <a:off x="7169984" y="2331720"/>
            <a:ext cx="4241728" cy="86868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+35 / +46 / +53°</a:t>
            </a:r>
            <a:endParaRPr lang="en-US" sz="2000" dirty="0"/>
          </a:p>
          <a:p>
            <a:pPr indent="0" marL="0">
              <a:spcAft>
                <a:spcPts val="200"/>
              </a:spcAft>
              <a:buNone/>
            </a:pPr>
            <a:r>
              <a:rPr lang="en-US" sz="1400" dirty="0">
                <a:solidFill>
                  <a:schemeClr val="tx1"/>
                </a:solidFill>
              </a:rPr>
              <a:t>leading thigh vs normal walking (H1 / H2 / H3)</a:t>
            </a:r>
            <a:endParaRPr lang="en-US" sz="2000" dirty="0"/>
          </a:p>
        </p:txBody>
      </p:sp>
      <p:sp>
        <p:nvSpPr>
          <p:cNvPr id="8" name="takeaway 2"/>
          <p:cNvSpPr txBox="1"/>
          <p:nvPr/>
        </p:nvSpPr>
        <p:spPr>
          <a:xfrm>
            <a:off x="7169984" y="3246120"/>
            <a:ext cx="4241728" cy="868680"/>
          </a:xfrm>
          <a:prstGeom prst="rect">
            <a:avLst/>
          </a:prstGeom>
          <a:noFill/>
          <a:ln/>
        </p:spPr>
        <p:txBody>
          <a:bodyPr wrap="square" lIns="0" tIns="0" rIns="0" bIns="0" rtlCol="0" anchor="t"/>
          <a:lstStyle/>
          <a:p>
            <a:pPr indent="0" marL="0">
              <a:spcAft>
                <a:spcPts val="200"/>
              </a:spcAft>
              <a:buNone/>
            </a:pPr>
            <a:r>
              <a:rPr lang="en-US" sz="2000" b="1" dirty="0">
                <a:solidFill>
                  <a:schemeClr val="accent1"/>
                </a:solidFill>
              </a:rPr>
              <a:t>+204 / +298 / +361 mm</a:t>
            </a:r>
            <a:endParaRPr lang="en-US" sz="2000" dirty="0"/>
          </a:p>
          <a:p>
            <a:pPr indent="0" marL="0">
              <a:spcAft>
                <a:spcPts val="200"/>
              </a:spcAft>
              <a:buNone/>
            </a:pPr>
            <a:r>
              <a:rPr lang="en-US" sz="1400" dirty="0">
                <a:solidFill>
                  <a:schemeClr val="tx1"/>
                </a:solidFill>
              </a:rPr>
              <a:t>leading foot height vs normal walking</a:t>
            </a:r>
            <a:endParaRPr lang="en-US" sz="2000" dirty="0"/>
          </a:p>
        </p:txBody>
      </p:sp>
      <p:sp>
        <p:nvSpPr>
          <p:cNvPr id="9" name="takeaway 3"/>
          <p:cNvSpPr txBox="1"/>
          <p:nvPr/>
        </p:nvSpPr>
        <p:spPr>
          <a:xfrm>
            <a:off x="7169984" y="4160520"/>
            <a:ext cx="4241728" cy="86868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−31 / −46 / −55°</a:t>
            </a:r>
            <a:endParaRPr lang="en-US" sz="2000" dirty="0"/>
          </a:p>
          <a:p>
            <a:pPr indent="0" marL="0">
              <a:spcAft>
                <a:spcPts val="200"/>
              </a:spcAft>
              <a:buNone/>
            </a:pPr>
            <a:r>
              <a:rPr lang="en-US" sz="1400" dirty="0">
                <a:solidFill>
                  <a:schemeClr val="tx1"/>
                </a:solidFill>
              </a:rPr>
              <a:t>trailing shank heel-up, after lift-off</a:t>
            </a:r>
            <a:endParaRPr lang="en-US" sz="2000" dirty="0"/>
          </a:p>
        </p:txBody>
      </p:sp>
      <p:sp>
        <p:nvSpPr>
          <p:cNvPr id="10" name="takeaway 4"/>
          <p:cNvSpPr txBox="1"/>
          <p:nvPr/>
        </p:nvSpPr>
        <p:spPr>
          <a:xfrm>
            <a:off x="7169984" y="5074920"/>
            <a:ext cx="4241728" cy="868680"/>
          </a:xfrm>
          <a:prstGeom prst="rect">
            <a:avLst/>
          </a:prstGeom>
          <a:noFill/>
          <a:ln/>
        </p:spPr>
        <p:txBody>
          <a:bodyPr wrap="square" lIns="0" tIns="0" rIns="0" bIns="0" rtlCol="0" anchor="t"/>
          <a:lstStyle/>
          <a:p>
            <a:pPr indent="0" marL="0">
              <a:spcAft>
                <a:spcPts val="200"/>
              </a:spcAft>
              <a:buNone/>
            </a:pPr>
            <a:r>
              <a:rPr lang="en-US" sz="2000" b="1" dirty="0">
                <a:solidFill>
                  <a:schemeClr val="accent2"/>
                </a:solidFill>
              </a:rPr>
              <a:t>+237 / +352 / +436 mm</a:t>
            </a:r>
            <a:endParaRPr lang="en-US" sz="2000" dirty="0"/>
          </a:p>
          <a:p>
            <a:pPr indent="0" marL="0">
              <a:spcAft>
                <a:spcPts val="200"/>
              </a:spcAft>
              <a:buNone/>
            </a:pPr>
            <a:r>
              <a:rPr lang="en-US" sz="1400" dirty="0">
                <a:solidFill>
                  <a:schemeClr val="tx1"/>
                </a:solidFill>
              </a:rPr>
              <a:t>trailing foot height, after lift-off</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A three-step cue rule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Detect early, grade the height by the leading apex, cue the trailing leg before it lifts.</a:t>
            </a:r>
            <a:endParaRPr lang="en-US" sz="1700" dirty="0"/>
          </a:p>
        </p:txBody>
      </p:sp>
      <p:sp>
        <p:nvSpPr>
          <p:cNvPr id="4" name="step card 1"/>
          <p:cNvSpPr/>
          <p:nvPr/>
        </p:nvSpPr>
        <p:spPr>
          <a:xfrm>
            <a:off x="548640" y="1691640"/>
            <a:ext cx="3493008" cy="3611880"/>
          </a:xfrm>
          <a:prstGeom prst="roundRect">
            <a:avLst>
              <a:gd name="adj" fmla="val 2618"/>
            </a:avLst>
          </a:prstGeom>
          <a:solidFill>
            <a:schemeClr val="bg2"/>
          </a:solidFill>
          <a:ln/>
        </p:spPr>
      </p:sp>
      <p:sp>
        <p:nvSpPr>
          <p:cNvPr id="5" name="step 1 circle"/>
          <p:cNvSpPr/>
          <p:nvPr/>
        </p:nvSpPr>
        <p:spPr>
          <a:xfrm>
            <a:off x="822960" y="1920240"/>
            <a:ext cx="640080" cy="640080"/>
          </a:xfrm>
          <a:prstGeom prst="ellipse">
            <a:avLst/>
          </a:prstGeom>
          <a:solidFill>
            <a:schemeClr val="accent3"/>
          </a:solidFill>
          <a:ln/>
        </p:spPr>
      </p:sp>
      <p:pic>
        <p:nvPicPr>
          <p:cNvPr id="6" name="step 1 icon" descr="preencoded.png">    </p:cNvPr>
          <p:cNvPicPr>
            <a:picLocks noChangeAspect="1"/>
          </p:cNvPicPr>
          <p:nvPr/>
        </p:nvPicPr>
        <p:blipFill>
          <a:blip r:embed="rId1"/>
          <a:stretch>
            <a:fillRect/>
          </a:stretch>
        </p:blipFill>
        <p:spPr>
          <a:xfrm>
            <a:off x="976579" y="2073859"/>
            <a:ext cx="332842" cy="332842"/>
          </a:xfrm>
          <a:prstGeom prst="rect">
            <a:avLst/>
          </a:prstGeom>
        </p:spPr>
      </p:pic>
      <p:sp>
        <p:nvSpPr>
          <p:cNvPr id="7" name="step head 1"/>
          <p:cNvSpPr txBox="1"/>
          <p:nvPr/>
        </p:nvSpPr>
        <p:spPr>
          <a:xfrm>
            <a:off x="1645920" y="1920240"/>
            <a:ext cx="2240280" cy="640080"/>
          </a:xfrm>
          <a:prstGeom prst="rect">
            <a:avLst/>
          </a:prstGeom>
          <a:noFill/>
          <a:ln/>
        </p:spPr>
        <p:txBody>
          <a:bodyPr wrap="square" lIns="0" tIns="0" rIns="0" bIns="0" rtlCol="0" anchor="ctr"/>
          <a:lstStyle/>
          <a:p>
            <a:pPr indent="0" marL="0">
              <a:buNone/>
            </a:pPr>
            <a:r>
              <a:rPr lang="en-US" sz="2000" b="1" dirty="0">
                <a:solidFill>
                  <a:schemeClr val="accent3"/>
                </a:solidFill>
              </a:rPr>
              <a:t>1  Detect</a:t>
            </a:r>
            <a:endParaRPr lang="en-US" sz="2000" dirty="0"/>
          </a:p>
        </p:txBody>
      </p:sp>
      <p:sp>
        <p:nvSpPr>
          <p:cNvPr id="8" name="step body 1"/>
          <p:cNvSpPr txBox="1"/>
          <p:nvPr/>
        </p:nvSpPr>
        <p:spPr>
          <a:xfrm>
            <a:off x="822960" y="2743200"/>
            <a:ext cx="2971800" cy="1417320"/>
          </a:xfrm>
          <a:prstGeom prst="rect">
            <a:avLst/>
          </a:prstGeom>
          <a:noFill/>
          <a:ln/>
        </p:spPr>
        <p:txBody>
          <a:bodyPr wrap="square" lIns="0" tIns="0" rIns="0" bIns="0" rtlCol="0" anchor="t"/>
          <a:lstStyle/>
          <a:p>
            <a:pPr indent="0" marL="0">
              <a:buNone/>
            </a:pPr>
            <a:r>
              <a:rPr lang="en-US" sz="1400" dirty="0">
                <a:solidFill>
                  <a:schemeClr val="tx1"/>
                </a:solidFill>
              </a:rPr>
              <a:t>Early in the leading swing (0.57–0.71 s before the deadline): leading thigh more than +6° or leading foot more than +19 mm above normal walking.</a:t>
            </a:r>
            <a:endParaRPr lang="en-US" sz="1400" dirty="0"/>
          </a:p>
        </p:txBody>
      </p:sp>
      <p:sp>
        <p:nvSpPr>
          <p:cNvPr id="9" name="step result 1"/>
          <p:cNvSpPr txBox="1"/>
          <p:nvPr/>
        </p:nvSpPr>
        <p:spPr>
          <a:xfrm>
            <a:off x="822960" y="4206240"/>
            <a:ext cx="2971800" cy="1005840"/>
          </a:xfrm>
          <a:prstGeom prst="rect">
            <a:avLst/>
          </a:prstGeom>
          <a:noFill/>
          <a:ln/>
        </p:spPr>
        <p:txBody>
          <a:bodyPr wrap="square" lIns="0" tIns="0" rIns="0" bIns="0" rtlCol="0" anchor="t"/>
          <a:lstStyle/>
          <a:p>
            <a:pPr indent="0" marL="0">
              <a:buNone/>
            </a:pPr>
            <a:r>
              <a:rPr lang="en-US" sz="2600" b="1" dirty="0">
                <a:solidFill>
                  <a:schemeClr val="accent3"/>
                </a:solidFill>
              </a:rPr>
              <a:t>97–99 %</a:t>
            </a:r>
            <a:endParaRPr lang="en-US" sz="2600" dirty="0"/>
          </a:p>
          <a:p>
            <a:pPr indent="0" marL="0">
              <a:buNone/>
            </a:pPr>
            <a:r>
              <a:rPr lang="en-US" sz="1400" dirty="0">
                <a:solidFill>
                  <a:schemeClr val="tx1"/>
                </a:solidFill>
              </a:rPr>
              <a:t>sensitivity, 98 % specificity</a:t>
            </a:r>
            <a:endParaRPr lang="en-US" sz="2600" dirty="0"/>
          </a:p>
        </p:txBody>
      </p:sp>
      <p:sp>
        <p:nvSpPr>
          <p:cNvPr id="10" name="step arrow 1"/>
          <p:cNvSpPr/>
          <p:nvPr/>
        </p:nvSpPr>
        <p:spPr>
          <a:xfrm>
            <a:off x="4078224" y="3291840"/>
            <a:ext cx="237744" cy="365760"/>
          </a:xfrm>
          <a:prstGeom prst="rightArrow">
            <a:avLst/>
          </a:prstGeom>
          <a:solidFill>
            <a:schemeClr val="accent6"/>
          </a:solidFill>
          <a:ln/>
        </p:spPr>
      </p:sp>
      <p:sp>
        <p:nvSpPr>
          <p:cNvPr id="11" name="step card 2"/>
          <p:cNvSpPr/>
          <p:nvPr/>
        </p:nvSpPr>
        <p:spPr>
          <a:xfrm>
            <a:off x="4347972" y="1691640"/>
            <a:ext cx="3493008" cy="3611880"/>
          </a:xfrm>
          <a:prstGeom prst="roundRect">
            <a:avLst>
              <a:gd name="adj" fmla="val 2618"/>
            </a:avLst>
          </a:prstGeom>
          <a:solidFill>
            <a:schemeClr val="bg2"/>
          </a:solidFill>
          <a:ln/>
        </p:spPr>
      </p:sp>
      <p:sp>
        <p:nvSpPr>
          <p:cNvPr id="12" name="step 2 circle"/>
          <p:cNvSpPr/>
          <p:nvPr/>
        </p:nvSpPr>
        <p:spPr>
          <a:xfrm>
            <a:off x="4622292" y="1920240"/>
            <a:ext cx="640080" cy="640080"/>
          </a:xfrm>
          <a:prstGeom prst="ellipse">
            <a:avLst/>
          </a:prstGeom>
          <a:solidFill>
            <a:schemeClr val="accent1"/>
          </a:solidFill>
          <a:ln/>
        </p:spPr>
      </p:sp>
      <p:pic>
        <p:nvPicPr>
          <p:cNvPr id="13" name="step 2 icon" descr="preencoded.png">    </p:cNvPr>
          <p:cNvPicPr>
            <a:picLocks noChangeAspect="1"/>
          </p:cNvPicPr>
          <p:nvPr/>
        </p:nvPicPr>
        <p:blipFill>
          <a:blip r:embed="rId2"/>
          <a:stretch>
            <a:fillRect/>
          </a:stretch>
        </p:blipFill>
        <p:spPr>
          <a:xfrm>
            <a:off x="4775911" y="2073859"/>
            <a:ext cx="332842" cy="332842"/>
          </a:xfrm>
          <a:prstGeom prst="rect">
            <a:avLst/>
          </a:prstGeom>
        </p:spPr>
      </p:pic>
      <p:sp>
        <p:nvSpPr>
          <p:cNvPr id="14" name="step head 2"/>
          <p:cNvSpPr txBox="1"/>
          <p:nvPr/>
        </p:nvSpPr>
        <p:spPr>
          <a:xfrm>
            <a:off x="5445252" y="1920240"/>
            <a:ext cx="2240280" cy="640080"/>
          </a:xfrm>
          <a:prstGeom prst="rect">
            <a:avLst/>
          </a:prstGeom>
          <a:noFill/>
          <a:ln/>
        </p:spPr>
        <p:txBody>
          <a:bodyPr wrap="square" lIns="0" tIns="0" rIns="0" bIns="0" rtlCol="0" anchor="ctr"/>
          <a:lstStyle/>
          <a:p>
            <a:pPr indent="0" marL="0">
              <a:buNone/>
            </a:pPr>
            <a:r>
              <a:rPr lang="en-US" sz="2000" b="1" dirty="0">
                <a:solidFill>
                  <a:schemeClr val="accent1"/>
                </a:solidFill>
              </a:rPr>
              <a:t>2  Grade the height</a:t>
            </a:r>
            <a:endParaRPr lang="en-US" sz="2000" dirty="0"/>
          </a:p>
        </p:txBody>
      </p:sp>
      <p:sp>
        <p:nvSpPr>
          <p:cNvPr id="15" name="step body 2"/>
          <p:cNvSpPr txBox="1"/>
          <p:nvPr/>
        </p:nvSpPr>
        <p:spPr>
          <a:xfrm>
            <a:off x="4622292" y="2743200"/>
            <a:ext cx="2971800" cy="1417320"/>
          </a:xfrm>
          <a:prstGeom prst="rect">
            <a:avLst/>
          </a:prstGeom>
          <a:noFill/>
          <a:ln/>
        </p:spPr>
        <p:txBody>
          <a:bodyPr wrap="square" lIns="0" tIns="0" rIns="0" bIns="0" rtlCol="0" anchor="t"/>
          <a:lstStyle/>
          <a:p>
            <a:pPr indent="0" marL="0">
              <a:buNone/>
            </a:pPr>
            <a:r>
              <a:rPr lang="en-US" sz="1400" dirty="0">
                <a:solidFill>
                  <a:schemeClr val="tx1"/>
                </a:solidFill>
              </a:rPr>
              <a:t>By the leading-foot apex: two personal thresholds around the person's typical crossing (e.g. −36 / +39 mm).</a:t>
            </a:r>
            <a:endParaRPr lang="en-US" sz="1400" dirty="0"/>
          </a:p>
        </p:txBody>
      </p:sp>
      <p:sp>
        <p:nvSpPr>
          <p:cNvPr id="16" name="step result 2"/>
          <p:cNvSpPr txBox="1"/>
          <p:nvPr/>
        </p:nvSpPr>
        <p:spPr>
          <a:xfrm>
            <a:off x="4622292" y="4206240"/>
            <a:ext cx="2971800" cy="1005840"/>
          </a:xfrm>
          <a:prstGeom prst="rect">
            <a:avLst/>
          </a:prstGeom>
          <a:noFill/>
          <a:ln/>
        </p:spPr>
        <p:txBody>
          <a:bodyPr wrap="square" lIns="0" tIns="0" rIns="0" bIns="0" rtlCol="0" anchor="t"/>
          <a:lstStyle/>
          <a:p>
            <a:pPr indent="0" marL="0">
              <a:buNone/>
            </a:pPr>
            <a:r>
              <a:rPr lang="en-US" sz="2600" b="1" dirty="0">
                <a:solidFill>
                  <a:schemeClr val="accent1"/>
                </a:solidFill>
              </a:rPr>
              <a:t>73 %</a:t>
            </a:r>
            <a:endParaRPr lang="en-US" sz="2600" dirty="0"/>
          </a:p>
          <a:p>
            <a:pPr indent="0" marL="0">
              <a:buNone/>
            </a:pPr>
            <a:r>
              <a:rPr lang="en-US" sz="1400" dirty="0">
                <a:solidFill>
                  <a:schemeClr val="tx1"/>
                </a:solidFill>
              </a:rPr>
              <a:t>one signal; 71–76 % with the multi-feature model</a:t>
            </a:r>
            <a:endParaRPr lang="en-US" sz="2600" dirty="0"/>
          </a:p>
        </p:txBody>
      </p:sp>
      <p:sp>
        <p:nvSpPr>
          <p:cNvPr id="17" name="step arrow 2"/>
          <p:cNvSpPr/>
          <p:nvPr/>
        </p:nvSpPr>
        <p:spPr>
          <a:xfrm>
            <a:off x="7877556" y="3291840"/>
            <a:ext cx="237744" cy="365760"/>
          </a:xfrm>
          <a:prstGeom prst="rightArrow">
            <a:avLst/>
          </a:prstGeom>
          <a:solidFill>
            <a:schemeClr val="accent6"/>
          </a:solidFill>
          <a:ln/>
        </p:spPr>
      </p:sp>
      <p:sp>
        <p:nvSpPr>
          <p:cNvPr id="18" name="step card 3"/>
          <p:cNvSpPr/>
          <p:nvPr/>
        </p:nvSpPr>
        <p:spPr>
          <a:xfrm>
            <a:off x="8147304" y="1691640"/>
            <a:ext cx="3493008" cy="3611880"/>
          </a:xfrm>
          <a:prstGeom prst="roundRect">
            <a:avLst>
              <a:gd name="adj" fmla="val 2618"/>
            </a:avLst>
          </a:prstGeom>
          <a:solidFill>
            <a:schemeClr val="bg2"/>
          </a:solidFill>
          <a:ln/>
        </p:spPr>
      </p:sp>
      <p:sp>
        <p:nvSpPr>
          <p:cNvPr id="19" name="step 3 circle"/>
          <p:cNvSpPr/>
          <p:nvPr/>
        </p:nvSpPr>
        <p:spPr>
          <a:xfrm>
            <a:off x="8421624" y="1920240"/>
            <a:ext cx="640080" cy="640080"/>
          </a:xfrm>
          <a:prstGeom prst="ellipse">
            <a:avLst/>
          </a:prstGeom>
          <a:solidFill>
            <a:schemeClr val="accent2"/>
          </a:solidFill>
          <a:ln/>
        </p:spPr>
      </p:sp>
      <p:pic>
        <p:nvPicPr>
          <p:cNvPr id="20" name="step 3 icon" descr="preencoded.png">    </p:cNvPr>
          <p:cNvPicPr>
            <a:picLocks noChangeAspect="1"/>
          </p:cNvPicPr>
          <p:nvPr/>
        </p:nvPicPr>
        <p:blipFill>
          <a:blip r:embed="rId3"/>
          <a:stretch>
            <a:fillRect/>
          </a:stretch>
        </p:blipFill>
        <p:spPr>
          <a:xfrm>
            <a:off x="8575243" y="2073859"/>
            <a:ext cx="332842" cy="332842"/>
          </a:xfrm>
          <a:prstGeom prst="rect">
            <a:avLst/>
          </a:prstGeom>
        </p:spPr>
      </p:pic>
      <p:sp>
        <p:nvSpPr>
          <p:cNvPr id="21" name="step head 3"/>
          <p:cNvSpPr txBox="1"/>
          <p:nvPr/>
        </p:nvSpPr>
        <p:spPr>
          <a:xfrm>
            <a:off x="9244584" y="1920240"/>
            <a:ext cx="2240280" cy="640080"/>
          </a:xfrm>
          <a:prstGeom prst="rect">
            <a:avLst/>
          </a:prstGeom>
          <a:noFill/>
          <a:ln/>
        </p:spPr>
        <p:txBody>
          <a:bodyPr wrap="square" lIns="0" tIns="0" rIns="0" bIns="0" rtlCol="0" anchor="ctr"/>
          <a:lstStyle/>
          <a:p>
            <a:pPr indent="0" marL="0">
              <a:buNone/>
            </a:pPr>
            <a:r>
              <a:rPr lang="en-US" sz="2000" b="1" dirty="0">
                <a:solidFill>
                  <a:schemeClr val="accent2"/>
                </a:solidFill>
              </a:rPr>
              <a:t>3  Cue the trailing leg</a:t>
            </a:r>
            <a:endParaRPr lang="en-US" sz="2000" dirty="0"/>
          </a:p>
        </p:txBody>
      </p:sp>
      <p:sp>
        <p:nvSpPr>
          <p:cNvPr id="22" name="step body 3"/>
          <p:cNvSpPr txBox="1"/>
          <p:nvPr/>
        </p:nvSpPr>
        <p:spPr>
          <a:xfrm>
            <a:off x="8421624" y="2743200"/>
            <a:ext cx="2971800" cy="1417320"/>
          </a:xfrm>
          <a:prstGeom prst="rect">
            <a:avLst/>
          </a:prstGeom>
          <a:noFill/>
          <a:ln/>
        </p:spPr>
        <p:txBody>
          <a:bodyPr wrap="square" lIns="0" tIns="0" rIns="0" bIns="0" rtlCol="0" anchor="t"/>
          <a:lstStyle/>
          <a:p>
            <a:pPr indent="0" marL="0">
              <a:buNone/>
            </a:pPr>
            <a:r>
              <a:rPr lang="en-US" sz="1400" dirty="0">
                <a:solidFill>
                  <a:schemeClr val="tx1"/>
                </a:solidFill>
              </a:rPr>
              <a:t>At the leading-foot apex at the latest (≈ 0.45 s left), and only when the model is confident (p ≥ 0.6).</a:t>
            </a:r>
            <a:endParaRPr lang="en-US" sz="1400" dirty="0"/>
          </a:p>
        </p:txBody>
      </p:sp>
      <p:sp>
        <p:nvSpPr>
          <p:cNvPr id="23" name="step result 3"/>
          <p:cNvSpPr txBox="1"/>
          <p:nvPr/>
        </p:nvSpPr>
        <p:spPr>
          <a:xfrm>
            <a:off x="8421624" y="4206240"/>
            <a:ext cx="2971800" cy="1005840"/>
          </a:xfrm>
          <a:prstGeom prst="rect">
            <a:avLst/>
          </a:prstGeom>
          <a:noFill/>
          <a:ln/>
        </p:spPr>
        <p:txBody>
          <a:bodyPr wrap="square" lIns="0" tIns="0" rIns="0" bIns="0" rtlCol="0" anchor="t"/>
          <a:lstStyle/>
          <a:p>
            <a:pPr indent="0" marL="0">
              <a:buNone/>
            </a:pPr>
            <a:r>
              <a:rPr lang="en-US" sz="2600" b="1" dirty="0">
                <a:solidFill>
                  <a:schemeClr val="accent2"/>
                </a:solidFill>
              </a:rPr>
              <a:t>79–82 %</a:t>
            </a:r>
            <a:endParaRPr lang="en-US" sz="2600" dirty="0"/>
          </a:p>
          <a:p>
            <a:pPr indent="0" marL="0">
              <a:buNone/>
            </a:pPr>
            <a:r>
              <a:rPr lang="en-US" sz="1400" dirty="0">
                <a:solidFill>
                  <a:schemeClr val="tx1"/>
                </a:solidFill>
              </a:rPr>
              <a:t>of the given cues right</a:t>
            </a:r>
            <a:endParaRPr lang="en-US" sz="2600" dirty="0"/>
          </a:p>
        </p:txBody>
      </p:sp>
      <p:sp>
        <p:nvSpPr>
          <p:cNvPr id="24" name="avoid band"/>
          <p:cNvSpPr/>
          <p:nvPr/>
        </p:nvSpPr>
        <p:spPr>
          <a:xfrm>
            <a:off x="548640" y="5486400"/>
            <a:ext cx="11091672" cy="713232"/>
          </a:xfrm>
          <a:prstGeom prst="roundRect">
            <a:avLst>
              <a:gd name="adj" fmla="val 12821"/>
            </a:avLst>
          </a:prstGeom>
          <a:solidFill>
            <a:schemeClr val="accent5">
              <a:alpha val="12000"/>
            </a:schemeClr>
          </a:solidFill>
          <a:ln/>
        </p:spPr>
      </p:sp>
      <p:sp>
        <p:nvSpPr>
          <p:cNvPr id="25" name="avoid circle"/>
          <p:cNvSpPr/>
          <p:nvPr/>
        </p:nvSpPr>
        <p:spPr>
          <a:xfrm>
            <a:off x="731520" y="5586984"/>
            <a:ext cx="512064" cy="512064"/>
          </a:xfrm>
          <a:prstGeom prst="ellipse">
            <a:avLst/>
          </a:prstGeom>
          <a:solidFill>
            <a:schemeClr val="accent5"/>
          </a:solidFill>
          <a:ln/>
        </p:spPr>
      </p:sp>
      <p:pic>
        <p:nvPicPr>
          <p:cNvPr id="26" name="avoid icon" descr="preencoded.png">    </p:cNvPr>
          <p:cNvPicPr>
            <a:picLocks noChangeAspect="1"/>
          </p:cNvPicPr>
          <p:nvPr/>
        </p:nvPicPr>
        <p:blipFill>
          <a:blip r:embed="rId4"/>
          <a:stretch>
            <a:fillRect/>
          </a:stretch>
        </p:blipFill>
        <p:spPr>
          <a:xfrm>
            <a:off x="854415" y="5709879"/>
            <a:ext cx="266273" cy="266273"/>
          </a:xfrm>
          <a:prstGeom prst="rect">
            <a:avLst/>
          </a:prstGeom>
        </p:spPr>
      </p:pic>
      <p:sp>
        <p:nvSpPr>
          <p:cNvPr id="27" name="avoid text"/>
          <p:cNvSpPr txBox="1"/>
          <p:nvPr/>
        </p:nvSpPr>
        <p:spPr>
          <a:xfrm>
            <a:off x="1463040" y="5486400"/>
            <a:ext cx="9966960" cy="713232"/>
          </a:xfrm>
          <a:prstGeom prst="rect">
            <a:avLst/>
          </a:prstGeom>
          <a:noFill/>
          <a:ln/>
        </p:spPr>
        <p:txBody>
          <a:bodyPr wrap="square" lIns="0" tIns="0" rIns="0" bIns="0" rtlCol="0" anchor="ctr"/>
          <a:lstStyle/>
          <a:p>
            <a:pPr indent="0" marL="0">
              <a:buNone/>
            </a:pPr>
            <a:r>
              <a:rPr lang="en-US" sz="1400" b="1" dirty="0">
                <a:solidFill>
                  <a:schemeClr val="tx2"/>
                </a:solidFill>
              </a:rPr>
              <a:t>Not later: </a:t>
            </a:r>
            <a:pPr indent="0" marL="0">
              <a:buNone/>
            </a:pPr>
            <a:r>
              <a:rPr lang="en-US" sz="1400" dirty="0">
                <a:solidFill>
                  <a:schemeClr val="tx1"/>
                </a:solidFill>
              </a:rPr>
              <a:t>the leading landing leaves 0.2 s; the trailing leg's own signals are at chance before it lifts.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914400"/>
          </a:xfrm>
          <a:prstGeom prst="rect">
            <a:avLst/>
          </a:prstGeom>
          <a:noFill/>
          <a:ln/>
        </p:spPr>
        <p:txBody>
          <a:bodyPr wrap="square" lIns="0" tIns="0" rIns="0" bIns="0" rtlCol="0" anchor="ctr"/>
          <a:lstStyle/>
          <a:p>
            <a:pPr algn="l" indent="0" marL="0">
              <a:buNone/>
            </a:pPr>
            <a:r>
              <a:rPr lang="en-US" sz="4000" b="1" dirty="0">
                <a:solidFill>
                  <a:schemeClr val="bg1"/>
                </a:solidFill>
              </a:rPr>
              <a:t>Discussion</a:t>
            </a:r>
            <a:endParaRPr lang="en-US" sz="4000" dirty="0"/>
          </a:p>
        </p:txBody>
      </p:sp>
      <p:sp>
        <p:nvSpPr>
          <p:cNvPr id="3" name="Text 0"/>
          <p:cNvSpPr/>
          <p:nvPr>
            <p:ph idx="101" type="body" hasCustomPrompt="1"/>
          </p:nvPr>
        </p:nvSpPr>
        <p:spPr>
          <a:xfrm>
            <a:off x="731520" y="356616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What the results mean, what to build, and what is still open</a:t>
            </a:r>
            <a:endParaRPr lang="en-US" sz="2000" dirty="0"/>
          </a:p>
        </p:txBody>
      </p:sp>
      <p:sp>
        <p:nvSpPr>
          <p:cNvPr id="4" name="section number"/>
          <p:cNvSpPr txBox="1"/>
          <p:nvPr/>
        </p:nvSpPr>
        <p:spPr>
          <a:xfrm>
            <a:off x="731520" y="1417320"/>
            <a:ext cx="2743200" cy="914400"/>
          </a:xfrm>
          <a:prstGeom prst="rect">
            <a:avLst/>
          </a:prstGeom>
          <a:noFill/>
          <a:ln/>
        </p:spPr>
        <p:txBody>
          <a:bodyPr wrap="square" lIns="0" tIns="0" rIns="0" bIns="0" rtlCol="0" anchor="b"/>
          <a:lstStyle/>
          <a:p>
            <a:pPr indent="0" marL="0">
              <a:buNone/>
            </a:pPr>
            <a:r>
              <a:rPr lang="en-US" sz="5400" b="1" dirty="0">
                <a:solidFill>
                  <a:schemeClr val="accent2"/>
                </a:solidFill>
              </a:rPr>
              <a:t>06</a:t>
            </a:r>
            <a:endParaRPr lang="en-US" sz="5400" dirty="0"/>
          </a:p>
        </p:txBody>
      </p:sp>
      <p:sp>
        <p:nvSpPr>
          <p:cNvPr id="5" name="section circle"/>
          <p:cNvSpPr/>
          <p:nvPr/>
        </p:nvSpPr>
        <p:spPr>
          <a:xfrm>
            <a:off x="8915400" y="2011680"/>
            <a:ext cx="2468880" cy="2468880"/>
          </a:xfrm>
          <a:prstGeom prst="ellipse">
            <a:avLst/>
          </a:prstGeom>
          <a:solidFill>
            <a:schemeClr val="accent6"/>
          </a:solidFill>
          <a:ln/>
        </p:spPr>
      </p:sp>
      <p:pic>
        <p:nvPicPr>
          <p:cNvPr id="6" name="section icon" descr="preencoded.png">    </p:cNvPr>
          <p:cNvPicPr>
            <a:picLocks noChangeAspect="1"/>
          </p:cNvPicPr>
          <p:nvPr/>
        </p:nvPicPr>
        <p:blipFill>
          <a:blip r:embed="rId1"/>
          <a:stretch>
            <a:fillRect/>
          </a:stretch>
        </p:blipFill>
        <p:spPr>
          <a:xfrm>
            <a:off x="9507931" y="2604211"/>
            <a:ext cx="1283818" cy="1283818"/>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What the results mean</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A simple physical rule, a strong personal component, and a behavioural limit for width.</a:t>
            </a:r>
            <a:endParaRPr lang="en-US" sz="1700" dirty="0"/>
          </a:p>
        </p:txBody>
      </p:sp>
      <p:sp>
        <p:nvSpPr>
          <p:cNvPr id="4" name="meaning 1 card"/>
          <p:cNvSpPr/>
          <p:nvPr/>
        </p:nvSpPr>
        <p:spPr>
          <a:xfrm>
            <a:off x="548640" y="1691640"/>
            <a:ext cx="3493008" cy="3291840"/>
          </a:xfrm>
          <a:prstGeom prst="roundRect">
            <a:avLst>
              <a:gd name="adj" fmla="val 2778"/>
            </a:avLst>
          </a:prstGeom>
          <a:solidFill>
            <a:schemeClr val="bg2"/>
          </a:solidFill>
          <a:ln/>
        </p:spPr>
      </p:sp>
      <p:sp>
        <p:nvSpPr>
          <p:cNvPr id="5" name="meaning 1 circle"/>
          <p:cNvSpPr/>
          <p:nvPr/>
        </p:nvSpPr>
        <p:spPr>
          <a:xfrm>
            <a:off x="777240" y="1920240"/>
            <a:ext cx="640080" cy="640080"/>
          </a:xfrm>
          <a:prstGeom prst="ellipse">
            <a:avLst/>
          </a:prstGeom>
          <a:solidFill>
            <a:schemeClr val="accent3"/>
          </a:solidFill>
          <a:ln/>
        </p:spPr>
      </p:sp>
      <p:pic>
        <p:nvPicPr>
          <p:cNvPr id="6" name="meaning 1 icon" descr="preencoded.png">    </p:cNvPr>
          <p:cNvPicPr>
            <a:picLocks noChangeAspect="1"/>
          </p:cNvPicPr>
          <p:nvPr/>
        </p:nvPicPr>
        <p:blipFill>
          <a:blip r:embed="rId1"/>
          <a:stretch>
            <a:fillRect/>
          </a:stretch>
        </p:blipFill>
        <p:spPr>
          <a:xfrm>
            <a:off x="930859" y="2073859"/>
            <a:ext cx="332842" cy="332842"/>
          </a:xfrm>
          <a:prstGeom prst="rect">
            <a:avLst/>
          </a:prstGeom>
        </p:spPr>
      </p:pic>
      <p:sp>
        <p:nvSpPr>
          <p:cNvPr id="7" name="meaning 1 head"/>
          <p:cNvSpPr txBox="1"/>
          <p:nvPr/>
        </p:nvSpPr>
        <p:spPr>
          <a:xfrm>
            <a:off x="1600200" y="1920240"/>
            <a:ext cx="2212848" cy="640080"/>
          </a:xfrm>
          <a:prstGeom prst="rect">
            <a:avLst/>
          </a:prstGeom>
          <a:noFill/>
          <a:ln/>
        </p:spPr>
        <p:txBody>
          <a:bodyPr wrap="square" lIns="0" tIns="0" rIns="0" bIns="0" rtlCol="0" anchor="ctr"/>
          <a:lstStyle/>
          <a:p>
            <a:pPr indent="0" marL="0">
              <a:buNone/>
            </a:pPr>
            <a:r>
              <a:rPr lang="en-US" sz="1800" b="1" dirty="0">
                <a:solidFill>
                  <a:schemeClr val="tx2"/>
                </a:solidFill>
              </a:rPr>
              <a:t>A simple rule plus a person</a:t>
            </a:r>
            <a:endParaRPr lang="en-US" sz="1800" dirty="0"/>
          </a:p>
        </p:txBody>
      </p:sp>
      <p:sp>
        <p:nvSpPr>
          <p:cNvPr id="8" name="meaning 1 body"/>
          <p:cNvSpPr txBox="1"/>
          <p:nvPr/>
        </p:nvSpPr>
        <p:spPr>
          <a:xfrm>
            <a:off x="777240" y="2743200"/>
            <a:ext cx="3035808" cy="2103120"/>
          </a:xfrm>
          <a:prstGeom prst="rect">
            <a:avLst/>
          </a:prstGeom>
          <a:noFill/>
          <a:ln/>
        </p:spPr>
        <p:txBody>
          <a:bodyPr wrap="square" lIns="0" tIns="0" rIns="0" bIns="0" rtlCol="0" anchor="t"/>
          <a:lstStyle/>
          <a:p>
            <a:pPr indent="0" marL="0">
              <a:buNone/>
            </a:pPr>
            <a:r>
              <a:rPr lang="en-US" sz="1400" dirty="0">
                <a:solidFill>
                  <a:schemeClr val="tx1"/>
                </a:solidFill>
              </a:rPr>
              <a:t>People lift each foot by about the obstacle height and keep their margin, but each person has a strong walking signature and a personal margin of about two thirds of a height step.</a:t>
            </a:r>
            <a:endParaRPr lang="en-US" sz="1400" dirty="0"/>
          </a:p>
        </p:txBody>
      </p:sp>
      <p:sp>
        <p:nvSpPr>
          <p:cNvPr id="9" name="meaning 2 card"/>
          <p:cNvSpPr/>
          <p:nvPr/>
        </p:nvSpPr>
        <p:spPr>
          <a:xfrm>
            <a:off x="4347972" y="1691640"/>
            <a:ext cx="3493008" cy="3291840"/>
          </a:xfrm>
          <a:prstGeom prst="roundRect">
            <a:avLst>
              <a:gd name="adj" fmla="val 2778"/>
            </a:avLst>
          </a:prstGeom>
          <a:solidFill>
            <a:schemeClr val="bg2"/>
          </a:solidFill>
          <a:ln/>
        </p:spPr>
      </p:sp>
      <p:sp>
        <p:nvSpPr>
          <p:cNvPr id="10" name="meaning 2 circle"/>
          <p:cNvSpPr/>
          <p:nvPr/>
        </p:nvSpPr>
        <p:spPr>
          <a:xfrm>
            <a:off x="4576572" y="1920240"/>
            <a:ext cx="640080" cy="640080"/>
          </a:xfrm>
          <a:prstGeom prst="ellipse">
            <a:avLst/>
          </a:prstGeom>
          <a:solidFill>
            <a:schemeClr val="accent4"/>
          </a:solidFill>
          <a:ln/>
        </p:spPr>
      </p:sp>
      <p:pic>
        <p:nvPicPr>
          <p:cNvPr id="11" name="meaning 2 icon" descr="preencoded.png">    </p:cNvPr>
          <p:cNvPicPr>
            <a:picLocks noChangeAspect="1"/>
          </p:cNvPicPr>
          <p:nvPr/>
        </p:nvPicPr>
        <p:blipFill>
          <a:blip r:embed="rId2"/>
          <a:stretch>
            <a:fillRect/>
          </a:stretch>
        </p:blipFill>
        <p:spPr>
          <a:xfrm>
            <a:off x="4730191" y="2073859"/>
            <a:ext cx="332842" cy="332842"/>
          </a:xfrm>
          <a:prstGeom prst="rect">
            <a:avLst/>
          </a:prstGeom>
        </p:spPr>
      </p:pic>
      <p:sp>
        <p:nvSpPr>
          <p:cNvPr id="12" name="meaning 2 head"/>
          <p:cNvSpPr txBox="1"/>
          <p:nvPr/>
        </p:nvSpPr>
        <p:spPr>
          <a:xfrm>
            <a:off x="5399532" y="1920240"/>
            <a:ext cx="2212848" cy="640080"/>
          </a:xfrm>
          <a:prstGeom prst="rect">
            <a:avLst/>
          </a:prstGeom>
          <a:noFill/>
          <a:ln/>
        </p:spPr>
        <p:txBody>
          <a:bodyPr wrap="square" lIns="0" tIns="0" rIns="0" bIns="0" rtlCol="0" anchor="ctr"/>
          <a:lstStyle/>
          <a:p>
            <a:pPr indent="0" marL="0">
              <a:buNone/>
            </a:pPr>
            <a:r>
              <a:rPr lang="en-US" sz="1800" b="1" dirty="0">
                <a:solidFill>
                  <a:schemeClr val="tx2"/>
                </a:solidFill>
              </a:rPr>
              <a:t>Personalise without labels</a:t>
            </a:r>
            <a:endParaRPr lang="en-US" sz="1800" dirty="0"/>
          </a:p>
        </p:txBody>
      </p:sp>
      <p:sp>
        <p:nvSpPr>
          <p:cNvPr id="13" name="meaning 2 body"/>
          <p:cNvSpPr txBox="1"/>
          <p:nvPr/>
        </p:nvSpPr>
        <p:spPr>
          <a:xfrm>
            <a:off x="4576572" y="2743200"/>
            <a:ext cx="3035808" cy="2103120"/>
          </a:xfrm>
          <a:prstGeom prst="rect">
            <a:avLst/>
          </a:prstGeom>
          <a:noFill/>
          <a:ln/>
        </p:spPr>
        <p:txBody>
          <a:bodyPr wrap="square" lIns="0" tIns="0" rIns="0" bIns="0" rtlCol="0" anchor="t"/>
          <a:lstStyle/>
          <a:p>
            <a:pPr indent="0" marL="0">
              <a:buNone/>
            </a:pPr>
            <a:r>
              <a:rPr lang="en-US" sz="1400" dirty="0">
                <a:solidFill>
                  <a:schemeClr val="tx1"/>
                </a:solidFill>
              </a:rPr>
              <a:t>Generic models confuse neighbouring heights (56–73 %). Scaling to the person's own crossings removes the personal part: 90–92 % for a new person.</a:t>
            </a:r>
            <a:endParaRPr lang="en-US" sz="1400" dirty="0"/>
          </a:p>
        </p:txBody>
      </p:sp>
      <p:sp>
        <p:nvSpPr>
          <p:cNvPr id="14" name="meaning 3 card"/>
          <p:cNvSpPr/>
          <p:nvPr/>
        </p:nvSpPr>
        <p:spPr>
          <a:xfrm>
            <a:off x="8147304" y="1691640"/>
            <a:ext cx="3493008" cy="3291840"/>
          </a:xfrm>
          <a:prstGeom prst="roundRect">
            <a:avLst>
              <a:gd name="adj" fmla="val 2778"/>
            </a:avLst>
          </a:prstGeom>
          <a:solidFill>
            <a:schemeClr val="bg2"/>
          </a:solidFill>
          <a:ln/>
        </p:spPr>
      </p:sp>
      <p:sp>
        <p:nvSpPr>
          <p:cNvPr id="15" name="meaning 3 circle"/>
          <p:cNvSpPr/>
          <p:nvPr/>
        </p:nvSpPr>
        <p:spPr>
          <a:xfrm>
            <a:off x="8375904" y="1920240"/>
            <a:ext cx="640080" cy="640080"/>
          </a:xfrm>
          <a:prstGeom prst="ellipse">
            <a:avLst/>
          </a:prstGeom>
          <a:solidFill>
            <a:schemeClr val="accent6"/>
          </a:solidFill>
          <a:ln/>
        </p:spPr>
      </p:sp>
      <p:pic>
        <p:nvPicPr>
          <p:cNvPr id="16" name="meaning 3 icon" descr="preencoded.png">    </p:cNvPr>
          <p:cNvPicPr>
            <a:picLocks noChangeAspect="1"/>
          </p:cNvPicPr>
          <p:nvPr/>
        </p:nvPicPr>
        <p:blipFill>
          <a:blip r:embed="rId3"/>
          <a:stretch>
            <a:fillRect/>
          </a:stretch>
        </p:blipFill>
        <p:spPr>
          <a:xfrm>
            <a:off x="8529523" y="2073859"/>
            <a:ext cx="332842" cy="332842"/>
          </a:xfrm>
          <a:prstGeom prst="rect">
            <a:avLst/>
          </a:prstGeom>
        </p:spPr>
      </p:pic>
      <p:sp>
        <p:nvSpPr>
          <p:cNvPr id="17" name="meaning 3 head"/>
          <p:cNvSpPr txBox="1"/>
          <p:nvPr/>
        </p:nvSpPr>
        <p:spPr>
          <a:xfrm>
            <a:off x="9198864" y="1920240"/>
            <a:ext cx="2212848" cy="640080"/>
          </a:xfrm>
          <a:prstGeom prst="rect">
            <a:avLst/>
          </a:prstGeom>
          <a:noFill/>
          <a:ln/>
        </p:spPr>
        <p:txBody>
          <a:bodyPr wrap="square" lIns="0" tIns="0" rIns="0" bIns="0" rtlCol="0" anchor="ctr"/>
          <a:lstStyle/>
          <a:p>
            <a:pPr indent="0" marL="0">
              <a:buNone/>
            </a:pPr>
            <a:r>
              <a:rPr lang="en-US" sz="1800" b="1" dirty="0">
                <a:solidFill>
                  <a:schemeClr val="tx2"/>
                </a:solidFill>
              </a:rPr>
              <a:t>Height yes, width no</a:t>
            </a:r>
            <a:endParaRPr lang="en-US" sz="1800" dirty="0"/>
          </a:p>
        </p:txBody>
      </p:sp>
      <p:sp>
        <p:nvSpPr>
          <p:cNvPr id="18" name="meaning 3 body"/>
          <p:cNvSpPr txBox="1"/>
          <p:nvPr/>
        </p:nvSpPr>
        <p:spPr>
          <a:xfrm>
            <a:off x="8375904" y="2743200"/>
            <a:ext cx="3035808" cy="2103120"/>
          </a:xfrm>
          <a:prstGeom prst="rect">
            <a:avLst/>
          </a:prstGeom>
          <a:noFill/>
          <a:ln/>
        </p:spPr>
        <p:txBody>
          <a:bodyPr wrap="square" lIns="0" tIns="0" rIns="0" bIns="0" rtlCol="0" anchor="t"/>
          <a:lstStyle/>
          <a:p>
            <a:pPr indent="0" marL="0">
              <a:buNone/>
            </a:pPr>
            <a:r>
              <a:rPr lang="en-US" sz="1400" dirty="0">
                <a:solidFill>
                  <a:schemeClr val="tx1"/>
                </a:solidFill>
              </a:rPr>
              <a:t>Height is readable early, from two foot IMUs, without a camera. Width is not: people cross 5 and 15 cm deep obstacles alike.</a:t>
            </a:r>
            <a:endParaRPr lang="en-US" sz="1400" dirty="0"/>
          </a:p>
        </p:txBody>
      </p:sp>
      <p:sp>
        <p:nvSpPr>
          <p:cNvPr id="19" name="robust band"/>
          <p:cNvSpPr/>
          <p:nvPr/>
        </p:nvSpPr>
        <p:spPr>
          <a:xfrm>
            <a:off x="548640" y="5212080"/>
            <a:ext cx="11091672" cy="960120"/>
          </a:xfrm>
          <a:prstGeom prst="roundRect">
            <a:avLst>
              <a:gd name="adj" fmla="val 9524"/>
            </a:avLst>
          </a:prstGeom>
          <a:solidFill>
            <a:schemeClr val="accent3">
              <a:alpha val="12000"/>
            </a:schemeClr>
          </a:solidFill>
          <a:ln/>
        </p:spPr>
      </p:sp>
      <p:sp>
        <p:nvSpPr>
          <p:cNvPr id="20" name="robust circle"/>
          <p:cNvSpPr/>
          <p:nvPr/>
        </p:nvSpPr>
        <p:spPr>
          <a:xfrm>
            <a:off x="777240" y="5376672"/>
            <a:ext cx="621792" cy="621792"/>
          </a:xfrm>
          <a:prstGeom prst="ellipse">
            <a:avLst/>
          </a:prstGeom>
          <a:solidFill>
            <a:schemeClr val="accent3"/>
          </a:solidFill>
          <a:ln/>
        </p:spPr>
      </p:sp>
      <p:pic>
        <p:nvPicPr>
          <p:cNvPr id="21" name="robust icon" descr="preencoded.png">    </p:cNvPr>
          <p:cNvPicPr>
            <a:picLocks noChangeAspect="1"/>
          </p:cNvPicPr>
          <p:nvPr/>
        </p:nvPicPr>
        <p:blipFill>
          <a:blip r:embed="rId4"/>
          <a:stretch>
            <a:fillRect/>
          </a:stretch>
        </p:blipFill>
        <p:spPr>
          <a:xfrm>
            <a:off x="926470" y="5525902"/>
            <a:ext cx="323332" cy="323332"/>
          </a:xfrm>
          <a:prstGeom prst="rect">
            <a:avLst/>
          </a:prstGeom>
        </p:spPr>
      </p:pic>
      <p:sp>
        <p:nvSpPr>
          <p:cNvPr id="22" name="robust text"/>
          <p:cNvSpPr txBox="1"/>
          <p:nvPr/>
        </p:nvSpPr>
        <p:spPr>
          <a:xfrm>
            <a:off x="1600200" y="5212080"/>
            <a:ext cx="9829800" cy="960120"/>
          </a:xfrm>
          <a:prstGeom prst="rect">
            <a:avLst/>
          </a:prstGeom>
          <a:noFill/>
          <a:ln/>
        </p:spPr>
        <p:txBody>
          <a:bodyPr wrap="square" lIns="0" tIns="0" rIns="0" bIns="0" rtlCol="0" anchor="ctr"/>
          <a:lstStyle/>
          <a:p>
            <a:pPr indent="0" marL="0">
              <a:buNone/>
            </a:pPr>
            <a:r>
              <a:rPr lang="en-US" sz="1500" b="1" dirty="0">
                <a:solidFill>
                  <a:schemeClr val="tx2"/>
                </a:solidFill>
              </a:rPr>
              <a:t>Trustworthy within n = 10: </a:t>
            </a:r>
            <a:pPr indent="0" marL="0">
              <a:buNone/>
            </a:pPr>
            <a:r>
              <a:rPr lang="en-US" sz="1500" dirty="0">
                <a:solidFill>
                  <a:schemeClr val="tx1"/>
                </a:solidFill>
              </a:rPr>
              <a:t>unseen-person testing throughout, nested model choice, permutation p ≤ 0.003, and MATLAB matches Python (logistic 0.0, forest 0.9 points).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Recommendations for the haptic cue</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Answers to the design questions, with the evidence from this study.</a:t>
            </a:r>
            <a:endParaRPr lang="en-US" sz="1700" dirty="0"/>
          </a:p>
        </p:txBody>
      </p:sp>
      <p:graphicFrame>
        <p:nvGraphicFramePr>
          <p:cNvPr id="37" name="design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103120"/>
                <a:gridCol w="5330952"/>
                <a:gridCol w="3657600"/>
              </a:tblGrid>
              <a:tr h="548640">
                <a:tc>
                  <a:txBody>
                    <a:bodyPr/>
                    <a:lstStyle/>
                    <a:p>
                      <a:pPr indent="0" marL="0">
                        <a:buNone/>
                      </a:pPr>
                      <a:r>
                        <a:rPr lang="en-US" sz="1400" b="1" dirty="0">
                          <a:solidFill>
                            <a:schemeClr val="bg1"/>
                          </a:solidFill>
                          <a:latin typeface="Arial" pitchFamily="34" charset="0"/>
                          <a:ea typeface="Arial" pitchFamily="34" charset="-122"/>
                          <a:cs typeface="Arial" pitchFamily="34" charset="-120"/>
                        </a:rPr>
                        <a:t>Question</a:t>
                      </a:r>
                      <a:endParaRPr lang="en-US" sz="1400" dirty="0">
                        <a:latin typeface="Arial" charset="0"/>
                        <a:ea typeface="Arial" charset="0"/>
                        <a:cs typeface="Arial" charset="0"/>
                      </a:endParaRPr>
                    </a:p>
                  </a:txBody>
                  <a:tcPr marL="91440" marR="91440" marT="36576" marB="36576">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Answer</a:t>
                      </a:r>
                      <a:endParaRPr lang="en-US" sz="1400" dirty="0">
                        <a:latin typeface="Arial" charset="0"/>
                        <a:ea typeface="Arial" charset="0"/>
                        <a:cs typeface="Arial" charset="0"/>
                      </a:endParaRPr>
                    </a:p>
                  </a:txBody>
                  <a:tcPr marL="91440" marR="91440" marT="36576" marB="36576">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Evidence</a:t>
                      </a:r>
                      <a:endParaRPr lang="en-US" sz="1400" dirty="0">
                        <a:latin typeface="Arial" charset="0"/>
                        <a:ea typeface="Arial" charset="0"/>
                        <a:cs typeface="Arial" charset="0"/>
                      </a:endParaRPr>
                    </a:p>
                  </a:txBody>
                  <a:tcPr marL="91440" marR="91440" marT="36576" marB="36576">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2"/>
                          </a:solidFill>
                          <a:latin typeface="Arial" pitchFamily="34" charset="0"/>
                          <a:ea typeface="Arial" pitchFamily="34" charset="-122"/>
                          <a:cs typeface="Arial" pitchFamily="34" charset="-120"/>
                        </a:rPr>
                        <a:t>When?</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 the leading-foot apex at the latest (≈ 0.45 s left); detect the crossing earlier (0.57–0.71 s).</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Height ≈ 80 % known at the apex; the landing leaves 0.2 s.</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Arial" pitchFamily="34" charset="0"/>
                          <a:ea typeface="Arial" pitchFamily="34" charset="-122"/>
                          <a:cs typeface="Arial" pitchFamily="34" charset="-120"/>
                        </a:rPr>
                        <a:t>Which leg?</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leading leg gives the information for the trailing leg.</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Trailing leg at chance before lift-off (41–51 %).</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Arial" pitchFamily="34" charset="0"/>
                          <a:ea typeface="Arial" pitchFamily="34" charset="-122"/>
                          <a:cs typeface="Arial" pitchFamily="34" charset="-120"/>
                        </a:rPr>
                        <a:t>Which sensor?</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 foot IMU on each foot; if only angles are measured, the leading thigh.</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Foot 88–92 %; the leading shank carries nothing.</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Arial" pitchFamily="34" charset="0"/>
                          <a:ea typeface="Arial" pitchFamily="34" charset="-122"/>
                          <a:cs typeface="Arial" pitchFamily="34" charset="-120"/>
                        </a:rPr>
                        <a:t>Detection</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Leading thigh &gt; +6° or leading foot &gt; +19 mm above normal walking.</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97–99 % sensitivity, 98 % specificity.</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Arial" pitchFamily="34" charset="0"/>
                          <a:ea typeface="Arial" pitchFamily="34" charset="-122"/>
                          <a:cs typeface="Arial" pitchFamily="34" charset="-120"/>
                        </a:rPr>
                        <a:t>Height thresholds</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Personal, around the person's typical crossing (e.g. −36 / +39 mm).</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73 % personal vs 45–52 % population.</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Arial" pitchFamily="34" charset="0"/>
                          <a:ea typeface="Arial" pitchFamily="34" charset="-122"/>
                          <a:cs typeface="Arial" pitchFamily="34" charset="-120"/>
                        </a:rPr>
                        <a:t>Calibration</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 short normal walk plus own crossings (no labels), updated during use.</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10–15 crossings 81–85 %; a session 92 %.</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Arial" pitchFamily="34" charset="0"/>
                          <a:ea typeface="Arial" pitchFamily="34" charset="-122"/>
                          <a:cs typeface="Arial" pitchFamily="34" charset="-120"/>
                        </a:rPr>
                        <a:t>Reliability</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Cue only when the model is confident (p ≥ 0.6).</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79–82 % of the given cues right.</a:t>
                      </a:r>
                      <a:endParaRPr lang="en-US" sz="1300" dirty="0">
                        <a:latin typeface="Arial" charset="0"/>
                        <a:ea typeface="Arial" charset="0"/>
                        <a:cs typeface="Arial" charset="0"/>
                      </a:endParaRPr>
                    </a:p>
                  </a:txBody>
                  <a:tcPr marL="91440" marR="91440" marT="36576" marB="36576"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Limitations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Feasibility results: strict tests, but a small and young sample in a laboratory.</a:t>
            </a:r>
            <a:endParaRPr lang="en-US" sz="1700" dirty="0"/>
          </a:p>
        </p:txBody>
      </p:sp>
      <p:sp>
        <p:nvSpPr>
          <p:cNvPr id="4" name="limit 1 card"/>
          <p:cNvSpPr/>
          <p:nvPr/>
        </p:nvSpPr>
        <p:spPr>
          <a:xfrm>
            <a:off x="548640" y="1691640"/>
            <a:ext cx="3493008" cy="2103120"/>
          </a:xfrm>
          <a:prstGeom prst="roundRect">
            <a:avLst>
              <a:gd name="adj" fmla="val 4348"/>
            </a:avLst>
          </a:prstGeom>
          <a:solidFill>
            <a:schemeClr val="bg2"/>
          </a:solidFill>
          <a:ln/>
        </p:spPr>
      </p:sp>
      <p:sp>
        <p:nvSpPr>
          <p:cNvPr id="5" name="limit 1 circle"/>
          <p:cNvSpPr/>
          <p:nvPr/>
        </p:nvSpPr>
        <p:spPr>
          <a:xfrm>
            <a:off x="777240" y="1920240"/>
            <a:ext cx="502920" cy="502920"/>
          </a:xfrm>
          <a:prstGeom prst="ellipse">
            <a:avLst/>
          </a:prstGeom>
          <a:solidFill>
            <a:schemeClr val="accent5"/>
          </a:solidFill>
          <a:ln/>
        </p:spPr>
      </p:sp>
      <p:pic>
        <p:nvPicPr>
          <p:cNvPr id="6" name="limit 1 icon"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7" name="limit 1 head"/>
          <p:cNvSpPr txBox="1"/>
          <p:nvPr/>
        </p:nvSpPr>
        <p:spPr>
          <a:xfrm>
            <a:off x="1463040" y="1920240"/>
            <a:ext cx="2350008" cy="502920"/>
          </a:xfrm>
          <a:prstGeom prst="rect">
            <a:avLst/>
          </a:prstGeom>
          <a:noFill/>
          <a:ln/>
        </p:spPr>
        <p:txBody>
          <a:bodyPr wrap="square" lIns="0" tIns="0" rIns="0" bIns="0" rtlCol="0" anchor="ctr"/>
          <a:lstStyle/>
          <a:p>
            <a:pPr indent="0" marL="0">
              <a:buNone/>
            </a:pPr>
            <a:r>
              <a:rPr lang="en-US" sz="1600" b="1" dirty="0">
                <a:solidFill>
                  <a:schemeClr val="tx2"/>
                </a:solidFill>
              </a:rPr>
              <a:t>Ten young adults</a:t>
            </a:r>
            <a:endParaRPr lang="en-US" sz="1600" dirty="0"/>
          </a:p>
        </p:txBody>
      </p:sp>
      <p:sp>
        <p:nvSpPr>
          <p:cNvPr id="8" name="limit 1 body"/>
          <p:cNvSpPr txBox="1"/>
          <p:nvPr/>
        </p:nvSpPr>
        <p:spPr>
          <a:xfrm>
            <a:off x="777240" y="2606040"/>
            <a:ext cx="3035808" cy="1051560"/>
          </a:xfrm>
          <a:prstGeom prst="rect">
            <a:avLst/>
          </a:prstGeom>
          <a:noFill/>
          <a:ln/>
        </p:spPr>
        <p:txBody>
          <a:bodyPr wrap="square" lIns="0" tIns="0" rIns="0" bIns="0" rtlCol="0" anchor="t"/>
          <a:lstStyle/>
          <a:p>
            <a:pPr indent="0" marL="0">
              <a:buNone/>
            </a:pPr>
            <a:r>
              <a:rPr lang="en-US" sz="1400" dirty="0">
                <a:solidFill>
                  <a:schemeClr val="tx1"/>
                </a:solidFill>
              </a:rPr>
              <a:t>Confirm on new people and on older adults, whose strategies and reaction times differ.</a:t>
            </a:r>
            <a:endParaRPr lang="en-US" sz="1400" dirty="0"/>
          </a:p>
        </p:txBody>
      </p:sp>
      <p:sp>
        <p:nvSpPr>
          <p:cNvPr id="9" name="limit 2 card"/>
          <p:cNvSpPr/>
          <p:nvPr/>
        </p:nvSpPr>
        <p:spPr>
          <a:xfrm>
            <a:off x="4347972" y="1691640"/>
            <a:ext cx="3493008" cy="2103120"/>
          </a:xfrm>
          <a:prstGeom prst="roundRect">
            <a:avLst>
              <a:gd name="adj" fmla="val 4348"/>
            </a:avLst>
          </a:prstGeom>
          <a:solidFill>
            <a:schemeClr val="bg2"/>
          </a:solidFill>
          <a:ln/>
        </p:spPr>
      </p:sp>
      <p:sp>
        <p:nvSpPr>
          <p:cNvPr id="10" name="limit 2 circle"/>
          <p:cNvSpPr/>
          <p:nvPr/>
        </p:nvSpPr>
        <p:spPr>
          <a:xfrm>
            <a:off x="4576572" y="1920240"/>
            <a:ext cx="502920" cy="502920"/>
          </a:xfrm>
          <a:prstGeom prst="ellipse">
            <a:avLst/>
          </a:prstGeom>
          <a:solidFill>
            <a:schemeClr val="accent2"/>
          </a:solidFill>
          <a:ln/>
        </p:spPr>
      </p:sp>
      <p:pic>
        <p:nvPicPr>
          <p:cNvPr id="11" name="limit 2 icon" descr="preencoded.png">    </p:cNvPr>
          <p:cNvPicPr>
            <a:picLocks noChangeAspect="1"/>
          </p:cNvPicPr>
          <p:nvPr/>
        </p:nvPicPr>
        <p:blipFill>
          <a:blip r:embed="rId2"/>
          <a:stretch>
            <a:fillRect/>
          </a:stretch>
        </p:blipFill>
        <p:spPr>
          <a:xfrm>
            <a:off x="4697273" y="2040941"/>
            <a:ext cx="261518" cy="261518"/>
          </a:xfrm>
          <a:prstGeom prst="rect">
            <a:avLst/>
          </a:prstGeom>
        </p:spPr>
      </p:pic>
      <p:sp>
        <p:nvSpPr>
          <p:cNvPr id="12" name="limit 2 head"/>
          <p:cNvSpPr txBox="1"/>
          <p:nvPr/>
        </p:nvSpPr>
        <p:spPr>
          <a:xfrm>
            <a:off x="5262372" y="1920240"/>
            <a:ext cx="2350008" cy="502920"/>
          </a:xfrm>
          <a:prstGeom prst="rect">
            <a:avLst/>
          </a:prstGeom>
          <a:noFill/>
          <a:ln/>
        </p:spPr>
        <p:txBody>
          <a:bodyPr wrap="square" lIns="0" tIns="0" rIns="0" bIns="0" rtlCol="0" anchor="ctr"/>
          <a:lstStyle/>
          <a:p>
            <a:pPr indent="0" marL="0">
              <a:buNone/>
            </a:pPr>
            <a:r>
              <a:rPr lang="en-US" sz="1600" b="1" dirty="0">
                <a:solidFill>
                  <a:schemeClr val="tx2"/>
                </a:solidFill>
              </a:rPr>
              <a:t>Blocked obstacle order</a:t>
            </a:r>
            <a:endParaRPr lang="en-US" sz="1600" dirty="0"/>
          </a:p>
        </p:txBody>
      </p:sp>
      <p:sp>
        <p:nvSpPr>
          <p:cNvPr id="13" name="limit 2 body"/>
          <p:cNvSpPr txBox="1"/>
          <p:nvPr/>
        </p:nvSpPr>
        <p:spPr>
          <a:xfrm>
            <a:off x="4576572" y="2606040"/>
            <a:ext cx="3035808" cy="1051560"/>
          </a:xfrm>
          <a:prstGeom prst="rect">
            <a:avLst/>
          </a:prstGeom>
          <a:noFill/>
          <a:ln/>
        </p:spPr>
        <p:txBody>
          <a:bodyPr wrap="square" lIns="0" tIns="0" rIns="0" bIns="0" rtlCol="0" anchor="t"/>
          <a:lstStyle/>
          <a:p>
            <a:pPr indent="0" marL="0">
              <a:buNone/>
            </a:pPr>
            <a:r>
              <a:rPr lang="en-US" sz="1400" dirty="0">
                <a:solidFill>
                  <a:schemeClr val="tx1"/>
                </a:solidFill>
              </a:rPr>
              <a:t>A mixed session was simulated by shuffling the recorded crossings.</a:t>
            </a:r>
            <a:endParaRPr lang="en-US" sz="1400" dirty="0"/>
          </a:p>
        </p:txBody>
      </p:sp>
      <p:sp>
        <p:nvSpPr>
          <p:cNvPr id="14" name="limit 3 card"/>
          <p:cNvSpPr/>
          <p:nvPr/>
        </p:nvSpPr>
        <p:spPr>
          <a:xfrm>
            <a:off x="8147304" y="1691640"/>
            <a:ext cx="3493008" cy="2103120"/>
          </a:xfrm>
          <a:prstGeom prst="roundRect">
            <a:avLst>
              <a:gd name="adj" fmla="val 4348"/>
            </a:avLst>
          </a:prstGeom>
          <a:solidFill>
            <a:schemeClr val="bg2"/>
          </a:solidFill>
          <a:ln/>
        </p:spPr>
      </p:sp>
      <p:sp>
        <p:nvSpPr>
          <p:cNvPr id="15" name="limit 3 circle"/>
          <p:cNvSpPr/>
          <p:nvPr/>
        </p:nvSpPr>
        <p:spPr>
          <a:xfrm>
            <a:off x="8375904" y="1920240"/>
            <a:ext cx="502920" cy="502920"/>
          </a:xfrm>
          <a:prstGeom prst="ellipse">
            <a:avLst/>
          </a:prstGeom>
          <a:solidFill>
            <a:schemeClr val="accent6"/>
          </a:solidFill>
          <a:ln/>
        </p:spPr>
      </p:sp>
      <p:pic>
        <p:nvPicPr>
          <p:cNvPr id="16" name="limit 3 icon" descr="preencoded.png">    </p:cNvPr>
          <p:cNvPicPr>
            <a:picLocks noChangeAspect="1"/>
          </p:cNvPicPr>
          <p:nvPr/>
        </p:nvPicPr>
        <p:blipFill>
          <a:blip r:embed="rId3"/>
          <a:stretch>
            <a:fillRect/>
          </a:stretch>
        </p:blipFill>
        <p:spPr>
          <a:xfrm>
            <a:off x="8496605" y="2040941"/>
            <a:ext cx="261518" cy="261518"/>
          </a:xfrm>
          <a:prstGeom prst="rect">
            <a:avLst/>
          </a:prstGeom>
        </p:spPr>
      </p:pic>
      <p:sp>
        <p:nvSpPr>
          <p:cNvPr id="17" name="limit 3 head"/>
          <p:cNvSpPr txBox="1"/>
          <p:nvPr/>
        </p:nvSpPr>
        <p:spPr>
          <a:xfrm>
            <a:off x="9061704" y="1920240"/>
            <a:ext cx="2350008" cy="502920"/>
          </a:xfrm>
          <a:prstGeom prst="rect">
            <a:avLst/>
          </a:prstGeom>
          <a:noFill/>
          <a:ln/>
        </p:spPr>
        <p:txBody>
          <a:bodyPr wrap="square" lIns="0" tIns="0" rIns="0" bIns="0" rtlCol="0" anchor="ctr"/>
          <a:lstStyle/>
          <a:p>
            <a:pPr indent="0" marL="0">
              <a:buNone/>
            </a:pPr>
            <a:r>
              <a:rPr lang="en-US" sz="1600" b="1" dirty="0">
                <a:solidFill>
                  <a:schemeClr val="tx2"/>
                </a:solidFill>
              </a:rPr>
              <a:t>Camera-defined roles</a:t>
            </a:r>
            <a:endParaRPr lang="en-US" sz="1600" dirty="0"/>
          </a:p>
        </p:txBody>
      </p:sp>
      <p:sp>
        <p:nvSpPr>
          <p:cNvPr id="18" name="limit 3 body"/>
          <p:cNvSpPr txBox="1"/>
          <p:nvPr/>
        </p:nvSpPr>
        <p:spPr>
          <a:xfrm>
            <a:off x="8375904" y="2606040"/>
            <a:ext cx="3035808" cy="1051560"/>
          </a:xfrm>
          <a:prstGeom prst="rect">
            <a:avLst/>
          </a:prstGeom>
          <a:noFill/>
          <a:ln/>
        </p:spPr>
        <p:txBody>
          <a:bodyPr wrap="square" lIns="0" tIns="0" rIns="0" bIns="0" rtlCol="0" anchor="t"/>
          <a:lstStyle/>
          <a:p>
            <a:pPr indent="0" marL="0">
              <a:buNone/>
            </a:pPr>
            <a:r>
              <a:rPr lang="en-US" sz="1400" dirty="0">
                <a:solidFill>
                  <a:schemeClr val="tx1"/>
                </a:solidFill>
              </a:rPr>
              <a:t>Most analyses take leg roles and strides from the camera; the IMU pipeline pairs 95 % of crossings fully.</a:t>
            </a:r>
            <a:endParaRPr lang="en-US" sz="1400" dirty="0"/>
          </a:p>
        </p:txBody>
      </p:sp>
      <p:sp>
        <p:nvSpPr>
          <p:cNvPr id="19" name="limit 4 card"/>
          <p:cNvSpPr/>
          <p:nvPr/>
        </p:nvSpPr>
        <p:spPr>
          <a:xfrm>
            <a:off x="548640" y="3977640"/>
            <a:ext cx="3493008" cy="2103120"/>
          </a:xfrm>
          <a:prstGeom prst="roundRect">
            <a:avLst>
              <a:gd name="adj" fmla="val 4348"/>
            </a:avLst>
          </a:prstGeom>
          <a:solidFill>
            <a:schemeClr val="bg2"/>
          </a:solidFill>
          <a:ln/>
        </p:spPr>
      </p:sp>
      <p:sp>
        <p:nvSpPr>
          <p:cNvPr id="20" name="limit 4 circle"/>
          <p:cNvSpPr/>
          <p:nvPr/>
        </p:nvSpPr>
        <p:spPr>
          <a:xfrm>
            <a:off x="777240" y="4206240"/>
            <a:ext cx="502920" cy="502920"/>
          </a:xfrm>
          <a:prstGeom prst="ellipse">
            <a:avLst/>
          </a:prstGeom>
          <a:solidFill>
            <a:schemeClr val="accent2"/>
          </a:solidFill>
          <a:ln/>
        </p:spPr>
      </p:sp>
      <p:pic>
        <p:nvPicPr>
          <p:cNvPr id="21" name="limit 4 icon" descr="preencoded.png">    </p:cNvPr>
          <p:cNvPicPr>
            <a:picLocks noChangeAspect="1"/>
          </p:cNvPicPr>
          <p:nvPr/>
        </p:nvPicPr>
        <p:blipFill>
          <a:blip r:embed="rId4"/>
          <a:stretch>
            <a:fillRect/>
          </a:stretch>
        </p:blipFill>
        <p:spPr>
          <a:xfrm>
            <a:off x="897941" y="4326941"/>
            <a:ext cx="261518" cy="261518"/>
          </a:xfrm>
          <a:prstGeom prst="rect">
            <a:avLst/>
          </a:prstGeom>
        </p:spPr>
      </p:pic>
      <p:sp>
        <p:nvSpPr>
          <p:cNvPr id="22" name="limit 4 head"/>
          <p:cNvSpPr txBox="1"/>
          <p:nvPr/>
        </p:nvSpPr>
        <p:spPr>
          <a:xfrm>
            <a:off x="1463040" y="4206240"/>
            <a:ext cx="2350008" cy="502920"/>
          </a:xfrm>
          <a:prstGeom prst="rect">
            <a:avLst/>
          </a:prstGeom>
          <a:noFill/>
          <a:ln/>
        </p:spPr>
        <p:txBody>
          <a:bodyPr wrap="square" lIns="0" tIns="0" rIns="0" bIns="0" rtlCol="0" anchor="ctr"/>
          <a:lstStyle/>
          <a:p>
            <a:pPr indent="0" marL="0">
              <a:buNone/>
            </a:pPr>
            <a:r>
              <a:rPr lang="en-US" sz="1600" b="1" dirty="0">
                <a:solidFill>
                  <a:schemeClr val="tx2"/>
                </a:solidFill>
              </a:rPr>
              <a:t>Features after first results</a:t>
            </a:r>
            <a:endParaRPr lang="en-US" sz="1600" dirty="0"/>
          </a:p>
        </p:txBody>
      </p:sp>
      <p:sp>
        <p:nvSpPr>
          <p:cNvPr id="23" name="limit 4 body"/>
          <p:cNvSpPr txBox="1"/>
          <p:nvPr/>
        </p:nvSpPr>
        <p:spPr>
          <a:xfrm>
            <a:off x="777240" y="4892040"/>
            <a:ext cx="3035808" cy="1051560"/>
          </a:xfrm>
          <a:prstGeom prst="rect">
            <a:avLst/>
          </a:prstGeom>
          <a:noFill/>
          <a:ln/>
        </p:spPr>
        <p:txBody>
          <a:bodyPr wrap="square" lIns="0" tIns="0" rIns="0" bIns="0" rtlCol="0" anchor="t"/>
          <a:lstStyle/>
          <a:p>
            <a:pPr indent="0" marL="0">
              <a:buNone/>
            </a:pPr>
            <a:r>
              <a:rPr lang="en-US" sz="1400" dirty="0">
                <a:solidFill>
                  <a:schemeClr val="tx1"/>
                </a:solidFill>
              </a:rPr>
              <a:t>The clearance-shape features were designed after the first models: a small optimism may remain.</a:t>
            </a:r>
            <a:endParaRPr lang="en-US" sz="1400" dirty="0"/>
          </a:p>
        </p:txBody>
      </p:sp>
      <p:sp>
        <p:nvSpPr>
          <p:cNvPr id="24" name="limit 5 card"/>
          <p:cNvSpPr/>
          <p:nvPr/>
        </p:nvSpPr>
        <p:spPr>
          <a:xfrm>
            <a:off x="4347972" y="3977640"/>
            <a:ext cx="3493008" cy="2103120"/>
          </a:xfrm>
          <a:prstGeom prst="roundRect">
            <a:avLst>
              <a:gd name="adj" fmla="val 4348"/>
            </a:avLst>
          </a:prstGeom>
          <a:solidFill>
            <a:schemeClr val="bg2"/>
          </a:solidFill>
          <a:ln/>
        </p:spPr>
      </p:sp>
      <p:sp>
        <p:nvSpPr>
          <p:cNvPr id="25" name="limit 5 circle"/>
          <p:cNvSpPr/>
          <p:nvPr/>
        </p:nvSpPr>
        <p:spPr>
          <a:xfrm>
            <a:off x="4576572" y="4206240"/>
            <a:ext cx="502920" cy="502920"/>
          </a:xfrm>
          <a:prstGeom prst="ellipse">
            <a:avLst/>
          </a:prstGeom>
          <a:solidFill>
            <a:schemeClr val="accent5"/>
          </a:solidFill>
          <a:ln/>
        </p:spPr>
      </p:sp>
      <p:pic>
        <p:nvPicPr>
          <p:cNvPr id="26" name="limit 5 icon" descr="preencoded.png">    </p:cNvPr>
          <p:cNvPicPr>
            <a:picLocks noChangeAspect="1"/>
          </p:cNvPicPr>
          <p:nvPr/>
        </p:nvPicPr>
        <p:blipFill>
          <a:blip r:embed="rId5"/>
          <a:stretch>
            <a:fillRect/>
          </a:stretch>
        </p:blipFill>
        <p:spPr>
          <a:xfrm>
            <a:off x="4697273" y="4326941"/>
            <a:ext cx="261518" cy="261518"/>
          </a:xfrm>
          <a:prstGeom prst="rect">
            <a:avLst/>
          </a:prstGeom>
        </p:spPr>
      </p:pic>
      <p:sp>
        <p:nvSpPr>
          <p:cNvPr id="27" name="limit 5 head"/>
          <p:cNvSpPr txBox="1"/>
          <p:nvPr/>
        </p:nvSpPr>
        <p:spPr>
          <a:xfrm>
            <a:off x="5262372" y="4206240"/>
            <a:ext cx="2350008" cy="502920"/>
          </a:xfrm>
          <a:prstGeom prst="rect">
            <a:avLst/>
          </a:prstGeom>
          <a:noFill/>
          <a:ln/>
        </p:spPr>
        <p:txBody>
          <a:bodyPr wrap="square" lIns="0" tIns="0" rIns="0" bIns="0" rtlCol="0" anchor="ctr"/>
          <a:lstStyle/>
          <a:p>
            <a:pPr indent="0" marL="0">
              <a:buNone/>
            </a:pPr>
            <a:r>
              <a:rPr lang="en-US" sz="1600" b="1" dirty="0">
                <a:solidFill>
                  <a:schemeClr val="tx2"/>
                </a:solidFill>
              </a:rPr>
              <a:t>Real time simulated offline</a:t>
            </a:r>
            <a:endParaRPr lang="en-US" sz="1600" dirty="0"/>
          </a:p>
        </p:txBody>
      </p:sp>
      <p:sp>
        <p:nvSpPr>
          <p:cNvPr id="28" name="limit 5 body"/>
          <p:cNvSpPr txBox="1"/>
          <p:nvPr/>
        </p:nvSpPr>
        <p:spPr>
          <a:xfrm>
            <a:off x="4576572" y="4892040"/>
            <a:ext cx="3035808" cy="1051560"/>
          </a:xfrm>
          <a:prstGeom prst="rect">
            <a:avLst/>
          </a:prstGeom>
          <a:noFill/>
          <a:ln/>
        </p:spPr>
        <p:txBody>
          <a:bodyPr wrap="square" lIns="0" tIns="0" rIns="0" bIns="0" rtlCol="0" anchor="t"/>
          <a:lstStyle/>
          <a:p>
            <a:pPr indent="0" marL="0">
              <a:buNone/>
            </a:pPr>
            <a:r>
              <a:rPr lang="en-US" sz="1400" dirty="0">
                <a:solidFill>
                  <a:schemeClr val="tx1"/>
                </a:solidFill>
              </a:rPr>
              <a:t>Reaction time to the vibration and the effect of the cue were not measured.</a:t>
            </a:r>
            <a:endParaRPr lang="en-US" sz="1400" dirty="0"/>
          </a:p>
        </p:txBody>
      </p:sp>
      <p:sp>
        <p:nvSpPr>
          <p:cNvPr id="29" name="limit 6 card"/>
          <p:cNvSpPr/>
          <p:nvPr/>
        </p:nvSpPr>
        <p:spPr>
          <a:xfrm>
            <a:off x="8147304" y="3977640"/>
            <a:ext cx="3493008" cy="2103120"/>
          </a:xfrm>
          <a:prstGeom prst="roundRect">
            <a:avLst>
              <a:gd name="adj" fmla="val 4348"/>
            </a:avLst>
          </a:prstGeom>
          <a:solidFill>
            <a:schemeClr val="bg2"/>
          </a:solidFill>
          <a:ln/>
        </p:spPr>
      </p:sp>
      <p:sp>
        <p:nvSpPr>
          <p:cNvPr id="30" name="limit 6 circle"/>
          <p:cNvSpPr/>
          <p:nvPr/>
        </p:nvSpPr>
        <p:spPr>
          <a:xfrm>
            <a:off x="8375904" y="4206240"/>
            <a:ext cx="502920" cy="502920"/>
          </a:xfrm>
          <a:prstGeom prst="ellipse">
            <a:avLst/>
          </a:prstGeom>
          <a:solidFill>
            <a:schemeClr val="accent6"/>
          </a:solidFill>
          <a:ln/>
        </p:spPr>
      </p:sp>
      <p:pic>
        <p:nvPicPr>
          <p:cNvPr id="31" name="limit 6 icon" descr="preencoded.png">    </p:cNvPr>
          <p:cNvPicPr>
            <a:picLocks noChangeAspect="1"/>
          </p:cNvPicPr>
          <p:nvPr/>
        </p:nvPicPr>
        <p:blipFill>
          <a:blip r:embed="rId6"/>
          <a:stretch>
            <a:fillRect/>
          </a:stretch>
        </p:blipFill>
        <p:spPr>
          <a:xfrm>
            <a:off x="8496605" y="4326941"/>
            <a:ext cx="261518" cy="261518"/>
          </a:xfrm>
          <a:prstGeom prst="rect">
            <a:avLst/>
          </a:prstGeom>
        </p:spPr>
      </p:pic>
      <p:sp>
        <p:nvSpPr>
          <p:cNvPr id="32" name="limit 6 head"/>
          <p:cNvSpPr txBox="1"/>
          <p:nvPr/>
        </p:nvSpPr>
        <p:spPr>
          <a:xfrm>
            <a:off x="9061704" y="4206240"/>
            <a:ext cx="2350008" cy="502920"/>
          </a:xfrm>
          <a:prstGeom prst="rect">
            <a:avLst/>
          </a:prstGeom>
          <a:noFill/>
          <a:ln/>
        </p:spPr>
        <p:txBody>
          <a:bodyPr wrap="square" lIns="0" tIns="0" rIns="0" bIns="0" rtlCol="0" anchor="ctr"/>
          <a:lstStyle/>
          <a:p>
            <a:pPr indent="0" marL="0">
              <a:buNone/>
            </a:pPr>
            <a:r>
              <a:rPr lang="en-US" sz="1600" b="1" dirty="0">
                <a:solidFill>
                  <a:schemeClr val="tx2"/>
                </a:solidFill>
              </a:rPr>
              <a:t>Clearance</a:t>
            </a:r>
            <a:endParaRPr lang="en-US" sz="1600" dirty="0"/>
          </a:p>
        </p:txBody>
      </p:sp>
      <p:sp>
        <p:nvSpPr>
          <p:cNvPr id="33" name="limit 6 body"/>
          <p:cNvSpPr txBox="1"/>
          <p:nvPr/>
        </p:nvSpPr>
        <p:spPr>
          <a:xfrm>
            <a:off x="8375904" y="4892040"/>
            <a:ext cx="3035808" cy="1051560"/>
          </a:xfrm>
          <a:prstGeom prst="rect">
            <a:avLst/>
          </a:prstGeom>
          <a:noFill/>
          <a:ln/>
        </p:spPr>
        <p:txBody>
          <a:bodyPr wrap="square" lIns="0" tIns="0" rIns="0" bIns="0" rtlCol="0" anchor="t"/>
          <a:lstStyle/>
          <a:p>
            <a:pPr indent="0" marL="0">
              <a:buNone/>
            </a:pPr>
            <a:r>
              <a:rPr lang="en-US" sz="1400" dirty="0">
                <a:solidFill>
                  <a:schemeClr val="tx1"/>
                </a:solidFill>
              </a:rPr>
              <a:t>Only partly predictable from the IMU (errors 39 / 65 mm); needs the toe height, not the sensor height.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Next steps</a:t>
            </a:r>
            <a:endParaRPr lang="en-US" sz="3200" dirty="0"/>
          </a:p>
        </p:txBody>
      </p:sp>
      <p:sp>
        <p:nvSpPr>
          <p:cNvPr id="3" name="Text 0"/>
          <p:cNvSpPr/>
          <p:nvPr>
            <p:ph idx="101" type="body" hasCustomPrompt="1"/>
          </p:nvPr>
        </p:nvSpPr>
        <p:spPr>
          <a:xfrm>
            <a:off x="548640" y="1005840"/>
            <a:ext cx="11091672" cy="457200"/>
          </a:xfrm>
          <a:prstGeom prst="rect">
            <a:avLst/>
          </a:prstGeom>
          <a:noFill/>
          <a:ln/>
        </p:spPr>
        <p:txBody>
          <a:bodyPr wrap="square" lIns="0" tIns="0" rIns="0" bIns="0" rtlCol="0" anchor="t"/>
          <a:lstStyle/>
          <a:p>
            <a:pPr algn="l" indent="0" marL="0">
              <a:buNone/>
            </a:pPr>
            <a:r>
              <a:rPr lang="en-US" sz="1700" dirty="0">
                <a:solidFill>
                  <a:schemeClr val="tx1"/>
                </a:solidFill>
              </a:rPr>
              <a:t>From an offline analysis to a tested haptic device.</a:t>
            </a:r>
            <a:endParaRPr lang="en-US" sz="1700" dirty="0"/>
          </a:p>
        </p:txBody>
      </p:sp>
      <p:sp>
        <p:nvSpPr>
          <p:cNvPr id="4" name="next card 1"/>
          <p:cNvSpPr/>
          <p:nvPr/>
        </p:nvSpPr>
        <p:spPr>
          <a:xfrm>
            <a:off x="548640" y="1783080"/>
            <a:ext cx="2606040" cy="3840480"/>
          </a:xfrm>
          <a:prstGeom prst="roundRect">
            <a:avLst>
              <a:gd name="adj" fmla="val 3509"/>
            </a:avLst>
          </a:prstGeom>
          <a:solidFill>
            <a:schemeClr val="bg2"/>
          </a:solidFill>
          <a:ln/>
        </p:spPr>
      </p:sp>
      <p:sp>
        <p:nvSpPr>
          <p:cNvPr id="5" name="next number 1"/>
          <p:cNvSpPr txBox="1"/>
          <p:nvPr/>
        </p:nvSpPr>
        <p:spPr>
          <a:xfrm>
            <a:off x="822960" y="1965960"/>
            <a:ext cx="731520" cy="731520"/>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6" name="next 1 circle"/>
          <p:cNvSpPr/>
          <p:nvPr/>
        </p:nvSpPr>
        <p:spPr>
          <a:xfrm>
            <a:off x="2240280" y="2011680"/>
            <a:ext cx="640080" cy="640080"/>
          </a:xfrm>
          <a:prstGeom prst="ellipse">
            <a:avLst/>
          </a:prstGeom>
          <a:solidFill>
            <a:schemeClr val="accent1"/>
          </a:solidFill>
          <a:ln/>
        </p:spPr>
      </p:sp>
      <p:pic>
        <p:nvPicPr>
          <p:cNvPr id="7" name="next 1 icon" descr="preencoded.png">    </p:cNvPr>
          <p:cNvPicPr>
            <a:picLocks noChangeAspect="1"/>
          </p:cNvPicPr>
          <p:nvPr/>
        </p:nvPicPr>
        <p:blipFill>
          <a:blip r:embed="rId1"/>
          <a:stretch>
            <a:fillRect/>
          </a:stretch>
        </p:blipFill>
        <p:spPr>
          <a:xfrm>
            <a:off x="2393899" y="2165299"/>
            <a:ext cx="332842" cy="332842"/>
          </a:xfrm>
          <a:prstGeom prst="rect">
            <a:avLst/>
          </a:prstGeom>
        </p:spPr>
      </p:pic>
      <p:sp>
        <p:nvSpPr>
          <p:cNvPr id="8" name="next head 1"/>
          <p:cNvSpPr txBox="1"/>
          <p:nvPr/>
        </p:nvSpPr>
        <p:spPr>
          <a:xfrm>
            <a:off x="822960" y="2880360"/>
            <a:ext cx="2103120" cy="640080"/>
          </a:xfrm>
          <a:prstGeom prst="rect">
            <a:avLst/>
          </a:prstGeom>
          <a:noFill/>
          <a:ln/>
        </p:spPr>
        <p:txBody>
          <a:bodyPr wrap="square" lIns="0" tIns="0" rIns="0" bIns="0" rtlCol="0" anchor="t"/>
          <a:lstStyle/>
          <a:p>
            <a:pPr indent="0" marL="0">
              <a:buNone/>
            </a:pPr>
            <a:r>
              <a:rPr lang="en-US" sz="1800" b="1" dirty="0">
                <a:solidFill>
                  <a:schemeClr val="tx2"/>
                </a:solidFill>
              </a:rPr>
              <a:t>More participants</a:t>
            </a:r>
            <a:endParaRPr lang="en-US" sz="1800" dirty="0"/>
          </a:p>
        </p:txBody>
      </p:sp>
      <p:sp>
        <p:nvSpPr>
          <p:cNvPr id="9" name="next body 1"/>
          <p:cNvSpPr txBox="1"/>
          <p:nvPr/>
        </p:nvSpPr>
        <p:spPr>
          <a:xfrm>
            <a:off x="822960" y="3566160"/>
            <a:ext cx="2103120" cy="1920240"/>
          </a:xfrm>
          <a:prstGeom prst="rect">
            <a:avLst/>
          </a:prstGeom>
          <a:noFill/>
          <a:ln/>
        </p:spPr>
        <p:txBody>
          <a:bodyPr wrap="square" lIns="0" tIns="0" rIns="0" bIns="0" rtlCol="0" anchor="t"/>
          <a:lstStyle/>
          <a:p>
            <a:pPr indent="0" marL="0">
              <a:buNone/>
            </a:pPr>
            <a:r>
              <a:rPr lang="en-US" sz="1400" dirty="0">
                <a:solidFill>
                  <a:schemeClr val="tx1"/>
                </a:solidFill>
              </a:rPr>
              <a:t>Record new people, including older adults, with the obstacles in a mixed order.</a:t>
            </a:r>
            <a:endParaRPr lang="en-US" sz="1400" dirty="0"/>
          </a:p>
        </p:txBody>
      </p:sp>
      <p:sp>
        <p:nvSpPr>
          <p:cNvPr id="10" name="next arrow 1"/>
          <p:cNvSpPr/>
          <p:nvPr/>
        </p:nvSpPr>
        <p:spPr>
          <a:xfrm>
            <a:off x="3182112" y="3520440"/>
            <a:ext cx="164592" cy="329184"/>
          </a:xfrm>
          <a:prstGeom prst="rightArrow">
            <a:avLst/>
          </a:prstGeom>
          <a:solidFill>
            <a:schemeClr val="accent6"/>
          </a:solidFill>
          <a:ln/>
        </p:spPr>
      </p:sp>
      <p:sp>
        <p:nvSpPr>
          <p:cNvPr id="11" name="next card 2"/>
          <p:cNvSpPr/>
          <p:nvPr/>
        </p:nvSpPr>
        <p:spPr>
          <a:xfrm>
            <a:off x="3364992" y="1783080"/>
            <a:ext cx="2606040" cy="3840480"/>
          </a:xfrm>
          <a:prstGeom prst="roundRect">
            <a:avLst>
              <a:gd name="adj" fmla="val 3509"/>
            </a:avLst>
          </a:prstGeom>
          <a:solidFill>
            <a:schemeClr val="bg2"/>
          </a:solidFill>
          <a:ln/>
        </p:spPr>
      </p:sp>
      <p:sp>
        <p:nvSpPr>
          <p:cNvPr id="12" name="next number 2"/>
          <p:cNvSpPr txBox="1"/>
          <p:nvPr/>
        </p:nvSpPr>
        <p:spPr>
          <a:xfrm>
            <a:off x="3639312" y="1965960"/>
            <a:ext cx="731520" cy="731520"/>
          </a:xfrm>
          <a:prstGeom prst="rect">
            <a:avLst/>
          </a:prstGeom>
          <a:noFill/>
          <a:ln/>
        </p:spPr>
        <p:txBody>
          <a:bodyPr wrap="square" lIns="0" tIns="0" rIns="0" bIns="0" rtlCol="0" anchor="ctr"/>
          <a:lstStyle/>
          <a:p>
            <a:pPr indent="0" marL="0">
              <a:buNone/>
            </a:pPr>
            <a:r>
              <a:rPr lang="en-US" sz="4000" b="1" dirty="0">
                <a:solidFill>
                  <a:schemeClr val="accent2"/>
                </a:solidFill>
              </a:rPr>
              <a:t>2</a:t>
            </a:r>
            <a:endParaRPr lang="en-US" sz="4000" dirty="0"/>
          </a:p>
        </p:txBody>
      </p:sp>
      <p:sp>
        <p:nvSpPr>
          <p:cNvPr id="13" name="next 2 circle"/>
          <p:cNvSpPr/>
          <p:nvPr/>
        </p:nvSpPr>
        <p:spPr>
          <a:xfrm>
            <a:off x="5056632" y="2011680"/>
            <a:ext cx="640080" cy="640080"/>
          </a:xfrm>
          <a:prstGeom prst="ellipse">
            <a:avLst/>
          </a:prstGeom>
          <a:solidFill>
            <a:schemeClr val="accent2"/>
          </a:solidFill>
          <a:ln/>
        </p:spPr>
      </p:sp>
      <p:pic>
        <p:nvPicPr>
          <p:cNvPr id="14" name="next 2 icon" descr="preencoded.png">    </p:cNvPr>
          <p:cNvPicPr>
            <a:picLocks noChangeAspect="1"/>
          </p:cNvPicPr>
          <p:nvPr/>
        </p:nvPicPr>
        <p:blipFill>
          <a:blip r:embed="rId2"/>
          <a:stretch>
            <a:fillRect/>
          </a:stretch>
        </p:blipFill>
        <p:spPr>
          <a:xfrm>
            <a:off x="5210251" y="2165299"/>
            <a:ext cx="332842" cy="332842"/>
          </a:xfrm>
          <a:prstGeom prst="rect">
            <a:avLst/>
          </a:prstGeom>
        </p:spPr>
      </p:pic>
      <p:sp>
        <p:nvSpPr>
          <p:cNvPr id="15" name="next head 2"/>
          <p:cNvSpPr txBox="1"/>
          <p:nvPr/>
        </p:nvSpPr>
        <p:spPr>
          <a:xfrm>
            <a:off x="3639312" y="2880360"/>
            <a:ext cx="2103120" cy="640080"/>
          </a:xfrm>
          <a:prstGeom prst="rect">
            <a:avLst/>
          </a:prstGeom>
          <a:noFill/>
          <a:ln/>
        </p:spPr>
        <p:txBody>
          <a:bodyPr wrap="square" lIns="0" tIns="0" rIns="0" bIns="0" rtlCol="0" anchor="t"/>
          <a:lstStyle/>
          <a:p>
            <a:pPr indent="0" marL="0">
              <a:buNone/>
            </a:pPr>
            <a:r>
              <a:rPr lang="en-US" sz="1800" b="1" dirty="0">
                <a:solidFill>
                  <a:schemeClr val="tx2"/>
                </a:solidFill>
              </a:rPr>
              <a:t>Build and test the cue</a:t>
            </a:r>
            <a:endParaRPr lang="en-US" sz="1800" dirty="0"/>
          </a:p>
        </p:txBody>
      </p:sp>
      <p:sp>
        <p:nvSpPr>
          <p:cNvPr id="16" name="next body 2"/>
          <p:cNvSpPr txBox="1"/>
          <p:nvPr/>
        </p:nvSpPr>
        <p:spPr>
          <a:xfrm>
            <a:off x="3639312" y="3566160"/>
            <a:ext cx="2103120" cy="1920240"/>
          </a:xfrm>
          <a:prstGeom prst="rect">
            <a:avLst/>
          </a:prstGeom>
          <a:noFill/>
          <a:ln/>
        </p:spPr>
        <p:txBody>
          <a:bodyPr wrap="square" lIns="0" tIns="0" rIns="0" bIns="0" rtlCol="0" anchor="t"/>
          <a:lstStyle/>
          <a:p>
            <a:pPr indent="0" marL="0">
              <a:buNone/>
            </a:pPr>
            <a:r>
              <a:rPr lang="en-US" sz="1400" dirty="0">
                <a:solidFill>
                  <a:schemeClr val="tx1"/>
                </a:solidFill>
              </a:rPr>
              <a:t>Two foot IMUs with a leading-leg trigger; measure the reaction time and the effect on the trailing-foot clearance.</a:t>
            </a:r>
            <a:endParaRPr lang="en-US" sz="1400" dirty="0"/>
          </a:p>
        </p:txBody>
      </p:sp>
      <p:sp>
        <p:nvSpPr>
          <p:cNvPr id="17" name="next arrow 2"/>
          <p:cNvSpPr/>
          <p:nvPr/>
        </p:nvSpPr>
        <p:spPr>
          <a:xfrm>
            <a:off x="5998464" y="3520440"/>
            <a:ext cx="164592" cy="329184"/>
          </a:xfrm>
          <a:prstGeom prst="rightArrow">
            <a:avLst/>
          </a:prstGeom>
          <a:solidFill>
            <a:schemeClr val="accent6"/>
          </a:solidFill>
          <a:ln/>
        </p:spPr>
      </p:sp>
      <p:sp>
        <p:nvSpPr>
          <p:cNvPr id="18" name="next card 3"/>
          <p:cNvSpPr/>
          <p:nvPr/>
        </p:nvSpPr>
        <p:spPr>
          <a:xfrm>
            <a:off x="6181344" y="1783080"/>
            <a:ext cx="2606040" cy="3840480"/>
          </a:xfrm>
          <a:prstGeom prst="roundRect">
            <a:avLst>
              <a:gd name="adj" fmla="val 3509"/>
            </a:avLst>
          </a:prstGeom>
          <a:solidFill>
            <a:schemeClr val="bg2"/>
          </a:solidFill>
          <a:ln/>
        </p:spPr>
      </p:sp>
      <p:sp>
        <p:nvSpPr>
          <p:cNvPr id="19" name="next number 3"/>
          <p:cNvSpPr txBox="1"/>
          <p:nvPr/>
        </p:nvSpPr>
        <p:spPr>
          <a:xfrm>
            <a:off x="6455664" y="1965960"/>
            <a:ext cx="731520" cy="731520"/>
          </a:xfrm>
          <a:prstGeom prst="rect">
            <a:avLst/>
          </a:prstGeom>
          <a:noFill/>
          <a:ln/>
        </p:spPr>
        <p:txBody>
          <a:bodyPr wrap="square" lIns="0" tIns="0" rIns="0" bIns="0" rtlCol="0" anchor="ctr"/>
          <a:lstStyle/>
          <a:p>
            <a:pPr indent="0" marL="0">
              <a:buNone/>
            </a:pPr>
            <a:r>
              <a:rPr lang="en-US" sz="4000" b="1" dirty="0">
                <a:solidFill>
                  <a:schemeClr val="accent3"/>
                </a:solidFill>
              </a:rPr>
              <a:t>3</a:t>
            </a:r>
            <a:endParaRPr lang="en-US" sz="4000" dirty="0"/>
          </a:p>
        </p:txBody>
      </p:sp>
      <p:sp>
        <p:nvSpPr>
          <p:cNvPr id="20" name="next 3 circle"/>
          <p:cNvSpPr/>
          <p:nvPr/>
        </p:nvSpPr>
        <p:spPr>
          <a:xfrm>
            <a:off x="7872984" y="2011680"/>
            <a:ext cx="640080" cy="640080"/>
          </a:xfrm>
          <a:prstGeom prst="ellipse">
            <a:avLst/>
          </a:prstGeom>
          <a:solidFill>
            <a:schemeClr val="accent3"/>
          </a:solidFill>
          <a:ln/>
        </p:spPr>
      </p:sp>
      <p:pic>
        <p:nvPicPr>
          <p:cNvPr id="21" name="next 3 icon" descr="preencoded.png">    </p:cNvPr>
          <p:cNvPicPr>
            <a:picLocks noChangeAspect="1"/>
          </p:cNvPicPr>
          <p:nvPr/>
        </p:nvPicPr>
        <p:blipFill>
          <a:blip r:embed="rId3"/>
          <a:stretch>
            <a:fillRect/>
          </a:stretch>
        </p:blipFill>
        <p:spPr>
          <a:xfrm>
            <a:off x="8026603" y="2165299"/>
            <a:ext cx="332842" cy="332842"/>
          </a:xfrm>
          <a:prstGeom prst="rect">
            <a:avLst/>
          </a:prstGeom>
        </p:spPr>
      </p:pic>
      <p:sp>
        <p:nvSpPr>
          <p:cNvPr id="22" name="next head 3"/>
          <p:cNvSpPr txBox="1"/>
          <p:nvPr/>
        </p:nvSpPr>
        <p:spPr>
          <a:xfrm>
            <a:off x="6455664" y="2880360"/>
            <a:ext cx="2103120" cy="640080"/>
          </a:xfrm>
          <a:prstGeom prst="rect">
            <a:avLst/>
          </a:prstGeom>
          <a:noFill/>
          <a:ln/>
        </p:spPr>
        <p:txBody>
          <a:bodyPr wrap="square" lIns="0" tIns="0" rIns="0" bIns="0" rtlCol="0" anchor="t"/>
          <a:lstStyle/>
          <a:p>
            <a:pPr indent="0" marL="0">
              <a:buNone/>
            </a:pPr>
            <a:r>
              <a:rPr lang="en-US" sz="1800" b="1" dirty="0">
                <a:solidFill>
                  <a:schemeClr val="tx2"/>
                </a:solidFill>
              </a:rPr>
              <a:t>Toe height</a:t>
            </a:r>
            <a:endParaRPr lang="en-US" sz="1800" dirty="0"/>
          </a:p>
        </p:txBody>
      </p:sp>
      <p:sp>
        <p:nvSpPr>
          <p:cNvPr id="23" name="next body 3"/>
          <p:cNvSpPr txBox="1"/>
          <p:nvPr/>
        </p:nvSpPr>
        <p:spPr>
          <a:xfrm>
            <a:off x="6455664" y="3566160"/>
            <a:ext cx="2103120" cy="1920240"/>
          </a:xfrm>
          <a:prstGeom prst="rect">
            <a:avLst/>
          </a:prstGeom>
          <a:noFill/>
          <a:ln/>
        </p:spPr>
        <p:txBody>
          <a:bodyPr wrap="square" lIns="0" tIns="0" rIns="0" bIns="0" rtlCol="0" anchor="t"/>
          <a:lstStyle/>
          <a:p>
            <a:pPr indent="0" marL="0">
              <a:buNone/>
            </a:pPr>
            <a:r>
              <a:rPr lang="en-US" sz="1400" dirty="0">
                <a:solidFill>
                  <a:schemeClr val="tx1"/>
                </a:solidFill>
              </a:rPr>
              <a:t>Measure the sensor position on the shoe so the toe height and clearance can be computed.</a:t>
            </a:r>
            <a:endParaRPr lang="en-US" sz="1400" dirty="0"/>
          </a:p>
        </p:txBody>
      </p:sp>
      <p:sp>
        <p:nvSpPr>
          <p:cNvPr id="24" name="next arrow 3"/>
          <p:cNvSpPr/>
          <p:nvPr/>
        </p:nvSpPr>
        <p:spPr>
          <a:xfrm>
            <a:off x="8814816" y="3520440"/>
            <a:ext cx="164592" cy="329184"/>
          </a:xfrm>
          <a:prstGeom prst="rightArrow">
            <a:avLst/>
          </a:prstGeom>
          <a:solidFill>
            <a:schemeClr val="accent6"/>
          </a:solidFill>
          <a:ln/>
        </p:spPr>
      </p:sp>
      <p:sp>
        <p:nvSpPr>
          <p:cNvPr id="25" name="next card 4"/>
          <p:cNvSpPr/>
          <p:nvPr/>
        </p:nvSpPr>
        <p:spPr>
          <a:xfrm>
            <a:off x="8997696" y="1783080"/>
            <a:ext cx="2606040" cy="3840480"/>
          </a:xfrm>
          <a:prstGeom prst="roundRect">
            <a:avLst>
              <a:gd name="adj" fmla="val 3509"/>
            </a:avLst>
          </a:prstGeom>
          <a:solidFill>
            <a:schemeClr val="bg2"/>
          </a:solidFill>
          <a:ln/>
        </p:spPr>
      </p:sp>
      <p:sp>
        <p:nvSpPr>
          <p:cNvPr id="26" name="next number 4"/>
          <p:cNvSpPr txBox="1"/>
          <p:nvPr/>
        </p:nvSpPr>
        <p:spPr>
          <a:xfrm>
            <a:off x="9272016" y="1965960"/>
            <a:ext cx="731520" cy="731520"/>
          </a:xfrm>
          <a:prstGeom prst="rect">
            <a:avLst/>
          </a:prstGeom>
          <a:noFill/>
          <a:ln/>
        </p:spPr>
        <p:txBody>
          <a:bodyPr wrap="square" lIns="0" tIns="0" rIns="0" bIns="0" rtlCol="0" anchor="ctr"/>
          <a:lstStyle/>
          <a:p>
            <a:pPr indent="0" marL="0">
              <a:buNone/>
            </a:pPr>
            <a:r>
              <a:rPr lang="en-US" sz="4000" b="1" dirty="0">
                <a:solidFill>
                  <a:schemeClr val="accent4"/>
                </a:solidFill>
              </a:rPr>
              <a:t>4</a:t>
            </a:r>
            <a:endParaRPr lang="en-US" sz="4000" dirty="0"/>
          </a:p>
        </p:txBody>
      </p:sp>
      <p:sp>
        <p:nvSpPr>
          <p:cNvPr id="27" name="next 4 circle"/>
          <p:cNvSpPr/>
          <p:nvPr/>
        </p:nvSpPr>
        <p:spPr>
          <a:xfrm>
            <a:off x="10689336" y="2011680"/>
            <a:ext cx="640080" cy="640080"/>
          </a:xfrm>
          <a:prstGeom prst="ellipse">
            <a:avLst/>
          </a:prstGeom>
          <a:solidFill>
            <a:schemeClr val="accent4"/>
          </a:solidFill>
          <a:ln/>
        </p:spPr>
      </p:sp>
      <p:pic>
        <p:nvPicPr>
          <p:cNvPr id="28" name="next 4 icon" descr="preencoded.png">    </p:cNvPr>
          <p:cNvPicPr>
            <a:picLocks noChangeAspect="1"/>
          </p:cNvPicPr>
          <p:nvPr/>
        </p:nvPicPr>
        <p:blipFill>
          <a:blip r:embed="rId4"/>
          <a:stretch>
            <a:fillRect/>
          </a:stretch>
        </p:blipFill>
        <p:spPr>
          <a:xfrm>
            <a:off x="10842955" y="2165299"/>
            <a:ext cx="332842" cy="332842"/>
          </a:xfrm>
          <a:prstGeom prst="rect">
            <a:avLst/>
          </a:prstGeom>
        </p:spPr>
      </p:pic>
      <p:sp>
        <p:nvSpPr>
          <p:cNvPr id="29" name="next head 4"/>
          <p:cNvSpPr txBox="1"/>
          <p:nvPr/>
        </p:nvSpPr>
        <p:spPr>
          <a:xfrm>
            <a:off x="9272016" y="2880360"/>
            <a:ext cx="2103120" cy="640080"/>
          </a:xfrm>
          <a:prstGeom prst="rect">
            <a:avLst/>
          </a:prstGeom>
          <a:noFill/>
          <a:ln/>
        </p:spPr>
        <p:txBody>
          <a:bodyPr wrap="square" lIns="0" tIns="0" rIns="0" bIns="0" rtlCol="0" anchor="t"/>
          <a:lstStyle/>
          <a:p>
            <a:pPr indent="0" marL="0">
              <a:buNone/>
            </a:pPr>
            <a:r>
              <a:rPr lang="en-US" sz="1800" b="1" dirty="0">
                <a:solidFill>
                  <a:schemeClr val="tx2"/>
                </a:solidFill>
              </a:rPr>
              <a:t>New obstacles</a:t>
            </a:r>
            <a:endParaRPr lang="en-US" sz="1800" dirty="0"/>
          </a:p>
        </p:txBody>
      </p:sp>
      <p:sp>
        <p:nvSpPr>
          <p:cNvPr id="30" name="next body 4"/>
          <p:cNvSpPr txBox="1"/>
          <p:nvPr/>
        </p:nvSpPr>
        <p:spPr>
          <a:xfrm>
            <a:off x="9272016" y="3566160"/>
            <a:ext cx="2103120" cy="1920240"/>
          </a:xfrm>
          <a:prstGeom prst="rect">
            <a:avLst/>
          </a:prstGeom>
          <a:noFill/>
          <a:ln/>
        </p:spPr>
        <p:txBody>
          <a:bodyPr wrap="square" lIns="0" tIns="0" rIns="0" bIns="0" rtlCol="0" anchor="t"/>
          <a:lstStyle/>
          <a:p>
            <a:pPr indent="0" marL="0">
              <a:buNone/>
            </a:pPr>
            <a:r>
              <a:rPr lang="en-US" sz="1400" dirty="0">
                <a:solidFill>
                  <a:schemeClr val="tx1"/>
                </a:solidFill>
              </a:rPr>
              <a:t>Other heights and depths (kerbs, steps) to confirm the generalisation to unseen heights.</a:t>
            </a:r>
            <a:endParaRPr lang="en-US" sz="1400" dirty="0"/>
          </a:p>
        </p:txBody>
      </p:sp>
      <p:sp>
        <p:nvSpPr>
          <p:cNvPr id="31" name="next band"/>
          <p:cNvSpPr/>
          <p:nvPr/>
        </p:nvSpPr>
        <p:spPr>
          <a:xfrm>
            <a:off x="548640" y="5806440"/>
            <a:ext cx="11091672" cy="411480"/>
          </a:xfrm>
          <a:prstGeom prst="roundRect">
            <a:avLst>
              <a:gd name="adj" fmla="val 22222"/>
            </a:avLst>
          </a:prstGeom>
          <a:solidFill>
            <a:schemeClr val="bg2"/>
          </a:solidFill>
          <a:ln/>
        </p:spPr>
      </p:sp>
      <p:sp>
        <p:nvSpPr>
          <p:cNvPr id="32" name="next note"/>
          <p:cNvSpPr txBox="1"/>
          <p:nvPr/>
        </p:nvSpPr>
        <p:spPr>
          <a:xfrm>
            <a:off x="777240" y="5806440"/>
            <a:ext cx="10698480" cy="411480"/>
          </a:xfrm>
          <a:prstGeom prst="rect">
            <a:avLst/>
          </a:prstGeom>
          <a:noFill/>
          <a:ln/>
        </p:spPr>
        <p:txBody>
          <a:bodyPr wrap="square" lIns="0" tIns="0" rIns="0" bIns="0" rtlCol="0" anchor="ctr"/>
          <a:lstStyle/>
          <a:p>
            <a:pPr indent="0" marL="0">
              <a:buNone/>
            </a:pPr>
            <a:r>
              <a:rPr lang="en-US" sz="1400" dirty="0">
                <a:solidFill>
                  <a:schemeClr val="tx1"/>
                </a:solidFill>
              </a:rPr>
              <a:t>All analysis code is MATLAB (Analysis/ML); every figure is redrawn by crossing_ml_figures.m in seconds.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6767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91672" cy="658368"/>
          </a:xfrm>
          <a:prstGeom prst="rect">
            <a:avLst/>
          </a:prstGeom>
          <a:noFill/>
          <a:ln/>
        </p:spPr>
        <p:txBody>
          <a:bodyPr wrap="square" lIns="0" tIns="0" rIns="0" bIns="0" rtlCol="0" anchor="ctr"/>
          <a:lstStyle/>
          <a:p>
            <a:pPr algn="l" indent="0" marL="0">
              <a:buNone/>
            </a:pPr>
            <a:r>
              <a:rPr lang="en-US" sz="3200" b="1" dirty="0">
                <a:solidFill>
                  <a:schemeClr val="bg1"/>
                </a:solidFill>
              </a:rPr>
              <a:t>Take-home messages</a:t>
            </a:r>
            <a:endParaRPr lang="en-US" sz="3200" dirty="0"/>
          </a:p>
        </p:txBody>
      </p:sp>
      <p:sp>
        <p:nvSpPr>
          <p:cNvPr id="3" name="message number 1"/>
          <p:cNvSpPr/>
          <p:nvPr/>
        </p:nvSpPr>
        <p:spPr>
          <a:xfrm>
            <a:off x="548640" y="1691640"/>
            <a:ext cx="548640" cy="548640"/>
          </a:xfrm>
          <a:prstGeom prst="ellipse">
            <a:avLst/>
          </a:prstGeom>
          <a:solidFill>
            <a:schemeClr val="accent2"/>
          </a:solidFill>
          <a:ln/>
        </p:spPr>
      </p:sp>
      <p:sp>
        <p:nvSpPr>
          <p:cNvPr id="4" name="message digit 1"/>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ake-home 1"/>
          <p:cNvSpPr txBox="1"/>
          <p:nvPr/>
        </p:nvSpPr>
        <p:spPr>
          <a:xfrm>
            <a:off x="1325880" y="1645920"/>
            <a:ext cx="5669280" cy="1325880"/>
          </a:xfrm>
          <a:prstGeom prst="rect">
            <a:avLst/>
          </a:prstGeom>
          <a:noFill/>
          <a:ln/>
        </p:spPr>
        <p:txBody>
          <a:bodyPr wrap="square" lIns="0" tIns="0" rIns="0" bIns="0" rtlCol="0" anchor="t"/>
          <a:lstStyle/>
          <a:p>
            <a:pPr indent="0" marL="0">
              <a:buNone/>
            </a:pPr>
            <a:r>
              <a:rPr lang="en-US" sz="1800" dirty="0">
                <a:solidFill>
                  <a:schemeClr val="bg1"/>
                </a:solidFill>
              </a:rPr>
              <a:t>People lift each foot by about the obstacle height; each person adds a personal margin.</a:t>
            </a:r>
            <a:endParaRPr lang="en-US" sz="1800" dirty="0"/>
          </a:p>
        </p:txBody>
      </p:sp>
      <p:sp>
        <p:nvSpPr>
          <p:cNvPr id="6" name="message number 2"/>
          <p:cNvSpPr/>
          <p:nvPr/>
        </p:nvSpPr>
        <p:spPr>
          <a:xfrm>
            <a:off x="548640" y="3200400"/>
            <a:ext cx="548640" cy="548640"/>
          </a:xfrm>
          <a:prstGeom prst="ellipse">
            <a:avLst/>
          </a:prstGeom>
          <a:solidFill>
            <a:schemeClr val="accent2"/>
          </a:solidFill>
          <a:ln/>
        </p:spPr>
      </p:sp>
      <p:sp>
        <p:nvSpPr>
          <p:cNvPr id="7" name="message digit 2"/>
          <p:cNvSpPr txBox="1"/>
          <p:nvPr/>
        </p:nvSpPr>
        <p:spPr>
          <a:xfrm>
            <a:off x="548640" y="3200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ake-home 2"/>
          <p:cNvSpPr txBox="1"/>
          <p:nvPr/>
        </p:nvSpPr>
        <p:spPr>
          <a:xfrm>
            <a:off x="1325880" y="3154680"/>
            <a:ext cx="5669280" cy="1325880"/>
          </a:xfrm>
          <a:prstGeom prst="rect">
            <a:avLst/>
          </a:prstGeom>
          <a:noFill/>
          <a:ln/>
        </p:spPr>
        <p:txBody>
          <a:bodyPr wrap="square" lIns="0" tIns="0" rIns="0" bIns="0" rtlCol="0" anchor="t"/>
          <a:lstStyle/>
          <a:p>
            <a:pPr indent="0" marL="0">
              <a:buNone/>
            </a:pPr>
            <a:r>
              <a:rPr lang="en-US" sz="1800" dirty="0">
                <a:solidFill>
                  <a:schemeClr val="bg1"/>
                </a:solidFill>
              </a:rPr>
              <a:t>Two foot IMUs recognise the height on a new person at about 90 % once scaled to the person's own crossings; width stays near chance.</a:t>
            </a:r>
            <a:endParaRPr lang="en-US" sz="1800" dirty="0"/>
          </a:p>
        </p:txBody>
      </p:sp>
      <p:sp>
        <p:nvSpPr>
          <p:cNvPr id="9" name="message number 3"/>
          <p:cNvSpPr/>
          <p:nvPr/>
        </p:nvSpPr>
        <p:spPr>
          <a:xfrm>
            <a:off x="548640" y="4709160"/>
            <a:ext cx="548640" cy="548640"/>
          </a:xfrm>
          <a:prstGeom prst="ellipse">
            <a:avLst/>
          </a:prstGeom>
          <a:solidFill>
            <a:schemeClr val="accent2"/>
          </a:solidFill>
          <a:ln/>
        </p:spPr>
      </p:sp>
      <p:sp>
        <p:nvSpPr>
          <p:cNvPr id="10" name="message digit 3"/>
          <p:cNvSpPr txBox="1"/>
          <p:nvPr/>
        </p:nvSpPr>
        <p:spPr>
          <a:xfrm>
            <a:off x="548640" y="47091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ake-home 3"/>
          <p:cNvSpPr txBox="1"/>
          <p:nvPr/>
        </p:nvSpPr>
        <p:spPr>
          <a:xfrm>
            <a:off x="1325880" y="4663440"/>
            <a:ext cx="5669280" cy="1325880"/>
          </a:xfrm>
          <a:prstGeom prst="rect">
            <a:avLst/>
          </a:prstGeom>
          <a:noFill/>
          <a:ln/>
        </p:spPr>
        <p:txBody>
          <a:bodyPr wrap="square" lIns="0" tIns="0" rIns="0" bIns="0" rtlCol="0" anchor="t"/>
          <a:lstStyle/>
          <a:p>
            <a:pPr indent="0" marL="0">
              <a:buNone/>
            </a:pPr>
            <a:r>
              <a:rPr lang="en-US" sz="1800" dirty="0">
                <a:solidFill>
                  <a:schemeClr val="bg1"/>
                </a:solidFill>
              </a:rPr>
              <a:t>A cue for the trailing leg must come from the leading leg, by its apex: about 0.45 s ahead, with personal thresholds.</a:t>
            </a:r>
            <a:endParaRPr lang="en-US" sz="1800" dirty="0"/>
          </a:p>
        </p:txBody>
      </p:sp>
      <p:sp>
        <p:nvSpPr>
          <p:cNvPr id="12" name="cue card"/>
          <p:cNvSpPr/>
          <p:nvPr/>
        </p:nvSpPr>
        <p:spPr>
          <a:xfrm>
            <a:off x="7315200" y="1691640"/>
            <a:ext cx="4325112" cy="4480560"/>
          </a:xfrm>
          <a:prstGeom prst="roundRect">
            <a:avLst>
              <a:gd name="adj" fmla="val 2114"/>
            </a:avLst>
          </a:prstGeom>
          <a:solidFill>
            <a:schemeClr val="bg1">
              <a:alpha val="10000"/>
            </a:schemeClr>
          </a:solidFill>
          <a:ln/>
        </p:spPr>
      </p:sp>
      <p:sp>
        <p:nvSpPr>
          <p:cNvPr id="13" name="cue head"/>
          <p:cNvSpPr txBox="1"/>
          <p:nvPr/>
        </p:nvSpPr>
        <p:spPr>
          <a:xfrm>
            <a:off x="7589520" y="1874520"/>
            <a:ext cx="3840480" cy="502920"/>
          </a:xfrm>
          <a:prstGeom prst="rect">
            <a:avLst/>
          </a:prstGeom>
          <a:noFill/>
          <a:ln/>
        </p:spPr>
        <p:txBody>
          <a:bodyPr wrap="square" lIns="0" tIns="0" rIns="0" bIns="0" rtlCol="0" anchor="ctr"/>
          <a:lstStyle/>
          <a:p>
            <a:pPr indent="0" marL="0">
              <a:buNone/>
            </a:pPr>
            <a:r>
              <a:rPr lang="en-US" sz="1800" b="1" dirty="0">
                <a:solidFill>
                  <a:schemeClr val="bg1"/>
                </a:solidFill>
              </a:rPr>
              <a:t>The haptic cue in one line each</a:t>
            </a:r>
            <a:endParaRPr lang="en-US" sz="1800" dirty="0"/>
          </a:p>
        </p:txBody>
      </p:sp>
      <p:sp>
        <p:nvSpPr>
          <p:cNvPr id="14" name="cue item 1 circle"/>
          <p:cNvSpPr/>
          <p:nvPr/>
        </p:nvSpPr>
        <p:spPr>
          <a:xfrm>
            <a:off x="7589520" y="2606040"/>
            <a:ext cx="329184" cy="329184"/>
          </a:xfrm>
          <a:prstGeom prst="ellipse">
            <a:avLst/>
          </a:prstGeom>
          <a:solidFill>
            <a:schemeClr val="accent3"/>
          </a:solidFill>
          <a:ln/>
        </p:spPr>
      </p:sp>
      <p:pic>
        <p:nvPicPr>
          <p:cNvPr id="15" name="cue item 1 icon" descr="preencoded.png">    </p:cNvPr>
          <p:cNvPicPr>
            <a:picLocks noChangeAspect="1"/>
          </p:cNvPicPr>
          <p:nvPr/>
        </p:nvPicPr>
        <p:blipFill>
          <a:blip r:embed="rId1"/>
          <a:stretch>
            <a:fillRect/>
          </a:stretch>
        </p:blipFill>
        <p:spPr>
          <a:xfrm>
            <a:off x="7668524" y="2685044"/>
            <a:ext cx="171176" cy="171176"/>
          </a:xfrm>
          <a:prstGeom prst="rect">
            <a:avLst/>
          </a:prstGeom>
        </p:spPr>
      </p:pic>
      <p:sp>
        <p:nvSpPr>
          <p:cNvPr id="16" name="cue item text 1"/>
          <p:cNvSpPr txBox="1"/>
          <p:nvPr/>
        </p:nvSpPr>
        <p:spPr>
          <a:xfrm>
            <a:off x="8092440" y="2560320"/>
            <a:ext cx="3383280" cy="603504"/>
          </a:xfrm>
          <a:prstGeom prst="rect">
            <a:avLst/>
          </a:prstGeom>
          <a:noFill/>
          <a:ln/>
        </p:spPr>
        <p:txBody>
          <a:bodyPr wrap="square" lIns="0" tIns="0" rIns="0" bIns="0" rtlCol="0" anchor="t"/>
          <a:lstStyle/>
          <a:p>
            <a:pPr indent="0" marL="0">
              <a:buNone/>
            </a:pPr>
            <a:r>
              <a:rPr lang="en-US" sz="1500" b="1" dirty="0">
                <a:solidFill>
                  <a:schemeClr val="bg1"/>
                </a:solidFill>
              </a:rPr>
              <a:t>When: </a:t>
            </a:r>
            <a:pPr indent="0" marL="0">
              <a:buNone/>
            </a:pPr>
            <a:r>
              <a:rPr lang="en-US" sz="1500" dirty="0">
                <a:solidFill>
                  <a:schemeClr val="bg1"/>
                </a:solidFill>
              </a:rPr>
              <a:t>leading-foot apex, ≈ 0.45 s before</a:t>
            </a:r>
            <a:endParaRPr lang="en-US" sz="1500" dirty="0"/>
          </a:p>
        </p:txBody>
      </p:sp>
      <p:sp>
        <p:nvSpPr>
          <p:cNvPr id="17" name="cue item 2 circle"/>
          <p:cNvSpPr/>
          <p:nvPr/>
        </p:nvSpPr>
        <p:spPr>
          <a:xfrm>
            <a:off x="7589520" y="3300984"/>
            <a:ext cx="329184" cy="329184"/>
          </a:xfrm>
          <a:prstGeom prst="ellipse">
            <a:avLst/>
          </a:prstGeom>
          <a:solidFill>
            <a:schemeClr val="accent3"/>
          </a:solidFill>
          <a:ln/>
        </p:spPr>
      </p:sp>
      <p:pic>
        <p:nvPicPr>
          <p:cNvPr id="18" name="cue item 2 icon" descr="preencoded.png">    </p:cNvPr>
          <p:cNvPicPr>
            <a:picLocks noChangeAspect="1"/>
          </p:cNvPicPr>
          <p:nvPr/>
        </p:nvPicPr>
        <p:blipFill>
          <a:blip r:embed="rId2"/>
          <a:stretch>
            <a:fillRect/>
          </a:stretch>
        </p:blipFill>
        <p:spPr>
          <a:xfrm>
            <a:off x="7668524" y="3379988"/>
            <a:ext cx="171176" cy="171176"/>
          </a:xfrm>
          <a:prstGeom prst="rect">
            <a:avLst/>
          </a:prstGeom>
        </p:spPr>
      </p:pic>
      <p:sp>
        <p:nvSpPr>
          <p:cNvPr id="19" name="cue item text 2"/>
          <p:cNvSpPr txBox="1"/>
          <p:nvPr/>
        </p:nvSpPr>
        <p:spPr>
          <a:xfrm>
            <a:off x="8092440" y="3255264"/>
            <a:ext cx="3383280" cy="603504"/>
          </a:xfrm>
          <a:prstGeom prst="rect">
            <a:avLst/>
          </a:prstGeom>
          <a:noFill/>
          <a:ln/>
        </p:spPr>
        <p:txBody>
          <a:bodyPr wrap="square" lIns="0" tIns="0" rIns="0" bIns="0" rtlCol="0" anchor="t"/>
          <a:lstStyle/>
          <a:p>
            <a:pPr indent="0" marL="0">
              <a:buNone/>
            </a:pPr>
            <a:r>
              <a:rPr lang="en-US" sz="1500" b="1" dirty="0">
                <a:solidFill>
                  <a:schemeClr val="bg1"/>
                </a:solidFill>
              </a:rPr>
              <a:t>Which leg: </a:t>
            </a:r>
            <a:pPr indent="0" marL="0">
              <a:buNone/>
            </a:pPr>
            <a:r>
              <a:rPr lang="en-US" sz="1500" dirty="0">
                <a:solidFill>
                  <a:schemeClr val="bg1"/>
                </a:solidFill>
              </a:rPr>
              <a:t>the leading leg</a:t>
            </a:r>
            <a:endParaRPr lang="en-US" sz="1500" dirty="0"/>
          </a:p>
        </p:txBody>
      </p:sp>
      <p:sp>
        <p:nvSpPr>
          <p:cNvPr id="20" name="cue item 3 circle"/>
          <p:cNvSpPr/>
          <p:nvPr/>
        </p:nvSpPr>
        <p:spPr>
          <a:xfrm>
            <a:off x="7589520" y="3995928"/>
            <a:ext cx="329184" cy="329184"/>
          </a:xfrm>
          <a:prstGeom prst="ellipse">
            <a:avLst/>
          </a:prstGeom>
          <a:solidFill>
            <a:schemeClr val="accent3"/>
          </a:solidFill>
          <a:ln/>
        </p:spPr>
      </p:sp>
      <p:pic>
        <p:nvPicPr>
          <p:cNvPr id="21" name="cue item 3 icon" descr="preencoded.png">    </p:cNvPr>
          <p:cNvPicPr>
            <a:picLocks noChangeAspect="1"/>
          </p:cNvPicPr>
          <p:nvPr/>
        </p:nvPicPr>
        <p:blipFill>
          <a:blip r:embed="rId3"/>
          <a:stretch>
            <a:fillRect/>
          </a:stretch>
        </p:blipFill>
        <p:spPr>
          <a:xfrm>
            <a:off x="7668524" y="4074932"/>
            <a:ext cx="171176" cy="171176"/>
          </a:xfrm>
          <a:prstGeom prst="rect">
            <a:avLst/>
          </a:prstGeom>
        </p:spPr>
      </p:pic>
      <p:sp>
        <p:nvSpPr>
          <p:cNvPr id="22" name="cue item text 3"/>
          <p:cNvSpPr txBox="1"/>
          <p:nvPr/>
        </p:nvSpPr>
        <p:spPr>
          <a:xfrm>
            <a:off x="8092440" y="3950208"/>
            <a:ext cx="3383280" cy="603504"/>
          </a:xfrm>
          <a:prstGeom prst="rect">
            <a:avLst/>
          </a:prstGeom>
          <a:noFill/>
          <a:ln/>
        </p:spPr>
        <p:txBody>
          <a:bodyPr wrap="square" lIns="0" tIns="0" rIns="0" bIns="0" rtlCol="0" anchor="t"/>
          <a:lstStyle/>
          <a:p>
            <a:pPr indent="0" marL="0">
              <a:buNone/>
            </a:pPr>
            <a:r>
              <a:rPr lang="en-US" sz="1500" b="1" dirty="0">
                <a:solidFill>
                  <a:schemeClr val="bg1"/>
                </a:solidFill>
              </a:rPr>
              <a:t>Which sensor: </a:t>
            </a:r>
            <a:pPr indent="0" marL="0">
              <a:buNone/>
            </a:pPr>
            <a:r>
              <a:rPr lang="en-US" sz="1500" dirty="0">
                <a:solidFill>
                  <a:schemeClr val="bg1"/>
                </a:solidFill>
              </a:rPr>
              <a:t>foot IMUs (else the leading thigh)</a:t>
            </a:r>
            <a:endParaRPr lang="en-US" sz="1500" dirty="0"/>
          </a:p>
        </p:txBody>
      </p:sp>
      <p:sp>
        <p:nvSpPr>
          <p:cNvPr id="23" name="cue item 4 circle"/>
          <p:cNvSpPr/>
          <p:nvPr/>
        </p:nvSpPr>
        <p:spPr>
          <a:xfrm>
            <a:off x="7589520" y="4690872"/>
            <a:ext cx="329184" cy="329184"/>
          </a:xfrm>
          <a:prstGeom prst="ellipse">
            <a:avLst/>
          </a:prstGeom>
          <a:solidFill>
            <a:schemeClr val="accent3"/>
          </a:solidFill>
          <a:ln/>
        </p:spPr>
      </p:sp>
      <p:pic>
        <p:nvPicPr>
          <p:cNvPr id="24" name="cue item 4 icon" descr="preencoded.png">    </p:cNvPr>
          <p:cNvPicPr>
            <a:picLocks noChangeAspect="1"/>
          </p:cNvPicPr>
          <p:nvPr/>
        </p:nvPicPr>
        <p:blipFill>
          <a:blip r:embed="rId4"/>
          <a:stretch>
            <a:fillRect/>
          </a:stretch>
        </p:blipFill>
        <p:spPr>
          <a:xfrm>
            <a:off x="7668524" y="4769876"/>
            <a:ext cx="171176" cy="171176"/>
          </a:xfrm>
          <a:prstGeom prst="rect">
            <a:avLst/>
          </a:prstGeom>
        </p:spPr>
      </p:pic>
      <p:sp>
        <p:nvSpPr>
          <p:cNvPr id="25" name="cue item text 4"/>
          <p:cNvSpPr txBox="1"/>
          <p:nvPr/>
        </p:nvSpPr>
        <p:spPr>
          <a:xfrm>
            <a:off x="8092440" y="4645152"/>
            <a:ext cx="3383280" cy="603504"/>
          </a:xfrm>
          <a:prstGeom prst="rect">
            <a:avLst/>
          </a:prstGeom>
          <a:noFill/>
          <a:ln/>
        </p:spPr>
        <p:txBody>
          <a:bodyPr wrap="square" lIns="0" tIns="0" rIns="0" bIns="0" rtlCol="0" anchor="t"/>
          <a:lstStyle/>
          <a:p>
            <a:pPr indent="0" marL="0">
              <a:buNone/>
            </a:pPr>
            <a:r>
              <a:rPr lang="en-US" sz="1500" b="1" dirty="0">
                <a:solidFill>
                  <a:schemeClr val="bg1"/>
                </a:solidFill>
              </a:rPr>
              <a:t>Thresholds: </a:t>
            </a:r>
            <a:pPr indent="0" marL="0">
              <a:buNone/>
            </a:pPr>
            <a:r>
              <a:rPr lang="en-US" sz="1500" dirty="0">
                <a:solidFill>
                  <a:schemeClr val="bg1"/>
                </a:solidFill>
              </a:rPr>
              <a:t>personal, learned from own crossings</a:t>
            </a:r>
            <a:endParaRPr lang="en-US" sz="1500" dirty="0"/>
          </a:p>
        </p:txBody>
      </p:sp>
      <p:sp>
        <p:nvSpPr>
          <p:cNvPr id="26" name="cue item 5 circle"/>
          <p:cNvSpPr/>
          <p:nvPr/>
        </p:nvSpPr>
        <p:spPr>
          <a:xfrm>
            <a:off x="7589520" y="5385816"/>
            <a:ext cx="329184" cy="329184"/>
          </a:xfrm>
          <a:prstGeom prst="ellipse">
            <a:avLst/>
          </a:prstGeom>
          <a:solidFill>
            <a:schemeClr val="accent3"/>
          </a:solidFill>
          <a:ln/>
        </p:spPr>
      </p:sp>
      <p:pic>
        <p:nvPicPr>
          <p:cNvPr id="27" name="cue item 5 icon" descr="preencoded.png">    </p:cNvPr>
          <p:cNvPicPr>
            <a:picLocks noChangeAspect="1"/>
          </p:cNvPicPr>
          <p:nvPr/>
        </p:nvPicPr>
        <p:blipFill>
          <a:blip r:embed="rId5"/>
          <a:stretch>
            <a:fillRect/>
          </a:stretch>
        </p:blipFill>
        <p:spPr>
          <a:xfrm>
            <a:off x="7668524" y="5464820"/>
            <a:ext cx="171176" cy="171176"/>
          </a:xfrm>
          <a:prstGeom prst="rect">
            <a:avLst/>
          </a:prstGeom>
        </p:spPr>
      </p:pic>
      <p:sp>
        <p:nvSpPr>
          <p:cNvPr id="28" name="cue item text 5"/>
          <p:cNvSpPr txBox="1"/>
          <p:nvPr/>
        </p:nvSpPr>
        <p:spPr>
          <a:xfrm>
            <a:off x="8092440" y="5340096"/>
            <a:ext cx="3383280" cy="603504"/>
          </a:xfrm>
          <a:prstGeom prst="rect">
            <a:avLst/>
          </a:prstGeom>
          <a:noFill/>
          <a:ln/>
        </p:spPr>
        <p:txBody>
          <a:bodyPr wrap="square" lIns="0" tIns="0" rIns="0" bIns="0" rtlCol="0" anchor="t"/>
          <a:lstStyle/>
          <a:p>
            <a:pPr indent="0" marL="0">
              <a:buNone/>
            </a:pPr>
            <a:r>
              <a:rPr lang="en-US" sz="1500" b="1" dirty="0">
                <a:solidFill>
                  <a:schemeClr val="bg1"/>
                </a:solidFill>
              </a:rPr>
              <a:t>Confidence: </a:t>
            </a:r>
            <a:pPr indent="0" marL="0">
              <a:buNone/>
            </a:pPr>
            <a:r>
              <a:rPr lang="en-US" sz="1500" dirty="0">
                <a:solidFill>
                  <a:schemeClr val="bg1"/>
                </a:solidFill>
              </a:rPr>
              <a:t>cue only at p ≥ 0.6</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C2CE"/>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Obstacle Crossing ML and Haptics">
  <a:themeElements>
    <a:clrScheme name="Obstacle Crossing ML and Haptics">
      <a:dk1>
        <a:srgbClr val="1E1E1E"/>
      </a:dk1>
      <a:lt1>
        <a:srgbClr val="FFFFFF"/>
      </a:lt1>
      <a:dk2>
        <a:srgbClr val="15233A"/>
      </a:dk2>
      <a:lt2>
        <a:srgbClr val="F1F3F6"/>
      </a:lt2>
      <a:accent1>
        <a:srgbClr val="3366CC"/>
      </a:accent1>
      <a:accent2>
        <a:srgbClr val="D9730D"/>
      </a:accent2>
      <a:accent3>
        <a:srgbClr val="33995A"/>
      </a:accent3>
      <a:accent4>
        <a:srgbClr val="804DB3"/>
      </a:accent4>
      <a:accent5>
        <a:srgbClr val="C81E1E"/>
      </a:accent5>
      <a:accent6>
        <a:srgbClr val="767676"/>
      </a:accent6>
      <a:hlink>
        <a:srgbClr val="3366CC"/>
      </a:hlink>
      <a:folHlink>
        <a:srgbClr val="804DB3"/>
      </a:folHlink>
    </a:clrScheme>
    <a:fontScheme name="Obstacle Crossing ML and Haptic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Obstacle crossing with wearable IMUs: ML and haptic-cue results</dc:title>
  <dc:subject>Definitions, methods, results and discussion, Tests 101-110</dc:subject>
  <dc:creator>Ehsan Sharafian</dc:creator>
  <cp:lastModifiedBy>Ehsan Sharafian</cp:lastModifiedBy>
  <cp:revision>1</cp:revision>
  <dcterms:created xsi:type="dcterms:W3CDTF">2026-10-31T12:59:32Z</dcterms:created>
  <dcterms:modified xsi:type="dcterms:W3CDTF">2026-10-31T12:59:32Z</dcterms:modified>
</cp:coreProperties>
</file>