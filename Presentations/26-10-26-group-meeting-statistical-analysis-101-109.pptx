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2" r:id="rId3"/>
    <p:sldId id="258" r:id="rId4"/>
    <p:sldId id="259" r:id="rId5"/>
    <p:sldId id="257" r:id="rId6"/>
    <p:sldId id="260" r:id="rId7"/>
    <p:sldId id="261" r:id="rId8"/>
    <p:sldId id="264" r:id="rId9"/>
    <p:sldId id="265" r:id="rId10"/>
    <p:sldId id="266" r:id="rId11"/>
    <p:sldId id="267" r:id="rId12"/>
  </p:sldIdLst>
  <p:sldSz cx="15125700" cy="10693400"/>
  <p:notesSz cx="151257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3" d="100"/>
          <a:sy n="63" d="100"/>
        </p:scale>
        <p:origin x="1728" y="84"/>
      </p:cViewPr>
      <p:guideLst>
        <p:guide orient="horz" pos="2880"/>
        <p:guide pos="216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134427" y="3314954"/>
            <a:ext cx="12856845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268855" y="5988304"/>
            <a:ext cx="10587990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756285" y="2459482"/>
            <a:ext cx="657967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789735" y="2459482"/>
            <a:ext cx="657967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56285" y="427736"/>
            <a:ext cx="13613130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56285" y="2459482"/>
            <a:ext cx="13613130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142738" y="9944862"/>
            <a:ext cx="484022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756285" y="9944862"/>
            <a:ext cx="3478911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890504" y="9944862"/>
            <a:ext cx="3478911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804363" y="1346884"/>
            <a:ext cx="57397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dirty="0">
                <a:latin typeface="Book Antiqua"/>
                <a:cs typeface="Book Antiqua"/>
              </a:rPr>
              <a:t>Table</a:t>
            </a:r>
            <a:r>
              <a:rPr sz="1100" b="1" spc="80" dirty="0">
                <a:latin typeface="Book Antiqua"/>
                <a:cs typeface="Book Antiqua"/>
              </a:rPr>
              <a:t> </a:t>
            </a:r>
            <a:r>
              <a:rPr sz="1100" b="1" spc="70" dirty="0">
                <a:latin typeface="Book Antiqua"/>
                <a:cs typeface="Book Antiqua"/>
              </a:rPr>
              <a:t>1:</a:t>
            </a:r>
            <a:r>
              <a:rPr sz="1100" b="1" spc="200" dirty="0">
                <a:latin typeface="Book Antiqua"/>
                <a:cs typeface="Book Antiqua"/>
              </a:rPr>
              <a:t> </a:t>
            </a:r>
            <a:r>
              <a:rPr sz="1100" spc="-35" dirty="0">
                <a:latin typeface="Book Antiqua"/>
                <a:cs typeface="Book Antiqua"/>
              </a:rPr>
              <a:t>Obstacle-</a:t>
            </a:r>
            <a:r>
              <a:rPr sz="1100" spc="-10" dirty="0">
                <a:latin typeface="Book Antiqua"/>
                <a:cs typeface="Book Antiqua"/>
              </a:rPr>
              <a:t>crossing</a:t>
            </a:r>
            <a:r>
              <a:rPr sz="1100" spc="40" dirty="0">
                <a:latin typeface="Book Antiqua"/>
                <a:cs typeface="Book Antiqua"/>
              </a:rPr>
              <a:t> </a:t>
            </a:r>
            <a:r>
              <a:rPr sz="1100" spc="-10" dirty="0">
                <a:latin typeface="Book Antiqua"/>
                <a:cs typeface="Book Antiqua"/>
              </a:rPr>
              <a:t>kinematic</a:t>
            </a:r>
            <a:r>
              <a:rPr sz="1100" spc="35" dirty="0">
                <a:latin typeface="Book Antiqua"/>
                <a:cs typeface="Book Antiqua"/>
              </a:rPr>
              <a:t> </a:t>
            </a:r>
            <a:r>
              <a:rPr sz="1100" spc="-25" dirty="0">
                <a:latin typeface="Book Antiqua"/>
                <a:cs typeface="Book Antiqua"/>
              </a:rPr>
              <a:t>parameters</a:t>
            </a:r>
            <a:r>
              <a:rPr sz="1100" spc="35" dirty="0">
                <a:latin typeface="Book Antiqua"/>
                <a:cs typeface="Book Antiqua"/>
              </a:rPr>
              <a:t> </a:t>
            </a:r>
            <a:r>
              <a:rPr sz="1100" spc="-10" dirty="0">
                <a:latin typeface="Book Antiqua"/>
                <a:cs typeface="Book Antiqua"/>
              </a:rPr>
              <a:t>across</a:t>
            </a:r>
            <a:r>
              <a:rPr sz="1100" spc="40" dirty="0">
                <a:latin typeface="Book Antiqua"/>
                <a:cs typeface="Book Antiqua"/>
              </a:rPr>
              <a:t> </a:t>
            </a:r>
            <a:r>
              <a:rPr sz="1100" spc="-30" dirty="0">
                <a:latin typeface="Book Antiqua"/>
                <a:cs typeface="Book Antiqua"/>
              </a:rPr>
              <a:t>different</a:t>
            </a:r>
            <a:r>
              <a:rPr sz="1100" spc="35" dirty="0">
                <a:latin typeface="Book Antiqua"/>
                <a:cs typeface="Book Antiqua"/>
              </a:rPr>
              <a:t> </a:t>
            </a:r>
            <a:r>
              <a:rPr sz="1100" spc="-10" dirty="0">
                <a:latin typeface="Book Antiqua"/>
                <a:cs typeface="Book Antiqua"/>
              </a:rPr>
              <a:t>obstacle</a:t>
            </a:r>
            <a:r>
              <a:rPr sz="1100" spc="35" dirty="0">
                <a:latin typeface="Book Antiqua"/>
                <a:cs typeface="Book Antiqua"/>
              </a:rPr>
              <a:t> </a:t>
            </a:r>
            <a:r>
              <a:rPr sz="1100" spc="-30" dirty="0">
                <a:latin typeface="Book Antiqua"/>
                <a:cs typeface="Book Antiqua"/>
              </a:rPr>
              <a:t>widths</a:t>
            </a:r>
            <a:r>
              <a:rPr sz="1100" spc="40" dirty="0">
                <a:latin typeface="Book Antiqua"/>
                <a:cs typeface="Book Antiqua"/>
              </a:rPr>
              <a:t> </a:t>
            </a:r>
            <a:r>
              <a:rPr sz="1100" spc="-10" dirty="0">
                <a:latin typeface="Book Antiqua"/>
                <a:cs typeface="Book Antiqua"/>
              </a:rPr>
              <a:t>and</a:t>
            </a:r>
            <a:r>
              <a:rPr sz="1100" spc="35" dirty="0">
                <a:latin typeface="Book Antiqua"/>
                <a:cs typeface="Book Antiqua"/>
              </a:rPr>
              <a:t> </a:t>
            </a:r>
            <a:r>
              <a:rPr sz="1100" spc="-10" dirty="0">
                <a:latin typeface="Book Antiqua"/>
                <a:cs typeface="Book Antiqua"/>
              </a:rPr>
              <a:t>heights.</a:t>
            </a:r>
            <a:endParaRPr sz="1100">
              <a:latin typeface="Book Antiqua"/>
              <a:cs typeface="Book Antiqua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817063" y="1681797"/>
            <a:ext cx="9486265" cy="0"/>
          </a:xfrm>
          <a:custGeom>
            <a:avLst/>
            <a:gdLst/>
            <a:ahLst/>
            <a:cxnLst/>
            <a:rect l="l" t="t" r="r" b="b"/>
            <a:pathLst>
              <a:path w="9486265">
                <a:moveTo>
                  <a:pt x="0" y="0"/>
                </a:moveTo>
                <a:lnTo>
                  <a:pt x="9485858" y="0"/>
                </a:lnTo>
              </a:path>
            </a:pathLst>
          </a:custGeom>
          <a:ln w="1102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5944793" y="1754605"/>
            <a:ext cx="100330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Book Antiqua"/>
                <a:cs typeface="Book Antiqua"/>
              </a:rPr>
              <a:t>W1:</a:t>
            </a:r>
            <a:r>
              <a:rPr sz="1100" spc="160" dirty="0">
                <a:latin typeface="Book Antiqua"/>
                <a:cs typeface="Book Antiqua"/>
              </a:rPr>
              <a:t> </a:t>
            </a:r>
            <a:r>
              <a:rPr sz="1100" spc="-10" dirty="0">
                <a:latin typeface="Book Antiqua"/>
                <a:cs typeface="Book Antiqua"/>
              </a:rPr>
              <a:t>Mean</a:t>
            </a:r>
            <a:r>
              <a:rPr sz="1100" spc="50" dirty="0">
                <a:latin typeface="Book Antiqua"/>
                <a:cs typeface="Book Antiqua"/>
              </a:rPr>
              <a:t> </a:t>
            </a:r>
            <a:r>
              <a:rPr sz="1100" spc="-20" dirty="0">
                <a:latin typeface="Book Antiqua"/>
                <a:cs typeface="Book Antiqua"/>
              </a:rPr>
              <a:t>(SD)</a:t>
            </a:r>
            <a:endParaRPr sz="1100">
              <a:latin typeface="Book Antiqua"/>
              <a:cs typeface="Book Antiqu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025077" y="1754605"/>
            <a:ext cx="100330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Book Antiqua"/>
                <a:cs typeface="Book Antiqua"/>
              </a:rPr>
              <a:t>W2:</a:t>
            </a:r>
            <a:r>
              <a:rPr sz="1100" spc="160" dirty="0">
                <a:latin typeface="Book Antiqua"/>
                <a:cs typeface="Book Antiqua"/>
              </a:rPr>
              <a:t> </a:t>
            </a:r>
            <a:r>
              <a:rPr sz="1100" spc="-10" dirty="0">
                <a:latin typeface="Book Antiqua"/>
                <a:cs typeface="Book Antiqua"/>
              </a:rPr>
              <a:t>Mean</a:t>
            </a:r>
            <a:r>
              <a:rPr sz="1100" spc="50" dirty="0">
                <a:latin typeface="Book Antiqua"/>
                <a:cs typeface="Book Antiqua"/>
              </a:rPr>
              <a:t> </a:t>
            </a:r>
            <a:r>
              <a:rPr sz="1100" spc="-20" dirty="0">
                <a:latin typeface="Book Antiqua"/>
                <a:cs typeface="Book Antiqua"/>
              </a:rPr>
              <a:t>(SD)</a:t>
            </a:r>
            <a:endParaRPr sz="1100">
              <a:latin typeface="Book Antiqua"/>
              <a:cs typeface="Book Antiqu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277551" y="1754605"/>
            <a:ext cx="8147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latin typeface="Book Antiqua"/>
                <a:cs typeface="Book Antiqua"/>
              </a:rPr>
              <a:t>Main-</a:t>
            </a:r>
            <a:r>
              <a:rPr sz="1100" spc="-10" dirty="0">
                <a:latin typeface="Book Antiqua"/>
                <a:cs typeface="Book Antiqua"/>
              </a:rPr>
              <a:t>effect</a:t>
            </a:r>
            <a:r>
              <a:rPr sz="1100" spc="15" dirty="0">
                <a:latin typeface="Book Antiqua"/>
                <a:cs typeface="Book Antiqua"/>
              </a:rPr>
              <a:t> </a:t>
            </a:r>
            <a:r>
              <a:rPr sz="1100" i="1" spc="-50" dirty="0">
                <a:latin typeface="Verdana"/>
                <a:cs typeface="Verdana"/>
              </a:rPr>
              <a:t>p</a:t>
            </a:r>
            <a:endParaRPr sz="1100">
              <a:latin typeface="Verdana"/>
              <a:cs typeface="Verdan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04363" y="3808347"/>
            <a:ext cx="10534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25" dirty="0">
                <a:latin typeface="Book Antiqua"/>
                <a:cs typeface="Book Antiqua"/>
              </a:rPr>
              <a:t>Landing</a:t>
            </a:r>
            <a:r>
              <a:rPr sz="1100" spc="10" dirty="0">
                <a:latin typeface="Book Antiqua"/>
                <a:cs typeface="Book Antiqua"/>
              </a:rPr>
              <a:t> </a:t>
            </a:r>
            <a:r>
              <a:rPr sz="1100" spc="-20" dirty="0">
                <a:latin typeface="Book Antiqua"/>
                <a:cs typeface="Book Antiqua"/>
              </a:rPr>
              <a:t>distance</a:t>
            </a:r>
            <a:endParaRPr sz="1100">
              <a:latin typeface="Book Antiqua"/>
              <a:cs typeface="Book Antiqu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804363" y="7036624"/>
            <a:ext cx="6838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30" dirty="0">
                <a:latin typeface="Book Antiqua"/>
                <a:cs typeface="Book Antiqua"/>
              </a:rPr>
              <a:t>Hip</a:t>
            </a:r>
            <a:r>
              <a:rPr sz="1100" spc="-15" dirty="0">
                <a:latin typeface="Book Antiqua"/>
                <a:cs typeface="Book Antiqua"/>
              </a:rPr>
              <a:t> </a:t>
            </a:r>
            <a:r>
              <a:rPr sz="1100" spc="-30" dirty="0">
                <a:latin typeface="Book Antiqua"/>
                <a:cs typeface="Book Antiqua"/>
              </a:rPr>
              <a:t>flexion</a:t>
            </a:r>
            <a:endParaRPr sz="1100">
              <a:latin typeface="Book Antiqua"/>
              <a:cs typeface="Book Antiqu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04363" y="7682279"/>
            <a:ext cx="7721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Book Antiqua"/>
                <a:cs typeface="Book Antiqua"/>
              </a:rPr>
              <a:t>Knee</a:t>
            </a:r>
            <a:r>
              <a:rPr sz="1100" spc="-15" dirty="0">
                <a:latin typeface="Book Antiqua"/>
                <a:cs typeface="Book Antiqua"/>
              </a:rPr>
              <a:t> </a:t>
            </a:r>
            <a:r>
              <a:rPr sz="1100" spc="-30" dirty="0">
                <a:latin typeface="Book Antiqua"/>
                <a:cs typeface="Book Antiqua"/>
              </a:rPr>
              <a:t>flexion</a:t>
            </a:r>
            <a:endParaRPr sz="1100">
              <a:latin typeface="Book Antiqua"/>
              <a:cs typeface="Book Antiqua"/>
            </a:endParaRPr>
          </a:p>
        </p:txBody>
      </p:sp>
      <p:graphicFrame>
        <p:nvGraphicFramePr>
          <p:cNvPr id="10" name="object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034248"/>
              </p:ext>
            </p:extLst>
          </p:nvPr>
        </p:nvGraphicFramePr>
        <p:xfrm>
          <a:off x="2817063" y="2008835"/>
          <a:ext cx="9486260" cy="673138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57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5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8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7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6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67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59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77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150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5625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244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35"/>
                        </a:spcBef>
                        <a:tabLst>
                          <a:tab pos="1523365" algn="l"/>
                        </a:tabLst>
                      </a:pPr>
                      <a:r>
                        <a:rPr sz="1100" b="1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Parameter</a:t>
                      </a:r>
                      <a:r>
                        <a:rPr sz="11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	</a:t>
                      </a:r>
                      <a:r>
                        <a:rPr sz="1100" b="1" spc="-2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064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1100" b="1" spc="4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H1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0645" marB="0">
                    <a:lnT w="63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1100" b="1" spc="4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H2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0645" marB="0">
                    <a:lnT w="63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1100" b="1" spc="4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H3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0645" marB="0">
                    <a:lnT w="63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325"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1100" b="1" spc="4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H1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0645" marB="0">
                    <a:lnT w="63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1100" b="1" spc="4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H2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0645" marB="0">
                    <a:lnT w="63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1100" b="1" spc="4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H3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0645" marB="0">
                    <a:lnT w="63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785"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1100" b="1" spc="4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Width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0645" marB="0">
                    <a:lnT w="63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0805" algn="ctr">
                        <a:lnSpc>
                          <a:spcPct val="100000"/>
                        </a:lnSpc>
                        <a:spcBef>
                          <a:spcPts val="635"/>
                        </a:spcBef>
                      </a:pPr>
                      <a:r>
                        <a:rPr sz="1100" b="1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Height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0645" marB="0">
                    <a:lnT w="63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7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ts val="785"/>
                        </a:lnSpc>
                        <a:tabLst>
                          <a:tab pos="1524000" algn="l"/>
                        </a:tabLst>
                      </a:pPr>
                      <a:r>
                        <a:rPr sz="1100" spc="-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Minimum</a:t>
                      </a:r>
                      <a:r>
                        <a:rPr sz="1100" spc="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clearance</a:t>
                      </a: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	</a:t>
                      </a:r>
                      <a:r>
                        <a:rPr sz="1650" spc="-15" baseline="45454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</a:t>
                      </a:r>
                      <a:endParaRPr sz="1650" baseline="45454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3655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17.50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(4.28)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1915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17.16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(4.92)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1915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15.29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(7.02)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1915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16.93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(4.57)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1915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18.53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(5.47)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1915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17.31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(4.28)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1915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.368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1915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8265" algn="ctr">
                        <a:lnSpc>
                          <a:spcPct val="100000"/>
                        </a:lnSpc>
                        <a:spcBef>
                          <a:spcPts val="645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.236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81915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marR="15494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Trailing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17.91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(8.86)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17.45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(10.05)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13.56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(6.76)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17.31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(6.03)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15.91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(9.49)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16.14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(9.44)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.946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763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.195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7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ts val="730"/>
                        </a:lnSpc>
                        <a:tabLst>
                          <a:tab pos="1524000" algn="l"/>
                        </a:tabLst>
                      </a:pPr>
                      <a:r>
                        <a:rPr sz="1100" spc="-3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Takeoff</a:t>
                      </a: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distance</a:t>
                      </a: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	</a:t>
                      </a:r>
                      <a:r>
                        <a:rPr sz="1650" spc="-15" baseline="45454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</a:t>
                      </a:r>
                      <a:endParaRPr sz="1650" baseline="45454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90.48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(18.23)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89.30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(18.07)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86.67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(21.52)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5270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89.06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(19.37)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3189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86.41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(20.19)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86.76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(18.23)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.590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8265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.442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R="154940" algn="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Trailing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21.57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(6.07)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24.51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(9.75)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19.05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(5.90)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19.59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(7.26)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18.19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(5.64)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17.93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(5.90)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540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1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.028</a:t>
                      </a:r>
                      <a:r>
                        <a:rPr sz="1200" spc="-15" baseline="27777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.251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785">
                <a:tc>
                  <a:txBody>
                    <a:bodyPr/>
                    <a:lstStyle/>
                    <a:p>
                      <a:pPr marR="149860" algn="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31.50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(8.99)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25.55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(6.95)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26.39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(8.67)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5270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25.58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(14.25)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21.10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(6.77)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22.76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(12.80)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604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1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.014</a:t>
                      </a:r>
                      <a:r>
                        <a:rPr sz="1200" spc="-15" baseline="27777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144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.367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R="154940" algn="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Trailing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97.98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(13.22)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96.58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(18.05)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95.57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(23.72)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270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92.90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(16.67)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87.10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(23.45)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92.78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(17.30)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604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1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.005</a:t>
                      </a:r>
                      <a:r>
                        <a:rPr sz="1200" spc="-15" baseline="27777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.508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ts val="785"/>
                        </a:lnSpc>
                        <a:tabLst>
                          <a:tab pos="1524000" algn="l"/>
                        </a:tabLst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Thigh</a:t>
                      </a:r>
                      <a:r>
                        <a:rPr sz="1100" spc="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4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forward</a:t>
                      </a:r>
                      <a:r>
                        <a:rPr sz="1100" spc="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angle</a:t>
                      </a: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	</a:t>
                      </a:r>
                      <a:r>
                        <a:rPr sz="1650" spc="-15" baseline="45454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</a:t>
                      </a:r>
                      <a:endParaRPr sz="1650" baseline="45454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59.32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(11.73)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76.61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(9.35)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82.38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(8.93)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65.54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(8.76)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79.01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(8.64)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85.78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(7.47)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604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i="1" spc="-6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</a:t>
                      </a:r>
                      <a:r>
                        <a:rPr sz="1100" i="1" spc="-8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i="1" spc="-1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r>
                        <a:rPr sz="1100" spc="-1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001</a:t>
                      </a:r>
                      <a:r>
                        <a:rPr sz="1200" spc="-15" baseline="27777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509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i="1" spc="-6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</a:t>
                      </a:r>
                      <a:r>
                        <a:rPr sz="1100" i="1" spc="-8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i="1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r>
                        <a:rPr sz="1100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001</a:t>
                      </a:r>
                      <a:r>
                        <a:rPr sz="1200" spc="-15" baseline="27777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marR="15494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Trailing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34.92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(5.92)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37.71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(4.15)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40.90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(7.25)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37.32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(5.05)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38.28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(6.10)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40.54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(8.23)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.386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.062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17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40"/>
                        </a:spcBef>
                        <a:tabLst>
                          <a:tab pos="1524000" algn="l"/>
                        </a:tabLst>
                      </a:pPr>
                      <a:r>
                        <a:rPr sz="1650" baseline="-45454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Foot</a:t>
                      </a:r>
                      <a:r>
                        <a:rPr sz="1650" spc="67" baseline="-45454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650" spc="-37" baseline="-45454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ROM</a:t>
                      </a:r>
                      <a:r>
                        <a:rPr sz="1650" baseline="-45454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	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96.32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(11.83)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91.36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(17.28)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86.84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(15.67)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5270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98.51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(16.85)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3189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91.78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(18.28)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89.16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(16.01)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.363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8265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.147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R="154940" algn="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Trailing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112.43</a:t>
                      </a:r>
                      <a:r>
                        <a:rPr sz="1100" spc="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(17.06)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121.55</a:t>
                      </a:r>
                      <a:r>
                        <a:rPr sz="1100" spc="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(14.87)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123.98</a:t>
                      </a:r>
                      <a:r>
                        <a:rPr sz="1100" spc="4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(18.34)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118.68</a:t>
                      </a:r>
                      <a:r>
                        <a:rPr sz="1100" spc="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(16.25)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121.77</a:t>
                      </a:r>
                      <a:r>
                        <a:rPr sz="1100" spc="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(16.55)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128.55</a:t>
                      </a:r>
                      <a:r>
                        <a:rPr sz="1100" spc="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(15.72)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540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1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.012</a:t>
                      </a:r>
                      <a:r>
                        <a:rPr sz="1200" spc="-15" baseline="27777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0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.025</a:t>
                      </a:r>
                      <a:r>
                        <a:rPr sz="1200" spc="-15" baseline="27777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ts val="785"/>
                        </a:lnSpc>
                        <a:tabLst>
                          <a:tab pos="1524000" algn="l"/>
                        </a:tabLst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Shank</a:t>
                      </a:r>
                      <a:r>
                        <a:rPr sz="1100" spc="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4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forward</a:t>
                      </a:r>
                      <a:r>
                        <a:rPr sz="1100" spc="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angle</a:t>
                      </a: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	</a:t>
                      </a:r>
                      <a:r>
                        <a:rPr sz="1650" spc="-15" baseline="45454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</a:t>
                      </a:r>
                      <a:endParaRPr sz="1650" baseline="45454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29.35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(4.16)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29.67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(3.71)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30.51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(4.14)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31.34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(3.35)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31.93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(3.88)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31.01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(5.83)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5405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1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.044</a:t>
                      </a:r>
                      <a:r>
                        <a:rPr sz="1200" spc="-15" baseline="27777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144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.771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6390">
                <a:tc>
                  <a:txBody>
                    <a:bodyPr/>
                    <a:lstStyle/>
                    <a:p>
                      <a:pPr marR="15494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Trailing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24.48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(3.66)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24.16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(4.89)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22.78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(6.06)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25.17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(3.20)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22.05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(6.32)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24.24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(3.49)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.986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.376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17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ts val="730"/>
                        </a:lnSpc>
                        <a:tabLst>
                          <a:tab pos="1524000" algn="l"/>
                        </a:tabLst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Shank</a:t>
                      </a:r>
                      <a:r>
                        <a:rPr sz="1100" spc="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4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backward</a:t>
                      </a:r>
                      <a:r>
                        <a:rPr sz="1100" spc="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angle</a:t>
                      </a: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	</a:t>
                      </a:r>
                      <a:r>
                        <a:rPr sz="1650" spc="-15" baseline="45454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</a:t>
                      </a:r>
                      <a:endParaRPr sz="1650" baseline="45454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52.45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(5.93)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53.39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(6.03)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53.51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(6.07)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(5.07)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54.06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(5.94)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54.22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(6.23)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.337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8265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.208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R="154940" algn="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Trailing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82.03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(14.61)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95.74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(13.44)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102.63</a:t>
                      </a:r>
                      <a:r>
                        <a:rPr sz="1100" spc="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(10.03)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270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83.70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(12.06)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96.33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(10.83)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108.14</a:t>
                      </a:r>
                      <a:r>
                        <a:rPr sz="1100" spc="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(11.78)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1594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.088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318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i="1" spc="-6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</a:t>
                      </a:r>
                      <a:r>
                        <a:rPr sz="1100" i="1" spc="-8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i="1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r>
                        <a:rPr sz="1100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001</a:t>
                      </a:r>
                      <a:r>
                        <a:rPr sz="1200" spc="-15" baseline="27777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1785">
                <a:tc>
                  <a:txBody>
                    <a:bodyPr/>
                    <a:lstStyle/>
                    <a:p>
                      <a:pPr marR="149860" algn="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23.00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(4.11)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35.09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(4.23)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49.48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(4.49)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23.54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(4.12)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35.65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(4.50)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49.43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(4.57)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.136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3185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i="1" spc="-6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</a:t>
                      </a:r>
                      <a:r>
                        <a:rPr sz="1100" i="1" spc="-8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i="1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r>
                        <a:rPr sz="1100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001</a:t>
                      </a:r>
                      <a:r>
                        <a:rPr sz="1200" spc="-15" baseline="27777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R="154940" algn="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Trailing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17.87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(4.06)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28.09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(4.23)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40.48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(4.49)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18.42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(4.08)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28.65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(4.48)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40.43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(4.57)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.120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318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i="1" spc="-6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</a:t>
                      </a:r>
                      <a:r>
                        <a:rPr sz="1100" i="1" spc="-8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i="1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r>
                        <a:rPr sz="1100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001</a:t>
                      </a:r>
                      <a:r>
                        <a:rPr sz="1200" spc="-15" baseline="27777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11785">
                <a:tc>
                  <a:txBody>
                    <a:bodyPr/>
                    <a:lstStyle/>
                    <a:p>
                      <a:pPr marR="149860" algn="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47.09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(5.50)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60.10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(5.57)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74.78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(6.03)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47.34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(5.28)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60.31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(5.39)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74.75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(5.09)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.492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3185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i="1" spc="-6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</a:t>
                      </a:r>
                      <a:r>
                        <a:rPr sz="1100" i="1" spc="-8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i="1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r>
                        <a:rPr sz="1100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001</a:t>
                      </a:r>
                      <a:r>
                        <a:rPr sz="1200" spc="-15" baseline="27777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marR="154940" algn="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Trailing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38.83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(4.12)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50.39</a:t>
                      </a:r>
                      <a:r>
                        <a:rPr sz="1100" spc="6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(4.56)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68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63.68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(4.83)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39.08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(4.09)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50.78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(4.40)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63.69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(4.19)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.249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318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i="1" spc="-6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</a:t>
                      </a:r>
                      <a:r>
                        <a:rPr sz="1100" i="1" spc="-8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i="1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  <a:r>
                        <a:rPr sz="1100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001</a:t>
                      </a:r>
                      <a:r>
                        <a:rPr sz="1200" spc="-15" baseline="27777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8735" marB="0"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ts val="785"/>
                        </a:lnSpc>
                        <a:tabLst>
                          <a:tab pos="1524000" algn="l"/>
                        </a:tabLst>
                      </a:pPr>
                      <a:r>
                        <a:rPr sz="1100" spc="-2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Ankle</a:t>
                      </a: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2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ROM</a:t>
                      </a: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	</a:t>
                      </a:r>
                      <a:r>
                        <a:rPr sz="1650" spc="-15" baseline="45454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</a:t>
                      </a:r>
                      <a:endParaRPr sz="1650" baseline="45454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64.42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(33.22)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54.66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(31.40)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58.27</a:t>
                      </a:r>
                      <a:r>
                        <a:rPr sz="1100" spc="5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(25.59)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5270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60.74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(33.83)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3189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52.45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(30.48)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63.78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(27.84)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.977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83820" algn="ctr">
                        <a:lnSpc>
                          <a:spcPct val="100000"/>
                        </a:lnSpc>
                        <a:spcBef>
                          <a:spcPts val="740"/>
                        </a:spcBef>
                      </a:pPr>
                      <a:r>
                        <a:rPr sz="1100" spc="-10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.025</a:t>
                      </a:r>
                      <a:r>
                        <a:rPr sz="1200" spc="-15" baseline="27777" dirty="0">
                          <a:solidFill>
                            <a:srgbClr val="0000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</a:t>
                      </a:r>
                      <a:endParaRPr sz="1200" baseline="27777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93980" marB="0"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77495">
                <a:tc>
                  <a:txBody>
                    <a:bodyPr/>
                    <a:lstStyle/>
                    <a:p>
                      <a:pPr marR="154940" algn="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Trailing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397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88.95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(54.56)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255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92.89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(57.07)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113.89</a:t>
                      </a:r>
                      <a:r>
                        <a:rPr sz="1100" spc="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(44.76)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270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92.34</a:t>
                      </a:r>
                      <a:r>
                        <a:rPr sz="1100" spc="6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(49.49)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101.79</a:t>
                      </a:r>
                      <a:r>
                        <a:rPr sz="1100" spc="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(47.94)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103.35</a:t>
                      </a:r>
                      <a:r>
                        <a:rPr sz="1100" spc="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11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(51.68)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096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.948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826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1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.143</a:t>
                      </a:r>
                      <a:endParaRPr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750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1" name="object 11"/>
          <p:cNvSpPr txBox="1"/>
          <p:nvPr/>
        </p:nvSpPr>
        <p:spPr>
          <a:xfrm>
            <a:off x="2778963" y="8748085"/>
            <a:ext cx="9563735" cy="579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1755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latin typeface="Book Antiqua"/>
                <a:cs typeface="Book Antiqua"/>
              </a:rPr>
              <a:t>Values</a:t>
            </a:r>
            <a:r>
              <a:rPr sz="900" spc="7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represent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mean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(SD).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W1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and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W2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denote</a:t>
            </a:r>
            <a:r>
              <a:rPr sz="900" spc="9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obstacle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widths;</a:t>
            </a:r>
            <a:r>
              <a:rPr sz="900" spc="12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H1,</a:t>
            </a:r>
            <a:r>
              <a:rPr sz="900" spc="10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H2,</a:t>
            </a:r>
            <a:r>
              <a:rPr sz="900" spc="11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and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H3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denote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obstacle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heights.</a:t>
            </a:r>
            <a:r>
              <a:rPr sz="900" spc="280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Main-</a:t>
            </a:r>
            <a:r>
              <a:rPr sz="900" dirty="0">
                <a:latin typeface="Book Antiqua"/>
                <a:cs typeface="Book Antiqua"/>
              </a:rPr>
              <a:t>effect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i="1" spc="-10" dirty="0">
                <a:latin typeface="Calibri"/>
                <a:cs typeface="Calibri"/>
              </a:rPr>
              <a:t>p</a:t>
            </a:r>
            <a:r>
              <a:rPr sz="900" spc="-10" dirty="0">
                <a:latin typeface="Book Antiqua"/>
                <a:cs typeface="Book Antiqua"/>
              </a:rPr>
              <a:t>-values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are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from</a:t>
            </a:r>
            <a:r>
              <a:rPr sz="900" spc="9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a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dirty="0">
                <a:latin typeface="Calibri"/>
                <a:cs typeface="Calibri"/>
              </a:rPr>
              <a:t>2</a:t>
            </a:r>
            <a:r>
              <a:rPr sz="900" spc="10" dirty="0">
                <a:latin typeface="Calibri"/>
                <a:cs typeface="Calibri"/>
              </a:rPr>
              <a:t> </a:t>
            </a:r>
            <a:r>
              <a:rPr sz="900" i="1" spc="-30" dirty="0">
                <a:latin typeface="Verdana"/>
                <a:cs typeface="Verdana"/>
              </a:rPr>
              <a:t>×</a:t>
            </a:r>
            <a:r>
              <a:rPr sz="900" i="1" spc="-80" dirty="0">
                <a:latin typeface="Verdana"/>
                <a:cs typeface="Verdana"/>
              </a:rPr>
              <a:t> </a:t>
            </a:r>
            <a:r>
              <a:rPr sz="900" dirty="0">
                <a:latin typeface="Calibri"/>
                <a:cs typeface="Calibri"/>
              </a:rPr>
              <a:t>3</a:t>
            </a:r>
            <a:r>
              <a:rPr sz="900" spc="120" dirty="0">
                <a:latin typeface="Calibri"/>
                <a:cs typeface="Calibri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repeated-</a:t>
            </a:r>
            <a:r>
              <a:rPr sz="900" dirty="0">
                <a:latin typeface="Book Antiqua"/>
                <a:cs typeface="Book Antiqua"/>
              </a:rPr>
              <a:t>measures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ANOVA.</a:t>
            </a:r>
            <a:r>
              <a:rPr sz="900" spc="100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Height</a:t>
            </a:r>
            <a:endParaRPr sz="900">
              <a:latin typeface="Book Antiqua"/>
              <a:cs typeface="Book Antiqua"/>
            </a:endParaRPr>
          </a:p>
          <a:p>
            <a:pPr marL="38100">
              <a:lnSpc>
                <a:spcPct val="100000"/>
              </a:lnSpc>
              <a:spcBef>
                <a:spcPts val="15"/>
              </a:spcBef>
            </a:pPr>
            <a:r>
              <a:rPr sz="900" i="1" dirty="0">
                <a:latin typeface="Calibri"/>
                <a:cs typeface="Calibri"/>
              </a:rPr>
              <a:t>p</a:t>
            </a:r>
            <a:r>
              <a:rPr sz="900" dirty="0">
                <a:latin typeface="Book Antiqua"/>
                <a:cs typeface="Book Antiqua"/>
              </a:rPr>
              <a:t>-</a:t>
            </a:r>
            <a:r>
              <a:rPr sz="900" spc="-10" dirty="0">
                <a:latin typeface="Book Antiqua"/>
                <a:cs typeface="Book Antiqua"/>
              </a:rPr>
              <a:t>values</a:t>
            </a:r>
            <a:r>
              <a:rPr sz="900" spc="4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use</a:t>
            </a:r>
            <a:r>
              <a:rPr sz="900" spc="4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the</a:t>
            </a:r>
            <a:r>
              <a:rPr sz="900" spc="45" dirty="0">
                <a:latin typeface="Book Antiqua"/>
                <a:cs typeface="Book Antiqua"/>
              </a:rPr>
              <a:t> </a:t>
            </a:r>
            <a:r>
              <a:rPr sz="900" spc="-20" dirty="0">
                <a:latin typeface="Book Antiqua"/>
                <a:cs typeface="Book Antiqua"/>
              </a:rPr>
              <a:t>Greenhouse–</a:t>
            </a:r>
            <a:r>
              <a:rPr sz="900" dirty="0">
                <a:latin typeface="Book Antiqua"/>
                <a:cs typeface="Book Antiqua"/>
              </a:rPr>
              <a:t>Geisser</a:t>
            </a:r>
            <a:r>
              <a:rPr sz="900" spc="45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adjustment.</a:t>
            </a:r>
            <a:endParaRPr sz="900">
              <a:latin typeface="Book Antiqua"/>
              <a:cs typeface="Book Antiqua"/>
            </a:endParaRPr>
          </a:p>
          <a:p>
            <a:pPr marL="71755">
              <a:lnSpc>
                <a:spcPct val="100000"/>
              </a:lnSpc>
              <a:spcBef>
                <a:spcPts val="15"/>
              </a:spcBef>
            </a:pPr>
            <a:r>
              <a:rPr sz="900" baseline="37037" dirty="0">
                <a:solidFill>
                  <a:srgbClr val="FF0000"/>
                </a:solidFill>
                <a:latin typeface="Lucida Console"/>
                <a:cs typeface="Lucida Console"/>
              </a:rPr>
              <a:t>**</a:t>
            </a:r>
            <a:r>
              <a:rPr sz="900" spc="-52" baseline="37037" dirty="0">
                <a:solidFill>
                  <a:srgbClr val="FF0000"/>
                </a:solidFill>
                <a:latin typeface="Lucida Console"/>
                <a:cs typeface="Lucida Console"/>
              </a:rPr>
              <a:t> </a:t>
            </a:r>
            <a:r>
              <a:rPr sz="900" dirty="0">
                <a:latin typeface="Book Antiqua"/>
                <a:cs typeface="Book Antiqua"/>
              </a:rPr>
              <a:t>Significant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main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effect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of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width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(</a:t>
            </a:r>
            <a:r>
              <a:rPr sz="900" i="1" dirty="0">
                <a:latin typeface="Calibri"/>
                <a:cs typeface="Calibri"/>
              </a:rPr>
              <a:t>p</a:t>
            </a:r>
            <a:r>
              <a:rPr sz="900" i="1" spc="30" dirty="0">
                <a:latin typeface="Calibri"/>
                <a:cs typeface="Calibri"/>
              </a:rPr>
              <a:t> </a:t>
            </a:r>
            <a:r>
              <a:rPr sz="900" i="1" spc="265" dirty="0">
                <a:latin typeface="Calibri"/>
                <a:cs typeface="Calibri"/>
              </a:rPr>
              <a:t>&lt;</a:t>
            </a:r>
            <a:r>
              <a:rPr sz="900" i="1" spc="3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0</a:t>
            </a:r>
            <a:r>
              <a:rPr sz="900" i="1" dirty="0">
                <a:latin typeface="Calibri"/>
                <a:cs typeface="Calibri"/>
              </a:rPr>
              <a:t>.</a:t>
            </a:r>
            <a:r>
              <a:rPr sz="900" dirty="0">
                <a:latin typeface="Calibri"/>
                <a:cs typeface="Calibri"/>
              </a:rPr>
              <a:t>05</a:t>
            </a:r>
            <a:r>
              <a:rPr sz="900" dirty="0">
                <a:latin typeface="Book Antiqua"/>
                <a:cs typeface="Book Antiqua"/>
              </a:rPr>
              <a:t>);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baseline="37037" dirty="0">
                <a:solidFill>
                  <a:srgbClr val="0000FF"/>
                </a:solidFill>
                <a:latin typeface="Lucida Console"/>
                <a:cs typeface="Lucida Console"/>
              </a:rPr>
              <a:t>*</a:t>
            </a:r>
            <a:r>
              <a:rPr sz="900" spc="-44" baseline="37037" dirty="0">
                <a:solidFill>
                  <a:srgbClr val="0000FF"/>
                </a:solidFill>
                <a:latin typeface="Lucida Console"/>
                <a:cs typeface="Lucida Console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significant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main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effect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of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height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(</a:t>
            </a:r>
            <a:r>
              <a:rPr sz="900" i="1" dirty="0">
                <a:latin typeface="Calibri"/>
                <a:cs typeface="Calibri"/>
              </a:rPr>
              <a:t>p</a:t>
            </a:r>
            <a:r>
              <a:rPr sz="900" i="1" spc="30" dirty="0">
                <a:latin typeface="Calibri"/>
                <a:cs typeface="Calibri"/>
              </a:rPr>
              <a:t> </a:t>
            </a:r>
            <a:r>
              <a:rPr sz="900" i="1" spc="265" dirty="0">
                <a:latin typeface="Calibri"/>
                <a:cs typeface="Calibri"/>
              </a:rPr>
              <a:t>&lt;</a:t>
            </a:r>
            <a:r>
              <a:rPr sz="900" i="1" spc="3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0</a:t>
            </a:r>
            <a:r>
              <a:rPr sz="900" i="1" dirty="0">
                <a:latin typeface="Calibri"/>
                <a:cs typeface="Calibri"/>
              </a:rPr>
              <a:t>.</a:t>
            </a:r>
            <a:r>
              <a:rPr sz="900" dirty="0">
                <a:latin typeface="Calibri"/>
                <a:cs typeface="Calibri"/>
              </a:rPr>
              <a:t>05</a:t>
            </a:r>
            <a:r>
              <a:rPr sz="900" dirty="0">
                <a:latin typeface="Book Antiqua"/>
                <a:cs typeface="Book Antiqua"/>
              </a:rPr>
              <a:t>).</a:t>
            </a:r>
            <a:r>
              <a:rPr sz="900" spc="15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No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correction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was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applied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across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the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20</a:t>
            </a:r>
            <a:r>
              <a:rPr sz="900" spc="55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outcomes.</a:t>
            </a:r>
            <a:endParaRPr sz="900">
              <a:latin typeface="Book Antiqua"/>
              <a:cs typeface="Book Antiqua"/>
            </a:endParaRPr>
          </a:p>
          <a:p>
            <a:pPr marL="71755">
              <a:lnSpc>
                <a:spcPct val="100000"/>
              </a:lnSpc>
              <a:spcBef>
                <a:spcPts val="20"/>
              </a:spcBef>
            </a:pPr>
            <a:r>
              <a:rPr sz="900" spc="-10" dirty="0">
                <a:latin typeface="Book Antiqua"/>
                <a:cs typeface="Book Antiqua"/>
              </a:rPr>
              <a:t>Complete-</a:t>
            </a:r>
            <a:r>
              <a:rPr sz="900" dirty="0">
                <a:latin typeface="Book Antiqua"/>
                <a:cs typeface="Book Antiqua"/>
              </a:rPr>
              <a:t>case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sample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size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is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typically</a:t>
            </a:r>
            <a:r>
              <a:rPr sz="900" spc="65" dirty="0">
                <a:latin typeface="Book Antiqua"/>
                <a:cs typeface="Book Antiqua"/>
              </a:rPr>
              <a:t> </a:t>
            </a:r>
            <a:r>
              <a:rPr sz="900" i="1" spc="90" dirty="0">
                <a:latin typeface="Calibri"/>
                <a:cs typeface="Calibri"/>
              </a:rPr>
              <a:t>n</a:t>
            </a:r>
            <a:r>
              <a:rPr sz="900" i="1" spc="30" dirty="0">
                <a:latin typeface="Calibri"/>
                <a:cs typeface="Calibri"/>
              </a:rPr>
              <a:t> </a:t>
            </a:r>
            <a:r>
              <a:rPr sz="900" spc="265" dirty="0">
                <a:latin typeface="Calibri"/>
                <a:cs typeface="Calibri"/>
              </a:rPr>
              <a:t>=</a:t>
            </a:r>
            <a:r>
              <a:rPr sz="900" spc="35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9</a:t>
            </a:r>
            <a:r>
              <a:rPr sz="900" dirty="0">
                <a:latin typeface="Book Antiqua"/>
                <a:cs typeface="Book Antiqua"/>
              </a:rPr>
              <a:t>;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hip</a:t>
            </a:r>
            <a:r>
              <a:rPr sz="900" spc="65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flexion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and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ankle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ROM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use</a:t>
            </a:r>
            <a:r>
              <a:rPr sz="900" spc="65" dirty="0">
                <a:latin typeface="Book Antiqua"/>
                <a:cs typeface="Book Antiqua"/>
              </a:rPr>
              <a:t> </a:t>
            </a:r>
            <a:r>
              <a:rPr sz="900" i="1" spc="90" dirty="0">
                <a:latin typeface="Calibri"/>
                <a:cs typeface="Calibri"/>
              </a:rPr>
              <a:t>n</a:t>
            </a:r>
            <a:r>
              <a:rPr sz="900" i="1" spc="35" dirty="0">
                <a:latin typeface="Calibri"/>
                <a:cs typeface="Calibri"/>
              </a:rPr>
              <a:t> </a:t>
            </a:r>
            <a:r>
              <a:rPr sz="900" spc="265" dirty="0">
                <a:latin typeface="Calibri"/>
                <a:cs typeface="Calibri"/>
              </a:rPr>
              <a:t>=</a:t>
            </a:r>
            <a:r>
              <a:rPr sz="900" spc="30" dirty="0">
                <a:latin typeface="Calibri"/>
                <a:cs typeface="Calibri"/>
              </a:rPr>
              <a:t> </a:t>
            </a:r>
            <a:r>
              <a:rPr sz="900" dirty="0">
                <a:latin typeface="Calibri"/>
                <a:cs typeface="Calibri"/>
              </a:rPr>
              <a:t>8</a:t>
            </a:r>
            <a:r>
              <a:rPr sz="900" dirty="0">
                <a:latin typeface="Book Antiqua"/>
                <a:cs typeface="Book Antiqua"/>
              </a:rPr>
              <a:t>.</a:t>
            </a:r>
            <a:r>
              <a:rPr sz="900" spc="1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Width-</a:t>
            </a:r>
            <a:r>
              <a:rPr sz="900" spc="-30" dirty="0">
                <a:latin typeface="Book Antiqua"/>
                <a:cs typeface="Book Antiqua"/>
              </a:rPr>
              <a:t>by-</a:t>
            </a:r>
            <a:r>
              <a:rPr sz="900" dirty="0">
                <a:latin typeface="Book Antiqua"/>
                <a:cs typeface="Book Antiqua"/>
              </a:rPr>
              <a:t>height</a:t>
            </a:r>
            <a:r>
              <a:rPr sz="900" spc="6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interactions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and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post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hoc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comparisons</a:t>
            </a:r>
            <a:r>
              <a:rPr sz="900" spc="65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are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dirty="0">
                <a:latin typeface="Book Antiqua"/>
                <a:cs typeface="Book Antiqua"/>
              </a:rPr>
              <a:t>not</a:t>
            </a:r>
            <a:r>
              <a:rPr sz="900" spc="60" dirty="0">
                <a:latin typeface="Book Antiqua"/>
                <a:cs typeface="Book Antiqua"/>
              </a:rPr>
              <a:t> </a:t>
            </a:r>
            <a:r>
              <a:rPr sz="900" spc="-10" dirty="0">
                <a:latin typeface="Book Antiqua"/>
                <a:cs typeface="Book Antiqua"/>
              </a:rPr>
              <a:t>shown.</a:t>
            </a:r>
            <a:endParaRPr sz="900">
              <a:latin typeface="Book Antiqua"/>
              <a:cs typeface="Book Antiqu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F01BC-6923-9B73-F0B6-89EE06146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737330-88BD-7A04-82B9-B4C2108857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104" y="1155691"/>
            <a:ext cx="13999492" cy="8382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005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19A0-30D4-DDC8-4D8F-82E02E89C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E09A7C-85F8-3B39-5557-0BE23BC43A5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104" y="1065775"/>
            <a:ext cx="13999492" cy="856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88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EB8A9-D500-3073-15DD-09069BA1C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43F43-6A48-747A-A7BA-7FADE70C78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104" y="1065775"/>
            <a:ext cx="13999492" cy="856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394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FC907C-644E-DC85-96D6-12F09752A5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104" y="1065775"/>
            <a:ext cx="13999492" cy="856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854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3003A-1B92-C4B4-A2C6-5DA5148CA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5AF3E9-B90D-C6A2-4CF2-71DC1ADF1C7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00" y="1065775"/>
            <a:ext cx="13453899" cy="856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787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88D7B-B2C8-876A-6036-DAF56C68A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81AB44-BBF4-07FF-5CFA-2FA6512FAA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612" y="2489194"/>
            <a:ext cx="13490475" cy="5715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709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50821" y="1603090"/>
            <a:ext cx="900599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44F"/>
                </a:solidFill>
                <a:latin typeface="Aptos Display"/>
              </a:defRPr>
            </a:pPr>
            <a:r>
              <a:rPr sz="3600"/>
              <a:t>TERRA-Inspired Obstacle-Crossing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061" y="3501511"/>
            <a:ext cx="13714504" cy="1901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25402" indent="-425402">
              <a:spcAft>
                <a:spcPts val="1117"/>
              </a:spcAft>
              <a:buFont typeface="Arial" panose="020B0604020202020204" pitchFamily="34" charset="0"/>
              <a:buChar char="•"/>
              <a:defRPr sz="2400">
                <a:solidFill>
                  <a:srgbClr val="232323"/>
                </a:solidFill>
                <a:latin typeface="Aptos"/>
              </a:defRPr>
            </a:pPr>
            <a:r>
              <a:rPr sz="2481"/>
              <a:t>TERRA asks: </a:t>
            </a:r>
            <a:r>
              <a:rPr lang="en-US" sz="2481"/>
              <a:t>Can</a:t>
            </a:r>
            <a:r>
              <a:rPr sz="2481"/>
              <a:t> the environment be reconstructed from human movement alone?</a:t>
            </a:r>
          </a:p>
          <a:p>
            <a:pPr marL="425402" indent="-425402">
              <a:spcAft>
                <a:spcPts val="1117"/>
              </a:spcAft>
              <a:buFont typeface="Arial" panose="020B0604020202020204" pitchFamily="34" charset="0"/>
              <a:buChar char="•"/>
              <a:defRPr sz="2400">
                <a:solidFill>
                  <a:srgbClr val="232323"/>
                </a:solidFill>
                <a:latin typeface="Aptos"/>
              </a:defRPr>
            </a:pPr>
            <a:r>
              <a:rPr sz="2481"/>
              <a:t>Our opportunity: can obstacle properties be inferred from lower-limb kinematics?</a:t>
            </a:r>
          </a:p>
          <a:p>
            <a:pPr marL="425402" indent="-425402">
              <a:spcAft>
                <a:spcPts val="1117"/>
              </a:spcAft>
              <a:buFont typeface="Arial" panose="020B0604020202020204" pitchFamily="34" charset="0"/>
              <a:buChar char="•"/>
              <a:defRPr sz="2400">
                <a:solidFill>
                  <a:srgbClr val="232323"/>
                </a:solidFill>
                <a:latin typeface="Aptos"/>
              </a:defRPr>
            </a:pPr>
            <a:r>
              <a:rPr sz="2481"/>
              <a:t>This creates a bridge between biomechanics, wearable sensing, computer vision, and intelligent feedback.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061" y="5863464"/>
            <a:ext cx="234711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F344F"/>
                </a:solidFill>
                <a:latin typeface="Aptos"/>
              </a:defRPr>
            </a:pPr>
            <a:r>
              <a:rPr sz="2000"/>
              <a:t>Human movement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34874" y="5954217"/>
            <a:ext cx="907542" cy="283607"/>
          </a:xfrm>
          <a:prstGeom prst="rightArrow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4408526" y="5863464"/>
            <a:ext cx="150874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F344F"/>
                </a:solidFill>
                <a:latin typeface="Aptos"/>
              </a:defRPr>
            </a:pPr>
            <a:r>
              <a:rPr sz="2000"/>
              <a:t>Kinematics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315533" y="5921715"/>
            <a:ext cx="907542" cy="283607"/>
          </a:xfrm>
          <a:prstGeom prst="rightArrow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7375816" y="5837714"/>
            <a:ext cx="241925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F344F"/>
                </a:solidFill>
                <a:latin typeface="Aptos"/>
              </a:defRPr>
            </a:pPr>
            <a:r>
              <a:rPr sz="2000"/>
              <a:t>Obstacle inference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985646" y="5921715"/>
            <a:ext cx="907542" cy="283607"/>
          </a:xfrm>
          <a:prstGeom prst="rightArrow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11083767" y="5863464"/>
            <a:ext cx="267893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F344F"/>
                </a:solidFill>
                <a:latin typeface="Aptos"/>
              </a:defRPr>
            </a:pPr>
            <a:r>
              <a:rPr lang="en-US" sz="2000"/>
              <a:t>Feedback/simulation</a:t>
            </a:r>
            <a:endParaRPr sz="20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44F001-87BA-DDE6-E478-E2B3EC17B707}"/>
              </a:ext>
            </a:extLst>
          </p:cNvPr>
          <p:cNvSpPr txBox="1"/>
          <p:nvPr/>
        </p:nvSpPr>
        <p:spPr>
          <a:xfrm>
            <a:off x="928332" y="2277361"/>
            <a:ext cx="129638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44F"/>
                </a:solidFill>
                <a:latin typeface="Aptos Display"/>
              </a:defRPr>
            </a:pPr>
            <a:r>
              <a:rPr lang="en-US" sz="2800"/>
              <a:t>Terrain-Aware Reconstruction, Retargeting and Control Musculoskeletal Locomotion</a:t>
            </a:r>
            <a:endParaRPr sz="2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50820" y="1726963"/>
            <a:ext cx="388279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44F"/>
                </a:solidFill>
                <a:latin typeface="Aptos Display"/>
              </a:defRPr>
            </a:pPr>
            <a:r>
              <a:rPr sz="3600"/>
              <a:t>How TERRA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6798" y="2549423"/>
            <a:ext cx="13045916" cy="3531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17"/>
              </a:spcAft>
              <a:defRPr sz="2100">
                <a:solidFill>
                  <a:srgbClr val="232323"/>
                </a:solidFill>
                <a:latin typeface="Aptos"/>
              </a:defRPr>
            </a:pPr>
            <a:r>
              <a:rPr sz="2800"/>
              <a:t>1. Start with recorded human motion: body or marker trajectories.</a:t>
            </a:r>
          </a:p>
          <a:p>
            <a:pPr>
              <a:spcAft>
                <a:spcPts val="1117"/>
              </a:spcAft>
              <a:defRPr sz="2100">
                <a:solidFill>
                  <a:srgbClr val="232323"/>
                </a:solidFill>
                <a:latin typeface="Aptos"/>
              </a:defRPr>
            </a:pPr>
            <a:r>
              <a:rPr sz="2800"/>
              <a:t>2. Infer task-relevant terrain using estimated contacts, support surfaces, and free-space constraints.</a:t>
            </a:r>
          </a:p>
          <a:p>
            <a:pPr>
              <a:spcAft>
                <a:spcPts val="1117"/>
              </a:spcAft>
              <a:defRPr sz="2100">
                <a:solidFill>
                  <a:srgbClr val="232323"/>
                </a:solidFill>
                <a:latin typeface="Aptos"/>
              </a:defRPr>
            </a:pPr>
            <a:r>
              <a:rPr sz="2800"/>
              <a:t>3. Retarget the motion to a musculoskeletal model while respecting anatomy and contact.</a:t>
            </a:r>
          </a:p>
          <a:p>
            <a:pPr>
              <a:spcAft>
                <a:spcPts val="1117"/>
              </a:spcAft>
              <a:defRPr sz="2100">
                <a:solidFill>
                  <a:srgbClr val="232323"/>
                </a:solidFill>
                <a:latin typeface="Aptos"/>
              </a:defRPr>
            </a:pPr>
            <a:r>
              <a:rPr sz="2800"/>
              <a:t>4. Train a muscle-actuated reinforcement-learning controller to reproduce the motion over the reconstructed terrain.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5BFA89A-1689-1F90-397A-23849FB0D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785" y="6081159"/>
            <a:ext cx="11854130" cy="389369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50821" y="1603090"/>
            <a:ext cx="524534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44F"/>
                </a:solidFill>
                <a:latin typeface="Aptos Display"/>
              </a:defRPr>
            </a:pPr>
            <a:r>
              <a:rPr sz="3600"/>
              <a:t>How We Can Use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0985" y="3043812"/>
            <a:ext cx="1304591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17"/>
              </a:spcAft>
              <a:defRPr sz="2000">
                <a:solidFill>
                  <a:srgbClr val="232323"/>
                </a:solidFill>
                <a:latin typeface="Aptos"/>
              </a:defRPr>
            </a:pPr>
            <a:r>
              <a:rPr sz="2800"/>
              <a:t>Our current question: obstacle height/width → how does movement change?</a:t>
            </a:r>
          </a:p>
          <a:p>
            <a:pPr>
              <a:spcAft>
                <a:spcPts val="1117"/>
              </a:spcAft>
              <a:defRPr sz="2000">
                <a:solidFill>
                  <a:srgbClr val="232323"/>
                </a:solidFill>
                <a:latin typeface="Aptos"/>
              </a:defRPr>
            </a:pPr>
            <a:r>
              <a:rPr sz="2800"/>
              <a:t>TERRA-inspired reverse question: movement → what obstacle or task demand was present?</a:t>
            </a:r>
          </a:p>
          <a:p>
            <a:pPr>
              <a:spcAft>
                <a:spcPts val="1117"/>
              </a:spcAft>
              <a:defRPr sz="2000">
                <a:solidFill>
                  <a:srgbClr val="232323"/>
                </a:solidFill>
                <a:latin typeface="Aptos"/>
              </a:defRPr>
            </a:pPr>
            <a:r>
              <a:rPr sz="2800"/>
              <a:t>Possible inputs:</a:t>
            </a:r>
          </a:p>
          <a:p>
            <a:pPr lvl="1">
              <a:spcAft>
                <a:spcPts val="496"/>
              </a:spcAft>
              <a:defRPr sz="1800">
                <a:solidFill>
                  <a:srgbClr val="232323"/>
                </a:solidFill>
                <a:latin typeface="Aptos"/>
              </a:defRPr>
            </a:pPr>
            <a:r>
              <a:rPr sz="2400"/>
              <a:t>Thigh, shank, and foot segment angles</a:t>
            </a:r>
          </a:p>
          <a:p>
            <a:pPr lvl="1">
              <a:spcAft>
                <a:spcPts val="496"/>
              </a:spcAft>
              <a:defRPr sz="1800">
                <a:solidFill>
                  <a:srgbClr val="232323"/>
                </a:solidFill>
                <a:latin typeface="Aptos"/>
              </a:defRPr>
            </a:pPr>
            <a:r>
              <a:rPr sz="2400"/>
              <a:t>Hip, knee, and ankle joint angles</a:t>
            </a:r>
          </a:p>
          <a:p>
            <a:pPr lvl="1">
              <a:spcAft>
                <a:spcPts val="496"/>
              </a:spcAft>
              <a:defRPr sz="1800">
                <a:solidFill>
                  <a:srgbClr val="232323"/>
                </a:solidFill>
                <a:latin typeface="Aptos"/>
              </a:defRPr>
            </a:pPr>
            <a:r>
              <a:rPr sz="2400"/>
              <a:t>Toe clearance, takeoff/landing distance, timing, leading/trailing limb</a:t>
            </a:r>
          </a:p>
          <a:p>
            <a:pPr>
              <a:spcAft>
                <a:spcPts val="1117"/>
              </a:spcAft>
              <a:defRPr sz="2000">
                <a:solidFill>
                  <a:srgbClr val="232323"/>
                </a:solidFill>
                <a:latin typeface="Aptos"/>
              </a:defRPr>
            </a:pPr>
            <a:r>
              <a:rPr sz="2800"/>
              <a:t>Possible outputs: </a:t>
            </a:r>
            <a:r>
              <a:rPr sz="2800">
                <a:solidFill>
                  <a:srgbClr val="FF0000"/>
                </a:solidFill>
              </a:rPr>
              <a:t>obstacle condition, height, width, or challenge level</a:t>
            </a:r>
            <a:r>
              <a:rPr sz="280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50821" y="1603090"/>
            <a:ext cx="641874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44F"/>
                </a:solidFill>
                <a:latin typeface="Aptos Display"/>
              </a:defRPr>
            </a:pPr>
            <a:r>
              <a:rPr sz="3600"/>
              <a:t>What Our Project Could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0985" y="3077845"/>
            <a:ext cx="13045916" cy="3241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17"/>
              </a:spcAft>
              <a:defRPr sz="2100">
                <a:solidFill>
                  <a:srgbClr val="232323"/>
                </a:solidFill>
                <a:latin typeface="Aptos"/>
              </a:defRPr>
            </a:pPr>
            <a:r>
              <a:rPr sz="2800"/>
              <a:t>Can obstacle height or width be predicted from IMU-derived kinematics?</a:t>
            </a:r>
          </a:p>
          <a:p>
            <a:pPr>
              <a:spcAft>
                <a:spcPts val="1117"/>
              </a:spcAft>
              <a:defRPr sz="2100">
                <a:solidFill>
                  <a:srgbClr val="232323"/>
                </a:solidFill>
                <a:latin typeface="Aptos"/>
              </a:defRPr>
            </a:pPr>
            <a:r>
              <a:rPr sz="2800"/>
              <a:t>Which variables best explain the crossing strategy: segment angles, joint angles, or foot placement?</a:t>
            </a:r>
          </a:p>
          <a:p>
            <a:pPr>
              <a:spcAft>
                <a:spcPts val="1117"/>
              </a:spcAft>
              <a:defRPr sz="2100">
                <a:solidFill>
                  <a:srgbClr val="232323"/>
                </a:solidFill>
                <a:latin typeface="Aptos"/>
              </a:defRPr>
            </a:pPr>
            <a:r>
              <a:rPr sz="2800"/>
              <a:t>Can we distinguish leading- and trailing-limb strategies automatically?</a:t>
            </a:r>
          </a:p>
          <a:p>
            <a:pPr>
              <a:spcAft>
                <a:spcPts val="1117"/>
              </a:spcAft>
              <a:defRPr sz="2100">
                <a:solidFill>
                  <a:srgbClr val="232323"/>
                </a:solidFill>
                <a:latin typeface="Aptos"/>
              </a:defRPr>
            </a:pPr>
            <a:r>
              <a:rPr sz="2800"/>
              <a:t>How much sensing is really needed: IMU-only vs camera/OpenSim + IMU?</a:t>
            </a:r>
          </a:p>
          <a:p>
            <a:pPr>
              <a:spcAft>
                <a:spcPts val="1117"/>
              </a:spcAft>
              <a:defRPr sz="2100">
                <a:solidFill>
                  <a:srgbClr val="232323"/>
                </a:solidFill>
                <a:latin typeface="Aptos"/>
              </a:defRPr>
            </a:pPr>
            <a:r>
              <a:rPr sz="2800"/>
              <a:t>Can the inferred task demand be used later for context-aware haptic feedback?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0986" y="6583736"/>
            <a:ext cx="96419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F344F"/>
                </a:solidFill>
                <a:latin typeface="Aptos"/>
              </a:defRPr>
            </a:pPr>
            <a:r>
              <a:rPr sz="2400"/>
              <a:t>Practical first step: build a participant × obstacle × repetition dataset and test obstacle-condition classification/regression before attempting full simulation.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1071</Words>
  <Application>Microsoft Office PowerPoint</Application>
  <PresentationFormat>Custom</PresentationFormat>
  <Paragraphs>235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Book Antiqua</vt:lpstr>
      <vt:lpstr>Calibri</vt:lpstr>
      <vt:lpstr>Lucida Console</vt:lpstr>
      <vt:lpstr>Times New Roman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Ehsan Sharafian Moghaddam</cp:lastModifiedBy>
  <cp:revision>4</cp:revision>
  <dcterms:created xsi:type="dcterms:W3CDTF">2026-10-26T20:07:48Z</dcterms:created>
  <dcterms:modified xsi:type="dcterms:W3CDTF">2026-10-26T21:04:50Z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2026-10-26T00:00:00Z</vt:filetime>
  </property>
  <property fmtid="{D5CDD505-2E9C-101B-9397-08002B2CF9AE}" pid="4" name="Creator">
    <vt:lpwstr>TeX</vt:lpwstr>
  </property>
  <property fmtid="{D5CDD505-2E9C-101B-9397-08002B2CF9AE}" pid="5" name="LastSaved">
    <vt:filetime>2026-10-26T00:00:00Z</vt:filetime>
  </property>
  <property fmtid="{D5CDD505-2E9C-101B-9397-08002B2CF9AE}" pid="6" name="PTEX.Fullbanner">
    <vt:lpwstr>This is pdfTeX, Version 3.141592653-2.6-1.40.29 (TeX Live 2026) kpathsea version 6.4.2</vt:lpwstr>
  </property>
  <property fmtid="{D5CDD505-2E9C-101B-9397-08002B2CF9AE}" pid="7" name="Producer">
    <vt:lpwstr>pdfTeX-1.40.29</vt:lpwstr>
  </property>
</Properties>
</file>