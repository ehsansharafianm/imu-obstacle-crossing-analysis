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8" r:id="rId4"/>
    <p:sldId id="259" r:id="rId5"/>
    <p:sldId id="257" r:id="rId6"/>
    <p:sldId id="260" r:id="rId7"/>
    <p:sldId id="261" r:id="rId8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782" y="96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-6" y="-1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314954"/>
            <a:ext cx="1285684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5988304"/>
            <a:ext cx="1058799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285" y="427736"/>
            <a:ext cx="1361313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459482"/>
            <a:ext cx="1361313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2738" y="9944862"/>
            <a:ext cx="484022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285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0504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4363" y="1346884"/>
            <a:ext cx="5739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Book Antiqua"/>
                <a:cs typeface="Book Antiqua"/>
              </a:rPr>
              <a:t>Table</a:t>
            </a:r>
            <a:r>
              <a:rPr sz="1100" b="1" spc="80" dirty="0">
                <a:latin typeface="Book Antiqua"/>
                <a:cs typeface="Book Antiqua"/>
              </a:rPr>
              <a:t> </a:t>
            </a:r>
            <a:r>
              <a:rPr sz="1100" b="1" spc="70" dirty="0">
                <a:latin typeface="Book Antiqua"/>
                <a:cs typeface="Book Antiqua"/>
              </a:rPr>
              <a:t>1:</a:t>
            </a:r>
            <a:r>
              <a:rPr sz="1100" b="1" spc="20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Obstacle-</a:t>
            </a:r>
            <a:r>
              <a:rPr sz="1100" spc="-10" dirty="0">
                <a:latin typeface="Book Antiqua"/>
                <a:cs typeface="Book Antiqua"/>
              </a:rPr>
              <a:t>crossing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kinematic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parameters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across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obstacle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widths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and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heights.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7063" y="1681797"/>
            <a:ext cx="9486265" cy="0"/>
          </a:xfrm>
          <a:custGeom>
            <a:avLst/>
            <a:gdLst/>
            <a:ahLst/>
            <a:cxnLst/>
            <a:rect l="l" t="t" r="r" b="b"/>
            <a:pathLst>
              <a:path w="9486265">
                <a:moveTo>
                  <a:pt x="0" y="0"/>
                </a:moveTo>
                <a:lnTo>
                  <a:pt x="9485858" y="0"/>
                </a:lnTo>
              </a:path>
            </a:pathLst>
          </a:custGeom>
          <a:ln w="110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44793" y="1754605"/>
            <a:ext cx="1003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W1: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Mean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(SD)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5077" y="1754605"/>
            <a:ext cx="1003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W2: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Mean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(SD)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7551" y="1754605"/>
            <a:ext cx="814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Book Antiqua"/>
                <a:cs typeface="Book Antiqua"/>
              </a:rPr>
              <a:t>Main-</a:t>
            </a:r>
            <a:r>
              <a:rPr sz="1100" spc="-10" dirty="0">
                <a:latin typeface="Book Antiqua"/>
                <a:cs typeface="Book Antiqua"/>
              </a:rPr>
              <a:t>effect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p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4363" y="3808347"/>
            <a:ext cx="1053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Landing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distance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4363" y="7036624"/>
            <a:ext cx="683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Hip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flexion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4363" y="7682279"/>
            <a:ext cx="772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Knee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flexion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034248"/>
              </p:ext>
            </p:extLst>
          </p:nvPr>
        </p:nvGraphicFramePr>
        <p:xfrm>
          <a:off x="2817063" y="2008835"/>
          <a:ext cx="9486260" cy="67313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6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9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7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15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62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1523365" algn="l"/>
                        </a:tabLst>
                      </a:pPr>
                      <a:r>
                        <a:rPr sz="1100" b="1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r>
                        <a:rPr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1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1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85"/>
                        </a:lnSpc>
                        <a:tabLst>
                          <a:tab pos="1524000" algn="l"/>
                        </a:tabLst>
                      </a:pPr>
                      <a:r>
                        <a:rPr sz="11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</a:t>
                      </a:r>
                      <a:r>
                        <a:rPr sz="11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clearance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17.50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(4.28)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17.16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(4.92)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15.29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(7.02)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(4.57)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(5.47)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17.31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(4.28)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.368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.236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19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17.91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(8.86)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17.45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(10.05)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(6.76)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17.31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15.91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(9.49)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16.14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(9.44)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.946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.195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30"/>
                        </a:lnSpc>
                        <a:tabLst>
                          <a:tab pos="1524000" algn="l"/>
                        </a:tabLst>
                      </a:pPr>
                      <a:r>
                        <a:rPr sz="11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Takeoff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90.48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89.30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(18.07)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86.67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(21.52)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89.06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(19.37)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(20.19)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86.76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.590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.442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21.57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24.51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(9.75)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19.05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(5.90)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19.59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(7.26)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18.19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(5.64)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(5.90)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.028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.251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R="149860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31.50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(8.99)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25.55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(6.95)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26.39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(8.67)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(14.25)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21.10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(6.77)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22.76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(12.80)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.014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.367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97.98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(13.22)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96.58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(18.05)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95.57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(23.72)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92.90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(16.67)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87.10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(23.45)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92.78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(17.30)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.005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.508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85"/>
                        </a:lnSpc>
                        <a:tabLst>
                          <a:tab pos="1524000" algn="l"/>
                        </a:tabLst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Thigh</a:t>
                      </a:r>
                      <a:r>
                        <a:rPr sz="11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</a:t>
                      </a:r>
                      <a:r>
                        <a:rPr sz="11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59.32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(11.73)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76.61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(9.35)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82.38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(8.93)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65.54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(8.76)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79.01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(8.64)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85.78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(7.47)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i="1" spc="-6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34.92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(5.92)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37.71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40.90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(7.25)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37.32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(5.05)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38.28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(6.10)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40.54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.386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.062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  <a:tabLst>
                          <a:tab pos="1524000" algn="l"/>
                        </a:tabLst>
                      </a:pPr>
                      <a:r>
                        <a:rPr sz="1650" baseline="-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Foot</a:t>
                      </a:r>
                      <a:r>
                        <a:rPr sz="1650" spc="67" baseline="-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50" spc="-37" baseline="-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</a:t>
                      </a:r>
                      <a:r>
                        <a:rPr sz="1650" baseline="-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96.32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(11.83)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91.36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(17.28)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(15.67)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98.51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(16.85)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91.78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(18.28)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(16.01)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.363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.147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112.43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(17.06)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121.55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(14.87)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123.98</a:t>
                      </a:r>
                      <a:r>
                        <a:rPr sz="1100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(18.34)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118.68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(16.25)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121.77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(16.55)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128.55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(15.72)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.012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.025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85"/>
                        </a:lnSpc>
                        <a:tabLst>
                          <a:tab pos="1524000" algn="l"/>
                        </a:tabLst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Shank</a:t>
                      </a:r>
                      <a:r>
                        <a:rPr sz="11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</a:t>
                      </a:r>
                      <a:r>
                        <a:rPr sz="11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29.35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29.67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(3.71)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30.51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31.34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(3.35)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31.93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(3.88)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31.01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(5.83)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.044</a:t>
                      </a:r>
                      <a:r>
                        <a:rPr sz="1200" spc="-15" baseline="27777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.771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24.48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(3.66)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24.16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(4.89)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22.78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25.17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(3.20)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(6.32)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24.24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(3.49)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.986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.376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30"/>
                        </a:lnSpc>
                        <a:tabLst>
                          <a:tab pos="1524000" algn="l"/>
                        </a:tabLst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Shank</a:t>
                      </a:r>
                      <a:r>
                        <a:rPr sz="11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backward</a:t>
                      </a:r>
                      <a:r>
                        <a:rPr sz="11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52.45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(5.93)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53.39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53.51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52.32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(5.07)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54.06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(5.94)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54.22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.337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.208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82.03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(14.61)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95.74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(13.44)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102.63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(10.03)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83.70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(12.06)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96.33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(10.83)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108.14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(11.78)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.088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R="149860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23.00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(4.11)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49.48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(4.49)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35.65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(4.50)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49.43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(4.57)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.136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17.87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(4.06)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28.09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(4.23)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40.48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(4.49)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18.42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(4.08)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28.65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(4.48)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40.43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(4.57)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.120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R="149860" algn="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47.09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(5.50)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60.10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(5.57)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74.78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(6.03)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47.34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(5.28)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60.31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(5.39)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74.75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(5.09)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.492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38.83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50.39</a:t>
                      </a:r>
                      <a:r>
                        <a:rPr sz="1100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(4.56)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(4.83)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39.08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(4.09)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50.78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(4.40)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63.69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(4.19)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.249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00" i="1" spc="-6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sz="1100" i="1" spc="-8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i="1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7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ts val="785"/>
                        </a:lnSpc>
                        <a:tabLst>
                          <a:tab pos="1524000" algn="l"/>
                        </a:tabLst>
                      </a:pPr>
                      <a:r>
                        <a:rPr sz="11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Ankle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</a:t>
                      </a: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650" spc="-15" baseline="4545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</a:t>
                      </a:r>
                      <a:endParaRPr sz="1650" baseline="45454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64.42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(33.22)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54.66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(31.40)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58.27</a:t>
                      </a:r>
                      <a:r>
                        <a:rPr sz="1100" spc="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(25.59)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60.74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(33.83)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52.45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(30.48)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63.78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(27.84)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.977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spc="-1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.025</a:t>
                      </a:r>
                      <a:r>
                        <a:rPr sz="1200" spc="-15" baseline="27777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200" baseline="27777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9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Trailing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88.95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(54.56)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92.89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(57.07)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113.89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(44.76)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92.34</a:t>
                      </a:r>
                      <a:r>
                        <a:rPr sz="1100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(49.49)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101.79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(47.94)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103.35</a:t>
                      </a:r>
                      <a:r>
                        <a:rPr sz="1100" spc="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(51.68)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.948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1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.143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778963" y="8748085"/>
            <a:ext cx="9563735" cy="57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Values</a:t>
            </a:r>
            <a:r>
              <a:rPr sz="900" spc="7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represent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mean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(SD).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W1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W2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denote</a:t>
            </a:r>
            <a:r>
              <a:rPr sz="900" spc="9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obstacle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widths;</a:t>
            </a:r>
            <a:r>
              <a:rPr sz="900" spc="12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H1,</a:t>
            </a:r>
            <a:r>
              <a:rPr sz="900" spc="10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H2,</a:t>
            </a:r>
            <a:r>
              <a:rPr sz="900" spc="11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H3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denote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obstacle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heights.</a:t>
            </a:r>
            <a:r>
              <a:rPr sz="900" spc="28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Main-</a:t>
            </a:r>
            <a:r>
              <a:rPr sz="900" dirty="0">
                <a:latin typeface="Book Antiqua"/>
                <a:cs typeface="Book Antiqua"/>
              </a:rPr>
              <a:t>effect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i="1" spc="-10" dirty="0">
                <a:latin typeface="Calibri"/>
                <a:cs typeface="Calibri"/>
              </a:rPr>
              <a:t>p</a:t>
            </a:r>
            <a:r>
              <a:rPr sz="900" spc="-10" dirty="0">
                <a:latin typeface="Book Antiqua"/>
                <a:cs typeface="Book Antiqua"/>
              </a:rPr>
              <a:t>-values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are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from</a:t>
            </a:r>
            <a:r>
              <a:rPr sz="900" spc="9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dirty="0">
                <a:latin typeface="Calibri"/>
                <a:cs typeface="Calibri"/>
              </a:rPr>
              <a:t>2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i="1" spc="-30" dirty="0">
                <a:latin typeface="Verdana"/>
                <a:cs typeface="Verdana"/>
              </a:rPr>
              <a:t>×</a:t>
            </a:r>
            <a:r>
              <a:rPr sz="900" i="1" spc="-80" dirty="0">
                <a:latin typeface="Verdana"/>
                <a:cs typeface="Verdana"/>
              </a:rPr>
              <a:t> </a:t>
            </a:r>
            <a:r>
              <a:rPr sz="900" dirty="0">
                <a:latin typeface="Calibri"/>
                <a:cs typeface="Calibri"/>
              </a:rPr>
              <a:t>3</a:t>
            </a:r>
            <a:r>
              <a:rPr sz="900" spc="120" dirty="0">
                <a:latin typeface="Calibri"/>
                <a:cs typeface="Calibri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repeated-</a:t>
            </a:r>
            <a:r>
              <a:rPr sz="900" dirty="0">
                <a:latin typeface="Book Antiqua"/>
                <a:cs typeface="Book Antiqua"/>
              </a:rPr>
              <a:t>measures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ANOVA.</a:t>
            </a:r>
            <a:r>
              <a:rPr sz="900" spc="10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Height</a:t>
            </a:r>
            <a:endParaRPr sz="9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900" i="1" dirty="0">
                <a:latin typeface="Calibri"/>
                <a:cs typeface="Calibri"/>
              </a:rPr>
              <a:t>p</a:t>
            </a:r>
            <a:r>
              <a:rPr sz="900" dirty="0">
                <a:latin typeface="Book Antiqua"/>
                <a:cs typeface="Book Antiqua"/>
              </a:rPr>
              <a:t>-</a:t>
            </a:r>
            <a:r>
              <a:rPr sz="900" spc="-10" dirty="0">
                <a:latin typeface="Book Antiqua"/>
                <a:cs typeface="Book Antiqua"/>
              </a:rPr>
              <a:t>values</a:t>
            </a:r>
            <a:r>
              <a:rPr sz="900" spc="4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use</a:t>
            </a:r>
            <a:r>
              <a:rPr sz="900" spc="4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the</a:t>
            </a:r>
            <a:r>
              <a:rPr sz="900" spc="45" dirty="0">
                <a:latin typeface="Book Antiqua"/>
                <a:cs typeface="Book Antiqua"/>
              </a:rPr>
              <a:t> </a:t>
            </a:r>
            <a:r>
              <a:rPr sz="900" spc="-20" dirty="0">
                <a:latin typeface="Book Antiqua"/>
                <a:cs typeface="Book Antiqua"/>
              </a:rPr>
              <a:t>Greenhouse–</a:t>
            </a:r>
            <a:r>
              <a:rPr sz="900" dirty="0">
                <a:latin typeface="Book Antiqua"/>
                <a:cs typeface="Book Antiqua"/>
              </a:rPr>
              <a:t>Geisser</a:t>
            </a:r>
            <a:r>
              <a:rPr sz="900" spc="4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adjustment.</a:t>
            </a:r>
            <a:endParaRPr sz="900">
              <a:latin typeface="Book Antiqua"/>
              <a:cs typeface="Book Antiqua"/>
            </a:endParaRPr>
          </a:p>
          <a:p>
            <a:pPr marL="71755">
              <a:lnSpc>
                <a:spcPct val="100000"/>
              </a:lnSpc>
              <a:spcBef>
                <a:spcPts val="15"/>
              </a:spcBef>
            </a:pPr>
            <a:r>
              <a:rPr sz="900" baseline="37037" dirty="0">
                <a:solidFill>
                  <a:srgbClr val="FF0000"/>
                </a:solidFill>
                <a:latin typeface="Lucida Console"/>
                <a:cs typeface="Lucida Console"/>
              </a:rPr>
              <a:t>**</a:t>
            </a:r>
            <a:r>
              <a:rPr sz="900" spc="-52" baseline="37037" dirty="0">
                <a:solidFill>
                  <a:srgbClr val="FF0000"/>
                </a:solidFill>
                <a:latin typeface="Lucida Console"/>
                <a:cs typeface="Lucida Console"/>
              </a:rPr>
              <a:t> </a:t>
            </a:r>
            <a:r>
              <a:rPr sz="900" dirty="0">
                <a:latin typeface="Book Antiqua"/>
                <a:cs typeface="Book Antiqua"/>
              </a:rPr>
              <a:t>Significant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main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effect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of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width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(</a:t>
            </a:r>
            <a:r>
              <a:rPr sz="900" i="1" dirty="0">
                <a:latin typeface="Calibri"/>
                <a:cs typeface="Calibri"/>
              </a:rPr>
              <a:t>p</a:t>
            </a:r>
            <a:r>
              <a:rPr sz="900" i="1" spc="30" dirty="0">
                <a:latin typeface="Calibri"/>
                <a:cs typeface="Calibri"/>
              </a:rPr>
              <a:t> </a:t>
            </a:r>
            <a:r>
              <a:rPr sz="900" i="1" spc="265" dirty="0">
                <a:latin typeface="Calibri"/>
                <a:cs typeface="Calibri"/>
              </a:rPr>
              <a:t>&lt;</a:t>
            </a:r>
            <a:r>
              <a:rPr sz="900" i="1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0</a:t>
            </a:r>
            <a:r>
              <a:rPr sz="900" i="1" dirty="0">
                <a:latin typeface="Calibri"/>
                <a:cs typeface="Calibri"/>
              </a:rPr>
              <a:t>.</a:t>
            </a:r>
            <a:r>
              <a:rPr sz="900" dirty="0">
                <a:latin typeface="Calibri"/>
                <a:cs typeface="Calibri"/>
              </a:rPr>
              <a:t>05</a:t>
            </a:r>
            <a:r>
              <a:rPr sz="900" dirty="0">
                <a:latin typeface="Book Antiqua"/>
                <a:cs typeface="Book Antiqua"/>
              </a:rPr>
              <a:t>);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baseline="37037" dirty="0">
                <a:solidFill>
                  <a:srgbClr val="0000FF"/>
                </a:solidFill>
                <a:latin typeface="Lucida Console"/>
                <a:cs typeface="Lucida Console"/>
              </a:rPr>
              <a:t>*</a:t>
            </a:r>
            <a:r>
              <a:rPr sz="900" spc="-44" baseline="37037" dirty="0">
                <a:solidFill>
                  <a:srgbClr val="0000FF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significant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main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effect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of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height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(</a:t>
            </a:r>
            <a:r>
              <a:rPr sz="900" i="1" dirty="0">
                <a:latin typeface="Calibri"/>
                <a:cs typeface="Calibri"/>
              </a:rPr>
              <a:t>p</a:t>
            </a:r>
            <a:r>
              <a:rPr sz="900" i="1" spc="30" dirty="0">
                <a:latin typeface="Calibri"/>
                <a:cs typeface="Calibri"/>
              </a:rPr>
              <a:t> </a:t>
            </a:r>
            <a:r>
              <a:rPr sz="900" i="1" spc="265" dirty="0">
                <a:latin typeface="Calibri"/>
                <a:cs typeface="Calibri"/>
              </a:rPr>
              <a:t>&lt;</a:t>
            </a:r>
            <a:r>
              <a:rPr sz="900" i="1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0</a:t>
            </a:r>
            <a:r>
              <a:rPr sz="900" i="1" dirty="0">
                <a:latin typeface="Calibri"/>
                <a:cs typeface="Calibri"/>
              </a:rPr>
              <a:t>.</a:t>
            </a:r>
            <a:r>
              <a:rPr sz="900" dirty="0">
                <a:latin typeface="Calibri"/>
                <a:cs typeface="Calibri"/>
              </a:rPr>
              <a:t>05</a:t>
            </a:r>
            <a:r>
              <a:rPr sz="900" dirty="0">
                <a:latin typeface="Book Antiqua"/>
                <a:cs typeface="Book Antiqua"/>
              </a:rPr>
              <a:t>).</a:t>
            </a:r>
            <a:r>
              <a:rPr sz="900" spc="1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correction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was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applied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across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the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20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outcomes.</a:t>
            </a:r>
            <a:endParaRPr sz="900">
              <a:latin typeface="Book Antiqua"/>
              <a:cs typeface="Book Antiqua"/>
            </a:endParaRPr>
          </a:p>
          <a:p>
            <a:pPr marL="7175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Book Antiqua"/>
                <a:cs typeface="Book Antiqua"/>
              </a:rPr>
              <a:t>Complete-</a:t>
            </a:r>
            <a:r>
              <a:rPr sz="900" dirty="0">
                <a:latin typeface="Book Antiqua"/>
                <a:cs typeface="Book Antiqua"/>
              </a:rPr>
              <a:t>case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sample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size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is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typically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i="1" spc="90" dirty="0">
                <a:latin typeface="Calibri"/>
                <a:cs typeface="Calibri"/>
              </a:rPr>
              <a:t>n</a:t>
            </a:r>
            <a:r>
              <a:rPr sz="900" i="1" spc="30" dirty="0">
                <a:latin typeface="Calibri"/>
                <a:cs typeface="Calibri"/>
              </a:rPr>
              <a:t> </a:t>
            </a:r>
            <a:r>
              <a:rPr sz="900" spc="265" dirty="0">
                <a:latin typeface="Calibri"/>
                <a:cs typeface="Calibri"/>
              </a:rPr>
              <a:t>=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9</a:t>
            </a:r>
            <a:r>
              <a:rPr sz="900" dirty="0">
                <a:latin typeface="Book Antiqua"/>
                <a:cs typeface="Book Antiqua"/>
              </a:rPr>
              <a:t>;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hip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flexion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ankle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ROM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use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i="1" spc="90" dirty="0">
                <a:latin typeface="Calibri"/>
                <a:cs typeface="Calibri"/>
              </a:rPr>
              <a:t>n</a:t>
            </a:r>
            <a:r>
              <a:rPr sz="900" i="1" spc="35" dirty="0">
                <a:latin typeface="Calibri"/>
                <a:cs typeface="Calibri"/>
              </a:rPr>
              <a:t> </a:t>
            </a:r>
            <a:r>
              <a:rPr sz="900" spc="265" dirty="0">
                <a:latin typeface="Calibri"/>
                <a:cs typeface="Calibri"/>
              </a:rPr>
              <a:t>=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8</a:t>
            </a:r>
            <a:r>
              <a:rPr sz="900" dirty="0">
                <a:latin typeface="Book Antiqua"/>
                <a:cs typeface="Book Antiqua"/>
              </a:rPr>
              <a:t>.</a:t>
            </a:r>
            <a:r>
              <a:rPr sz="900" spc="1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Width-</a:t>
            </a:r>
            <a:r>
              <a:rPr sz="900" spc="-30" dirty="0">
                <a:latin typeface="Book Antiqua"/>
                <a:cs typeface="Book Antiqua"/>
              </a:rPr>
              <a:t>by-</a:t>
            </a:r>
            <a:r>
              <a:rPr sz="900" dirty="0">
                <a:latin typeface="Book Antiqua"/>
                <a:cs typeface="Book Antiqua"/>
              </a:rPr>
              <a:t>height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interactions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post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hoc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comparisons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are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not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shown.</a:t>
            </a:r>
            <a:endParaRPr sz="9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01BC-6923-9B73-F0B6-89EE0614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37330-88BD-7A04-82B9-B4C2108857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04" y="1155691"/>
            <a:ext cx="13999492" cy="838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0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19A0-30D4-DDC8-4D8F-82E02E89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09A7C-85F8-3B39-5557-0BE23BC43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04" y="1065775"/>
            <a:ext cx="13999492" cy="85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8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B8A9-D500-3073-15DD-09069BA1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43F43-6A48-747A-A7BA-7FADE70C78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04" y="1065775"/>
            <a:ext cx="13999492" cy="85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9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C907C-644E-DC85-96D6-12F09752A5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04" y="1065775"/>
            <a:ext cx="13999492" cy="85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5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3003A-1B92-C4B4-A2C6-5DA5148C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AF3E9-B90D-C6A2-4CF2-71DC1ADF1C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00" y="1065775"/>
            <a:ext cx="13453899" cy="85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8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8D7B-B2C8-876A-6036-DAF56C68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1AB44-BBF4-07FF-5CFA-2FA6512FAA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12" y="2489194"/>
            <a:ext cx="13490475" cy="57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09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772</Words>
  <Application>Microsoft Office PowerPoint</Application>
  <PresentationFormat>Custom</PresentationFormat>
  <Paragraphs>206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Book Antiqua</vt:lpstr>
      <vt:lpstr>Calibri</vt:lpstr>
      <vt:lpstr>Lucida Console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Ehsan Sharafian Moghaddam</cp:lastModifiedBy>
  <cp:revision>2</cp:revision>
  <dcterms:created xsi:type="dcterms:W3CDTF">2026-10-26T20:07:48Z</dcterms:created>
  <dcterms:modified xsi:type="dcterms:W3CDTF">2026-10-26T20:11:13Z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Creator">
    <vt:lpwstr>TeX</vt:lpwstr>
  </property>
  <property fmtid="{D5CDD505-2E9C-101B-9397-08002B2CF9AE}" pid="5" name="LastSaved">
    <vt:filetime>2026-10-26T00:00:00Z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