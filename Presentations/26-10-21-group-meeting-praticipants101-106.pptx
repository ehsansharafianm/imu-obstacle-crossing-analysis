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7" r:id="rId4"/>
    <p:sldId id="274" r:id="rId5"/>
    <p:sldId id="269" r:id="rId6"/>
    <p:sldId id="272" r:id="rId7"/>
    <p:sldId id="273" r:id="rId8"/>
    <p:sldId id="275" r:id="rId9"/>
    <p:sldId id="271" r:id="rId10"/>
    <p:sldId id="270" r:id="rId11"/>
    <p:sldId id="268" r:id="rId12"/>
    <p:sldId id="276" r:id="rId13"/>
    <p:sldId id="277" r:id="rId14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8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888" y="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715DA-E0FE-4B31-9749-10988301A011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33330-F434-48B3-A3AC-F4DE17F9A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6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33330-F434-48B3-A3AC-F4DE17F9A21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4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48217-9C50-5A83-F114-A0D5A91E4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F9C34E-FD31-6F2D-1BAF-E982BDEDB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58825-2115-1F0B-F13D-643F3843F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E8B88-A2E2-CD25-2D91-BD44EA5A2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C0664-AA32-EABA-79A4-4E2C4A787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267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AEEE-4400-19A5-A23E-CCB313AC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A7BEC-F277-184F-184B-E429E209F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99CE2-A535-56EB-5CEB-287D70B80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926BF-A116-C3E2-4312-4B6771B9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E9304-158C-16B3-65EB-8B1236BC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5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335DC-3237-E8F6-3958-55C9F4E26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66536-50CF-A2F8-9A05-B1930A945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A39DF-E120-E756-5D9B-B19E745BA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B7254-4D31-3CFD-42BE-FB252BFA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04468-9A18-5453-8927-9C209D885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64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B69BD-CBC3-81E0-9B0B-E8650807A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1CE08-8FAA-2F9E-55E6-6D16C3492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63C70-ADF5-0DB6-4F05-D542F0A7D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51C28-49FA-DD03-9480-770711009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23235-CD1C-AA45-E718-36C2FE44F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52885-43FD-67C8-1D3D-ED3873D74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448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51B2-FFDD-8E4F-CCA7-2341EC04E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D1313-6111-CE76-2019-A01B2DCAC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028E4-8B3E-D921-638E-803027F13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56D27A-8A06-E35B-305C-F6B7F6F08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DBE9D1-339A-879E-39B9-48052FEA2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C4D13F-A85A-5808-F943-3F876859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F0C66F-F0FC-8B5F-177F-A9AE39C4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23407-F52A-229B-536B-0129D9F81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51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6E4A-B56F-A708-5D73-7B1D9484D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03E40-8CE9-42A5-722C-95C1EFF9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B2A92-6C8A-6CB8-CB6D-92923CB84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AF1A9-3E8F-8B35-D385-6ED07A52B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43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E9B1B0-2804-00D2-6C7E-BAD6465D2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AF1DD9-F030-1F61-508B-4C91BAB79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EA0CE-B11E-6C12-EB15-321D80C22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0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B516C-40DA-D89C-A374-4325E780A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08E70-739A-DAED-4546-0AD4A8D86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7685B-1B68-1CF2-6100-4A323AA73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F7D6D-8D47-3321-71AF-81D1F9F1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BF065-BD98-4F80-10AE-56885F76C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1E8A9-6A33-08A6-CB96-228B9A88B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3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DC97C-4C0F-3337-FD38-568D82FF6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A8A2EB-99BB-4259-E0EB-1C79D495B8D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E082B-815D-BE45-6B3D-5D469A246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CA526-2DBB-FA71-4AB1-1E7294669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D236C-06BA-3B92-68F7-181F386CC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70328-C65E-FA43-DCB4-F12931AE7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157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CB05-5885-1070-161D-7599D404F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04465-B932-F4D9-0673-01DD2F595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0D4A2-9462-5E7C-EDAE-CB3108C89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60EBC-AFB9-22B5-30A0-F7A04CEA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F1873-A1D1-FF73-9AF8-7F6C9232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68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E8C4EA-3F32-6E51-8263-C08A26B21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94187B-12A7-D41A-BE32-EDC00AF6E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95940-C84D-2E72-F622-51B8A3FE5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F6D96-962D-FBCC-5732-3DFFE53DF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EB7F-7D29-5C89-C847-2063FFD6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E7A898-2DAE-F282-53DE-B05379CEF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4F5AF-E1FD-327C-F470-DE41D5D35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27DE3-FCB7-C319-D28F-5D064186F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07FF6-14BF-4EFD-AFB8-3CD6268CA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322D5-21F6-DECA-3816-15DEB5BEE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AC396-7BB0-F4F8-55B6-3092227C7B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9B324E-C4D2-4AF7-B5EC-09BAD637B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353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CEBFC7-E393-2419-9637-C630F454B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406" y="411474"/>
            <a:ext cx="9345187" cy="60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86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9FCAA4-9BFA-CB02-3754-A7D6685B3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44" y="911347"/>
            <a:ext cx="11829312" cy="503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5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CBA048-7574-666E-5C18-96501E73B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8" y="0"/>
            <a:ext cx="98551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798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3642A-4E1F-2631-3105-314086BDA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56C6C1-3BF2-4DEA-BBB9-60C197C64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46" y="0"/>
            <a:ext cx="114541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7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0BF5D-500F-6F28-B9F6-F9D070615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359EF3-3785-23BA-DD78-915D9AB5FF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6532"/>
            <a:ext cx="12192000" cy="516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277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AA9E2-B5A7-5656-169A-79935A3E4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B19785-58BD-F11B-A175-A478E07A1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6532"/>
            <a:ext cx="12192000" cy="516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62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1C504-0F3E-D8EE-E4B5-ED54021B4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E7D206-40A5-6541-19E6-0744BF675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6532"/>
            <a:ext cx="12192000" cy="516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0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F10BF-4C7A-6189-2F69-4D2440CF1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BF3B27-1128-9B8B-7DD1-6A4A658CD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8909"/>
            <a:ext cx="12192000" cy="520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9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07C71-97C5-662E-6559-3242D61B4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95616D-1E6D-2F83-A0BE-0D881A2D7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9512"/>
            <a:ext cx="12192000" cy="517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457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261D7-7C57-9AD2-095B-9CE29826E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7619BB-1B4C-3FE6-2826-597CD5C74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123" y="571494"/>
            <a:ext cx="4809754" cy="571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229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65BF9A-A3A2-4726-A10A-D4D4FBDCE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850289"/>
              </p:ext>
            </p:extLst>
          </p:nvPr>
        </p:nvGraphicFramePr>
        <p:xfrm>
          <a:off x="526915" y="2546036"/>
          <a:ext cx="10515600" cy="256032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6874389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052695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504434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418113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Limb and segment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H1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H2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H3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12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Leading thigh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+86%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+114%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+133%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8700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Leading shank</a:t>
                      </a:r>
                    </a:p>
                  </a:txBody>
                  <a:tcPr anchor="ctr"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+8%</a:t>
                      </a:r>
                    </a:p>
                  </a:txBody>
                  <a:tcPr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+12%</a:t>
                      </a:r>
                    </a:p>
                  </a:txBody>
                  <a:tcPr anchor="ctr"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+11%</a:t>
                      </a:r>
                    </a:p>
                  </a:txBody>
                  <a:tcPr anchor="ctr"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132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Leading foot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−3%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−7%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0788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Trailing thigh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+35%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+38%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+48%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2375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Trailing shank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+56%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+73%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230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Trailing foot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+37%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376758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7CFC67C-F72A-A6F3-08E9-462FFE29BD5A}"/>
              </a:ext>
            </a:extLst>
          </p:cNvPr>
          <p:cNvSpPr txBox="1"/>
          <p:nvPr/>
        </p:nvSpPr>
        <p:spPr>
          <a:xfrm>
            <a:off x="526915" y="1289290"/>
            <a:ext cx="11039273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Leading limb:</a:t>
            </a:r>
            <a:r>
              <a:rPr lang="en-US"/>
              <a:t> the thigh drives the height response. The shank and foot barely change from level walking.</a:t>
            </a:r>
          </a:p>
          <a:p>
            <a:pPr marL="342900" lvl="0" indent="-34290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/>
              <a:t>Trailing limb:</a:t>
            </a:r>
            <a:r>
              <a:rPr lang="en-US"/>
              <a:t> the shank responds most, with the foot and thigh responding moderately.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C972C2-2DB4-333F-985C-92461A4D4D37}"/>
              </a:ext>
            </a:extLst>
          </p:cNvPr>
          <p:cNvSpPr txBox="1"/>
          <p:nvPr/>
        </p:nvSpPr>
        <p:spPr>
          <a:xfrm>
            <a:off x="526915" y="263564"/>
            <a:ext cx="6094378" cy="593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>
              <a:lnSpc>
                <a:spcPct val="150000"/>
              </a:lnSpc>
            </a:pPr>
            <a:r>
              <a:rPr lang="en-US" sz="2400" b="1">
                <a:solidFill>
                  <a:srgbClr val="002060"/>
                </a:solidFill>
              </a:rPr>
              <a:t>Take Home Message</a:t>
            </a:r>
            <a:endParaRPr lang="en-US" sz="2400">
              <a:solidFill>
                <a:srgbClr val="00206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3BE37C-7D98-7AD0-5D73-CC3333F21B57}"/>
              </a:ext>
            </a:extLst>
          </p:cNvPr>
          <p:cNvSpPr/>
          <p:nvPr/>
        </p:nvSpPr>
        <p:spPr>
          <a:xfrm>
            <a:off x="846306" y="2908571"/>
            <a:ext cx="10000034" cy="3501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0B5C8E-F81D-5E1A-BD96-82F27C76BD18}"/>
              </a:ext>
            </a:extLst>
          </p:cNvPr>
          <p:cNvSpPr/>
          <p:nvPr/>
        </p:nvSpPr>
        <p:spPr>
          <a:xfrm>
            <a:off x="846306" y="4364477"/>
            <a:ext cx="10000034" cy="3501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C5E8E84-02A4-2723-D47E-62B25B6FB85A}"/>
              </a:ext>
            </a:extLst>
          </p:cNvPr>
          <p:cNvGrpSpPr/>
          <p:nvPr/>
        </p:nvGrpSpPr>
        <p:grpSpPr>
          <a:xfrm>
            <a:off x="455769" y="430750"/>
            <a:ext cx="10781107" cy="1957433"/>
            <a:chOff x="859276" y="3217682"/>
            <a:chExt cx="10558992" cy="195743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CD88BB3-3F6C-94CC-DEE5-ACF7DC86F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736"/>
            <a:stretch>
              <a:fillRect/>
            </a:stretch>
          </p:blipFill>
          <p:spPr>
            <a:xfrm>
              <a:off x="948832" y="3217682"/>
              <a:ext cx="10469436" cy="1957433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69A452E-CD12-53C4-9F47-11237BB0FF93}"/>
                </a:ext>
              </a:extLst>
            </p:cNvPr>
            <p:cNvGrpSpPr/>
            <p:nvPr/>
          </p:nvGrpSpPr>
          <p:grpSpPr>
            <a:xfrm>
              <a:off x="859276" y="3731013"/>
              <a:ext cx="10546022" cy="930770"/>
              <a:chOff x="512322" y="1906622"/>
              <a:chExt cx="10546022" cy="93077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F40F83D-D786-1C37-C66C-98455C36AF27}"/>
                  </a:ext>
                </a:extLst>
              </p:cNvPr>
              <p:cNvSpPr/>
              <p:nvPr/>
            </p:nvSpPr>
            <p:spPr>
              <a:xfrm>
                <a:off x="2461098" y="1906622"/>
                <a:ext cx="8597246" cy="31128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D22D999-2045-9EA4-408B-D957BADFE5D9}"/>
                  </a:ext>
                </a:extLst>
              </p:cNvPr>
              <p:cNvSpPr/>
              <p:nvPr/>
            </p:nvSpPr>
            <p:spPr>
              <a:xfrm>
                <a:off x="512322" y="2217907"/>
                <a:ext cx="10546021" cy="31128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58E3B02-C030-EEA9-AFB3-959377F6F1B4}"/>
                  </a:ext>
                </a:extLst>
              </p:cNvPr>
              <p:cNvSpPr/>
              <p:nvPr/>
            </p:nvSpPr>
            <p:spPr>
              <a:xfrm>
                <a:off x="550616" y="2526107"/>
                <a:ext cx="2513598" cy="31128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  <a:alpha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5487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7669C1-9111-A743-2C20-3548E6655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560530"/>
              </p:ext>
            </p:extLst>
          </p:nvPr>
        </p:nvGraphicFramePr>
        <p:xfrm>
          <a:off x="633504" y="578472"/>
          <a:ext cx="9915712" cy="536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506">
                  <a:extLst>
                    <a:ext uri="{9D8B030D-6E8A-4147-A177-3AD203B41FA5}">
                      <a16:colId xmlns:a16="http://schemas.microsoft.com/office/drawing/2014/main" val="2399151541"/>
                    </a:ext>
                  </a:extLst>
                </a:gridCol>
                <a:gridCol w="3127350">
                  <a:extLst>
                    <a:ext uri="{9D8B030D-6E8A-4147-A177-3AD203B41FA5}">
                      <a16:colId xmlns:a16="http://schemas.microsoft.com/office/drawing/2014/main" val="40326336"/>
                    </a:ext>
                  </a:extLst>
                </a:gridCol>
                <a:gridCol w="2478928">
                  <a:extLst>
                    <a:ext uri="{9D8B030D-6E8A-4147-A177-3AD203B41FA5}">
                      <a16:colId xmlns:a16="http://schemas.microsoft.com/office/drawing/2014/main" val="3756689570"/>
                    </a:ext>
                  </a:extLst>
                </a:gridCol>
                <a:gridCol w="2478928">
                  <a:extLst>
                    <a:ext uri="{9D8B030D-6E8A-4147-A177-3AD203B41FA5}">
                      <a16:colId xmlns:a16="http://schemas.microsoft.com/office/drawing/2014/main" val="1534996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Signal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Optional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968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Hip</a:t>
                      </a:r>
                      <a:r>
                        <a:rPr lang="en-US" sz="1600"/>
                        <a:t> (joint)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Peak </a:t>
                      </a:r>
                      <a:r>
                        <a:rPr lang="en-US" sz="1600" b="1"/>
                        <a:t>flexion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It’s the lift of the thigh, the main leading-limb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Peak extension, to show wind-up before the crossing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3955666"/>
                  </a:ext>
                </a:extLst>
              </a:tr>
              <a:tr h="202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Knee</a:t>
                      </a:r>
                      <a:r>
                        <a:rPr lang="en-US" sz="1600"/>
                        <a:t> (joint)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Peak </a:t>
                      </a:r>
                      <a:r>
                        <a:rPr lang="en-US" sz="1600" b="1"/>
                        <a:t>flexion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It shortens the limb so the foot clears. It matters for both limbs, especially the trailing one.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ROM adds almost nothing here, because the extension end is near zero and ROM is roughly the flexion peak. Keep it only as a column.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9783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Thigh</a:t>
                      </a:r>
                      <a:r>
                        <a:rPr lang="en-US" sz="1600"/>
                        <a:t> (segment)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Peak </a:t>
                      </a:r>
                      <a:r>
                        <a:rPr lang="en-US" sz="1600" b="1"/>
                        <a:t>forward tilt</a:t>
                      </a:r>
                      <a:r>
                        <a:rPr lang="en-US" sz="1600"/>
                        <a:t> and peak </a:t>
                      </a:r>
                      <a:r>
                        <a:rPr lang="en-US" sz="1600" b="1"/>
                        <a:t>backward tilt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Forward tilt is the lift. Backward tilt shows whether a bigger trailing-thigh ROM comes from a wind-up.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ROM as a column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608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Shank</a:t>
                      </a:r>
                      <a:r>
                        <a:rPr lang="en-US" sz="1600"/>
                        <a:t> (segment)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ROM</a:t>
                      </a:r>
                      <a:r>
                        <a:rPr lang="en-US" sz="1600"/>
                        <a:t>, plus the </a:t>
                      </a:r>
                      <a:r>
                        <a:rPr lang="en-US" sz="1600" b="1"/>
                        <a:t>backward</a:t>
                      </a:r>
                      <a:r>
                        <a:rPr lang="en-US" sz="1600"/>
                        <a:t> peak (heel up)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The trailing-limb kick-up is where the shank responded most. ROM gives an offset-free summary.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Forward peak (reach), for the leading limb’s landing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5385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3730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EF7585-7C5A-D23D-134E-B58EECA66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628370"/>
              </p:ext>
            </p:extLst>
          </p:nvPr>
        </p:nvGraphicFramePr>
        <p:xfrm>
          <a:off x="881796" y="540636"/>
          <a:ext cx="10057385" cy="43513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61248">
                  <a:extLst>
                    <a:ext uri="{9D8B030D-6E8A-4147-A177-3AD203B41FA5}">
                      <a16:colId xmlns:a16="http://schemas.microsoft.com/office/drawing/2014/main" val="262806189"/>
                    </a:ext>
                  </a:extLst>
                </a:gridCol>
                <a:gridCol w="2167445">
                  <a:extLst>
                    <a:ext uri="{9D8B030D-6E8A-4147-A177-3AD203B41FA5}">
                      <a16:colId xmlns:a16="http://schemas.microsoft.com/office/drawing/2014/main" val="78735960"/>
                    </a:ext>
                  </a:extLst>
                </a:gridCol>
                <a:gridCol w="1337476">
                  <a:extLst>
                    <a:ext uri="{9D8B030D-6E8A-4147-A177-3AD203B41FA5}">
                      <a16:colId xmlns:a16="http://schemas.microsoft.com/office/drawing/2014/main" val="846510296"/>
                    </a:ext>
                  </a:extLst>
                </a:gridCol>
                <a:gridCol w="3691216">
                  <a:extLst>
                    <a:ext uri="{9D8B030D-6E8A-4147-A177-3AD203B41FA5}">
                      <a16:colId xmlns:a16="http://schemas.microsoft.com/office/drawing/2014/main" val="2070662820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named peak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signal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extremum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notes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355134520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Hip peak flexion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hip_flexion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min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flexion is negative here (confirmed: thigh forward-tilt max ↔ hip min)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4131890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Hip peak extension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hip_flexion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max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/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75613394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Knee peak flexion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knee_angle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min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/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53039377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Ankle dorsiflexion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ankle_angle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max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/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57580643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Ankle plantarflexion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ankle_angle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min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/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17580264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Thigh forward tilt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Thigh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max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+68° @ mid-swing ✓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75472634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Thigh backward tilt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Thigh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min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/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605310496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Shank backward (heel up)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Shank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min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early swing ✓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64771242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Shank forward (reach)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Shank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max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late swing ✓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70263061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Foot toe-down / toe-up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Foot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min / max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I’ll flag foot to verify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116981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973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3E93F9-9884-EE94-166F-87731D447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309" y="344676"/>
            <a:ext cx="6677991" cy="651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701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372</Words>
  <Application>Microsoft Office PowerPoint</Application>
  <PresentationFormat>Widescreen</PresentationFormat>
  <Paragraphs>91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Ehsan Sharafian Moghaddam</dc:creator>
  <cp:lastModifiedBy>Ehsan Sharafian Moghaddam</cp:lastModifiedBy>
  <cp:revision>7</cp:revision>
  <dcterms:created xsi:type="dcterms:W3CDTF">2026-10-19T19:04:33Z</dcterms:created>
  <dcterms:modified xsi:type="dcterms:W3CDTF">2026-10-21T19:19:02Z</dcterms:modified>
</cp:coreProperties>
</file>