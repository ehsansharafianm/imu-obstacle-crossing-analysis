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6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7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charts/chart9.xml" ContentType="application/vnd.openxmlformats-officedocument.drawingml.chart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1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3df88ba-ea15-6b8d-a035-615ec13ea788}">
          <p14:sldIdLst>
            <p14:sldId id="256"/>
            <p14:sldId id="257"/>
            <p14:sldId id="258"/>
          </p14:sldIdLst>
        </p14:section>
        <p14:section name="How people cross" id="{fc8e2d93-ab50-56b5-9862-d5cf828ee02a}">
          <p14:sldIdLst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Recognising obstacle height" id="{95c83ce1-bf45-9cbf-1429-7106ebd97808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Toward a wearable device" id="{9f4731f7-3f07-36f5-d7bd-66364680a4dc}">
          <p14:sldIdLst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Limits and conclusions" id="{e66a09b7-9ca3-1858-868d-72eb2c182ee9}">
          <p14:sldIdLst>
            <p14:sldId id="280"/>
            <p14:sldId id="281"/>
            <p14:sldId id="28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Foot lift, mm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across people (SD of personal margin)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Lead foot lift</c:v>
                  </c:pt>
                  <c:pt idx="1">
                    <c:v>Trailing foot lift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Step between two neighbouring heights</c:v>
                </c:pt>
              </c:strCache>
            </c:strRef>
          </c:tx>
          <c:spPr>
            <a:solidFill>
              <a:srgbClr val="0F2A43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Lead foot lift</c:v>
                  </c:pt>
                  <c:pt idx="1">
                    <c:v>Trailing foot lift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98</c:v>
                </c:pt>
                <c:pt idx="1">
                  <c:v>105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accuracy, unseen participant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8A898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Generic · 57 summary features</c:v>
                  </c:pt>
                  <c:pt idx="1">
                    <c:v>Generic · fair nested selection</c:v>
                  </c:pt>
                  <c:pt idx="2">
                    <c:v>Generic · 13 clearance-shape features</c:v>
                  </c:pt>
                  <c:pt idx="3">
                    <c:v>Person-scaled · deep learning (1D CNN)</c:v>
                  </c:pt>
                  <c:pt idx="4">
                    <c:v>Person-scaled · all 6 IMUs</c:v>
                  </c:pt>
                  <c:pt idx="5">
                    <c:v>Person-scaled · fair nested selection</c:v>
                  </c:pt>
                  <c:pt idx="6">
                    <c:v>Person-scaled · two foot IMUs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0.621</c:v>
                </c:pt>
                <c:pt idx="1">
                  <c:v>0.694</c:v>
                </c:pt>
                <c:pt idx="2">
                  <c:v>0.728</c:v>
                </c:pt>
                <c:pt idx="3">
                  <c:v>0.877</c:v>
                </c:pt>
                <c:pt idx="4">
                  <c:v>0.912</c:v>
                </c:pt>
                <c:pt idx="5">
                  <c:v>0.915</c:v>
                </c:pt>
                <c:pt idx="6">
                  <c:v>0.923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 from a single signal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Leading leg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Thigh tilt</c:v>
                  </c:pt>
                  <c:pt idx="1">
                    <c:v>Shank tilt</c:v>
                  </c:pt>
                  <c:pt idx="2">
                    <c:v>Foot tilt</c:v>
                  </c:pt>
                  <c:pt idx="3">
                    <c:v>Foot path</c:v>
                  </c:pt>
                  <c:pt idx="4">
                    <c:v>Foot accel.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0.774</c:v>
                </c:pt>
                <c:pt idx="1">
                  <c:v>0.498</c:v>
                </c:pt>
                <c:pt idx="2">
                  <c:v>0.881</c:v>
                </c:pt>
                <c:pt idx="3">
                  <c:v>0.849</c:v>
                </c:pt>
                <c:pt idx="4">
                  <c:v>0.369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Trailing leg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Thigh tilt</c:v>
                  </c:pt>
                  <c:pt idx="1">
                    <c:v>Shank tilt</c:v>
                  </c:pt>
                  <c:pt idx="2">
                    <c:v>Foot tilt</c:v>
                  </c:pt>
                  <c:pt idx="3">
                    <c:v>Foot path</c:v>
                  </c:pt>
                  <c:pt idx="4">
                    <c:v>Foot accel.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0.442</c:v>
                </c:pt>
                <c:pt idx="1">
                  <c:v>0.782</c:v>
                </c:pt>
                <c:pt idx="2">
                  <c:v>0.834</c:v>
                </c:pt>
                <c:pt idx="3">
                  <c:v>0.845</c:v>
                </c:pt>
                <c:pt idx="4">
                  <c:v>0.54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accuracy, unseen participant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Person scaling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0.521</c:v>
                </c:pt>
                <c:pt idx="1">
                  <c:v>0.653</c:v>
                </c:pt>
                <c:pt idx="2">
                  <c:v>0.677</c:v>
                </c:pt>
                <c:pt idx="3">
                  <c:v>0.742</c:v>
                </c:pt>
                <c:pt idx="4">
                  <c:v>0.797</c:v>
                </c:pt>
                <c:pt idx="5">
                  <c:v>0.778</c:v>
                </c:pt>
                <c:pt idx="6">
                  <c:v>0.797</c:v>
                </c:pt>
                <c:pt idx="7">
                  <c:v>0.885</c:v>
                </c:pt>
                <c:pt idx="8">
                  <c:v>0.876</c:v>
                </c:pt>
                <c:pt idx="9">
                  <c:v>0.864</c:v>
                </c:pt>
                <c:pt idx="10">
                  <c:v>0.858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Generic (level-walk scaling)</c:v>
                </c:pt>
              </c:strCache>
            </c:strRef>
          </c:tx>
          <c:spPr>
            <a:solidFill>
              <a:srgbClr val="8A8984"/>
            </a:solidFill>
            <a:ln w="38100" cap="flat">
              <a:solidFill>
                <a:srgbClr val="8A89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A8984"/>
              </a:solidFill>
              <a:ln w="9525" cap="flat">
                <a:solidFill>
                  <a:srgbClr val="8A89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10</c:v>
                  </c:pt>
                  <c:pt idx="2">
                    <c:v>20</c:v>
                  </c:pt>
                  <c:pt idx="3">
                    <c:v>30</c:v>
                  </c:pt>
                  <c:pt idx="4">
                    <c:v>40</c:v>
                  </c:pt>
                  <c:pt idx="5">
                    <c:v>50</c:v>
                  </c:pt>
                  <c:pt idx="6">
                    <c:v>60</c:v>
                  </c:pt>
                  <c:pt idx="7">
                    <c:v>70</c:v>
                  </c:pt>
                  <c:pt idx="8">
                    <c:v>80</c:v>
                  </c:pt>
                  <c:pt idx="9">
                    <c:v>90</c:v>
                  </c:pt>
                  <c:pt idx="10">
                    <c:v>100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0.401</c:v>
                </c:pt>
                <c:pt idx="1">
                  <c:v>0.465</c:v>
                </c:pt>
                <c:pt idx="2">
                  <c:v>0.524</c:v>
                </c:pt>
                <c:pt idx="3">
                  <c:v>0.54</c:v>
                </c:pt>
                <c:pt idx="4">
                  <c:v>0.593</c:v>
                </c:pt>
                <c:pt idx="5">
                  <c:v>0.635</c:v>
                </c:pt>
                <c:pt idx="6">
                  <c:v>0.624</c:v>
                </c:pt>
                <c:pt idx="7">
                  <c:v>0.647</c:v>
                </c:pt>
                <c:pt idx="8">
                  <c:v>0.612</c:v>
                </c:pt>
                <c:pt idx="9">
                  <c:v>0.567</c:v>
                </c:pt>
                <c:pt idx="10">
                  <c:v>0.566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lead-leg data used up to x % of its swing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2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Width, balanced accuracy (chance 50 %)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8A898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2A4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IMU · generic model (best)</c:v>
                  </c:pt>
                  <c:pt idx="1">
                    <c:v>IMU · person scaling (best)</c:v>
                  </c:pt>
                  <c:pt idx="2">
                    <c:v>IMU · within each height</c:v>
                  </c:pt>
                  <c:pt idx="3">
                    <c:v>IMU · sideways motion only</c:v>
                  </c:pt>
                  <c:pt idx="4">
                    <c:v>Camera · foot placement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0.646</c:v>
                </c:pt>
                <c:pt idx="2">
                  <c:v>0.605</c:v>
                </c:pt>
                <c:pt idx="3">
                  <c:v>0.538</c:v>
                </c:pt>
                <c:pt idx="4">
                  <c:v>0.576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 by sensor set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8A898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2A4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2 thigh</c:v>
                  </c:pt>
                  <c:pt idx="1">
                    <c:v>2 shank</c:v>
                  </c:pt>
                  <c:pt idx="2">
                    <c:v>2 foot</c:v>
                  </c:pt>
                  <c:pt idx="3">
                    <c:v>All 6</c:v>
                  </c:pt>
                  <c:pt idx="4">
                    <c:v>1 foot, right</c:v>
                  </c:pt>
                  <c:pt idx="5">
                    <c:v>1 foot, left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0.804</c:v>
                </c:pt>
                <c:pt idx="1">
                  <c:v>0.794</c:v>
                </c:pt>
                <c:pt idx="2">
                  <c:v>0.923</c:v>
                </c:pt>
                <c:pt idx="3">
                  <c:v>0.912</c:v>
                </c:pt>
                <c:pt idx="4">
                  <c:v>0.829</c:v>
                </c:pt>
                <c:pt idx="5">
                  <c:v>0.909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 on the new user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Balanced accuracy</c:v>
                </c:pt>
              </c:strCache>
            </c:strRef>
          </c:tx>
          <c:spPr>
            <a:solidFill>
              <a:srgbClr val="8A8984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A898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Nothing · generic model</c:v>
                  </c:pt>
                  <c:pt idx="1">
                    <c:v>Nothing · clearance-shape features</c:v>
                  </c:pt>
                  <c:pt idx="2">
                    <c:v>5 unlabelled crossings</c:v>
                  </c:pt>
                  <c:pt idx="3">
                    <c:v>10 unlabelled crossings</c:v>
                  </c:pt>
                  <c:pt idx="4">
                    <c:v>15 unlabelled crossings</c:v>
                  </c:pt>
                  <c:pt idx="5">
                    <c:v>All crossings of a session, unlabelled</c:v>
                  </c:pt>
                  <c:pt idx="6">
                    <c:v>1 labelled crossing (any height)</c:v>
                  </c:pt>
                  <c:pt idx="7">
                    <c:v>1 labelled crossing per height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0.564</c:v>
                </c:pt>
                <c:pt idx="1">
                  <c:v>0.728</c:v>
                </c:pt>
                <c:pt idx="2">
                  <c:v>0.714</c:v>
                </c:pt>
                <c:pt idx="3">
                  <c:v>0.812</c:v>
                </c:pt>
                <c:pt idx="4">
                  <c:v>0.851</c:v>
                </c:pt>
                <c:pt idx="5">
                  <c:v>0.923</c:v>
                </c:pt>
                <c:pt idx="6">
                  <c:v>0.803</c:v>
                </c:pt>
                <c:pt idx="7">
                  <c:v>0.878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Balanced accuracy, by crossings walked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Mixed obstacle order (realistic)</c:v>
                </c:pt>
              </c:strCache>
            </c:strRef>
          </c:tx>
          <c:spPr>
            <a:solidFill>
              <a:srgbClr val="EB6834"/>
            </a:solidFill>
            <a:ln w="38100" cap="flat">
              <a:solidFill>
                <a:srgbClr val="EB683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1–5</c:v>
                  </c:pt>
                  <c:pt idx="1">
                    <c:v>6–10</c:v>
                  </c:pt>
                  <c:pt idx="2">
                    <c:v>11–15</c:v>
                  </c:pt>
                  <c:pt idx="3">
                    <c:v>16–20</c:v>
                  </c:pt>
                  <c:pt idx="4">
                    <c:v>21+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0.719</c:v>
                </c:pt>
                <c:pt idx="1">
                  <c:v>0.751</c:v>
                </c:pt>
                <c:pt idx="2">
                  <c:v>0.829</c:v>
                </c:pt>
                <c:pt idx="3">
                  <c:v>0.879</c:v>
                </c:pt>
                <c:pt idx="4">
                  <c:v>0.913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Blocked study order</c:v>
                </c:pt>
              </c:strCache>
            </c:strRef>
          </c:tx>
          <c:spPr>
            <a:solidFill>
              <a:srgbClr val="8A8984"/>
            </a:solidFill>
            <a:ln w="38100" cap="flat">
              <a:solidFill>
                <a:srgbClr val="8A89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8A8984"/>
              </a:solidFill>
              <a:ln w="9525" cap="flat">
                <a:solidFill>
                  <a:srgbClr val="8A89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1–5</c:v>
                  </c:pt>
                  <c:pt idx="1">
                    <c:v>6–10</c:v>
                  </c:pt>
                  <c:pt idx="2">
                    <c:v>11–15</c:v>
                  </c:pt>
                  <c:pt idx="3">
                    <c:v>16–20</c:v>
                  </c:pt>
                  <c:pt idx="4">
                    <c:v>21+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0.7</c:v>
                </c:pt>
                <c:pt idx="1">
                  <c:v>0.46</c:v>
                </c:pt>
                <c:pt idx="2">
                  <c:v>0.56</c:v>
                </c:pt>
                <c:pt idx="3">
                  <c:v>0.812</c:v>
                </c:pt>
                <c:pt idx="4">
                  <c:v>0.903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crossing number in the session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3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Share of crossings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Correct cue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[&gt;=0.02]0%;\ 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Apex · always cue</c:v>
                  </c:pt>
                  <c:pt idx="1">
                    <c:v>Apex · cue if p ≥ 0.6</c:v>
                  </c:pt>
                  <c:pt idx="2">
                    <c:v>Landing · always cue</c:v>
                  </c:pt>
                  <c:pt idx="3">
                    <c:v>Landing · cue if p ≥ 0.6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0.702</c:v>
                </c:pt>
                <c:pt idx="1">
                  <c:v>0.553</c:v>
                </c:pt>
                <c:pt idx="2">
                  <c:v>0.756</c:v>
                </c:pt>
                <c:pt idx="3">
                  <c:v>0.616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Wrong cue</c:v>
                </c:pt>
              </c:strCache>
            </c:strRef>
          </c:tx>
          <c:spPr>
            <a:solidFill>
              <a:srgbClr val="E34948"/>
            </a:solidFill>
            <a:effectLst/>
          </c:spPr>
          <c:invertIfNegative val="0"/>
          <c:dLbls>
            <c:numFmt formatCode="[&gt;=0.02]0%;\ 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Apex · always cue</c:v>
                  </c:pt>
                  <c:pt idx="1">
                    <c:v>Apex · cue if p ≥ 0.6</c:v>
                  </c:pt>
                  <c:pt idx="2">
                    <c:v>Landing · always cue</c:v>
                  </c:pt>
                  <c:pt idx="3">
                    <c:v>Landing · cue if p ≥ 0.6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0.286</c:v>
                </c:pt>
                <c:pt idx="1">
                  <c:v>0.146</c:v>
                </c:pt>
                <c:pt idx="2">
                  <c:v>0.233</c:v>
                </c:pt>
                <c:pt idx="3">
                  <c:v>0.135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cue</c:v>
                </c:pt>
              </c:strCache>
            </c:strRef>
          </c:tx>
          <c:spPr>
            <a:solidFill>
              <a:srgbClr val="C9D0D9"/>
            </a:solidFill>
            <a:effectLst/>
          </c:spPr>
          <c:invertIfNegative val="0"/>
          <c:dLbls>
            <c:numFmt formatCode="[&gt;=0.02]0%;\ 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Apex · always cue</c:v>
                  </c:pt>
                  <c:pt idx="1">
                    <c:v>Apex · cue if p ≥ 0.6</c:v>
                  </c:pt>
                  <c:pt idx="2">
                    <c:v>Landing · always cue</c:v>
                  </c:pt>
                  <c:pt idx="3">
                    <c:v>Landing · cue if p ≥ 0.6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0.012</c:v>
                </c:pt>
                <c:pt idx="1">
                  <c:v>0.301</c:v>
                </c:pt>
                <c:pt idx="2">
                  <c:v>0.012</c:v>
                </c:pt>
                <c:pt idx="3">
                  <c:v>0.249</c:v>
                </c:pt>
              </c:numCache>
            </c:numRef>
          </c:val>
        </c:ser>
        <c:dLbls>
          <c:numFmt formatCode="[&gt;=0.02]0%;\ 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10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Answer only when confident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Crossings answered</c:v>
                </c:pt>
              </c:strCache>
            </c:strRef>
          </c:tx>
          <c:spPr>
            <a:solidFill>
              <a:srgbClr val="C9D0D9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</c:v>
                  </c:pt>
                  <c:pt idx="1">
                    <c:v>≥ 0.5</c:v>
                  </c:pt>
                  <c:pt idx="2">
                    <c:v>≥ 0.6</c:v>
                  </c:pt>
                  <c:pt idx="3">
                    <c:v>≥ 0.7</c:v>
                  </c:pt>
                  <c:pt idx="4">
                    <c:v>≥ 0.8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0.94</c:v>
                </c:pt>
                <c:pt idx="2">
                  <c:v>0.79</c:v>
                </c:pt>
                <c:pt idx="3">
                  <c:v>0.67</c:v>
                </c:pt>
                <c:pt idx="4">
                  <c:v>0.46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Accuracy on them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all</c:v>
                  </c:pt>
                  <c:pt idx="1">
                    <c:v>≥ 0.5</c:v>
                  </c:pt>
                  <c:pt idx="2">
                    <c:v>≥ 0.6</c:v>
                  </c:pt>
                  <c:pt idx="3">
                    <c:v>≥ 0.7</c:v>
                  </c:pt>
                  <c:pt idx="4">
                    <c:v>≥ 0.8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0.923</c:v>
                </c:pt>
                <c:pt idx="1">
                  <c:v>0.939</c:v>
                </c:pt>
                <c:pt idx="2">
                  <c:v>0.966</c:v>
                </c:pt>
                <c:pt idx="3">
                  <c:v>0.977</c:v>
                </c:pt>
                <c:pt idx="4">
                  <c:v>0.983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minimum top-class probability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4B556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More training participants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F2A43"/>
            </a:solidFill>
            <a:ln w="38100" cap="flat">
              <a:solidFill>
                <a:srgbClr val="0F2A43"/>
              </a:solidFill>
              <a:prstDash val="solid"/>
              <a:round/>
            </a:ln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F2A43"/>
              </a:solidFill>
              <a:ln w="9525" cap="flat">
                <a:solidFill>
                  <a:srgbClr val="0F2A4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</c:v>
                  </c:pt>
                  <c:pt idx="1">
                    <c:v>3</c:v>
                  </c:pt>
                  <c:pt idx="2">
                    <c:v>4</c:v>
                  </c:pt>
                  <c:pt idx="3">
                    <c:v>5</c:v>
                  </c:pt>
                  <c:pt idx="4">
                    <c:v>6</c:v>
                  </c:pt>
                  <c:pt idx="5">
                    <c:v>7</c:v>
                  </c:pt>
                  <c:pt idx="6">
                    <c:v>8</c:v>
                  </c:pt>
                  <c:pt idx="7">
                    <c:v>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0.885</c:v>
                </c:pt>
                <c:pt idx="1">
                  <c:v>0.891</c:v>
                </c:pt>
                <c:pt idx="2">
                  <c:v>0.903</c:v>
                </c:pt>
                <c:pt idx="3">
                  <c:v>0.904</c:v>
                </c:pt>
                <c:pt idx="4">
                  <c:v>0.904</c:v>
                </c:pt>
                <c:pt idx="5">
                  <c:v>0.914</c:v>
                </c:pt>
                <c:pt idx="6">
                  <c:v>0.914</c:v>
                </c:pt>
                <c:pt idx="7">
                  <c:v>0.923</c:v>
                </c:pt>
              </c:numCache>
            </c:numRef>
          </c:val>
          <c:smooth val="0"/>
        </c:ser>
        <c:dLbls>
          <c:numFmt formatCode="0%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participants in the training set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Accuracy with person scaling vs trailing-foot consistency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Participant</c:v>
                </c:pt>
              </c:strCache>
            </c:strRef>
          </c:tx>
          <c:spPr>
            <a:solidFill>
              <a:srgbClr val="EB6834"/>
            </a:solidFill>
            <a:ln>
              <a:noFill/>
            </a:ln>
            <a:effectLst/>
          </c:spPr>
          <c:marker>
            <c:symbol val="circle"/>
            <c:size val="11"/>
            <c:spPr>
              <a:solidFill>
                <a:srgbClr val="EB6834"/>
              </a:solidFill>
              <a:ln w="9525" cap="flat">
                <a:solidFill>
                  <a:srgbClr val="EB6834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101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6e6-e96f-b87a-1a26a93c947e}"/>
                </c:ext>
              </c:extLst>
            </c:dLbl>
            <c:dLbl>
              <c:idx val="1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102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6e6-e96f-b87a-1a26a93c947e}"/>
                </c:ext>
              </c:extLst>
            </c:dLbl>
            <c:dLbl>
              <c:idx val="2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103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6e6-e96f-b87a-1a26a93c947e}"/>
                </c:ext>
              </c:extLst>
            </c:dLbl>
            <c:dLbl>
              <c:idx val="3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66e6-e96f-b87a-1a26a93c947e}"/>
                </c:ext>
              </c:extLst>
            </c:dLbl>
            <c:dLbl>
              <c:idx val="4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105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6e6-e96f-b87a-1a26a93c947e}"/>
                </c:ext>
              </c:extLst>
            </c:dLbl>
            <c:dLbl>
              <c:idx val="5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/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6e6-e96f-b87a-1a26a93c947e}"/>
                </c:ext>
              </c:extLst>
            </c:dLbl>
            <c:dLbl>
              <c:idx val="6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107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6e6-e96f-b87a-1a26a93c947e}"/>
                </c:ext>
              </c:extLst>
            </c:dLbl>
            <c:dLbl>
              <c:idx val="7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108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66e6-e96f-b87a-1a26a93c947e}"/>
                </c:ext>
              </c:extLst>
            </c:dLbl>
            <c:dLbl>
              <c:idx val="8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109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66e6-e96f-b87a-1a26a93c947e}"/>
                </c:ext>
              </c:extLst>
            </c:dLbl>
            <c:dLbl>
              <c:idx val="9"/>
              <c:tx>
                <c:rich>
                  <a:bodyPr>
                    <a:spAutoFit/>
                  </a:bodyPr>
                  <a:lstStyle/>
                  <a:p>
                    <a:pPr>
                      <a:defRPr/>
                    </a:pPr>
                    <a:r>
                      <a:rPr lang="en-US" dirty="0"/>
                      <a:t>104, 106, 110</a:t>
                    </a:r>
                  </a:p>
                </c:rich>
              </c:tx>
              <c:spPr>
                <a:noFill/>
                <a:ln>
                  <a:noFill/>
                </a:ln>
                <a:effectLst/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  <c:showLeaderLines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66e6-e96f-b87a-1a26a93c947e}"/>
                </c:ext>
              </c:extLst>
            </c:dLbl>
          </c:dLbls>
          <c:xVal>
            <c:numRef>
              <c:f>Sheet1!$A$2:$A$11</c:f>
              <c:numCache>
                <c:formatCode>General</c:formatCode>
                <c:ptCount val="10"/>
                <c:pt idx="0">
                  <c:v>2.1</c:v>
                </c:pt>
                <c:pt idx="1">
                  <c:v>2.7</c:v>
                </c:pt>
                <c:pt idx="2">
                  <c:v>3.6</c:v>
                </c:pt>
                <c:pt idx="3">
                  <c:v>3.2</c:v>
                </c:pt>
                <c:pt idx="4">
                  <c:v>2.2</c:v>
                </c:pt>
                <c:pt idx="5">
                  <c:v>3.4</c:v>
                </c:pt>
                <c:pt idx="6">
                  <c:v>2.5</c:v>
                </c:pt>
                <c:pt idx="7">
                  <c:v>0.9</c:v>
                </c:pt>
                <c:pt idx="8">
                  <c:v>4.5</c:v>
                </c:pt>
                <c:pt idx="9">
                  <c:v>3.4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0.94</c:v>
                </c:pt>
                <c:pt idx="1">
                  <c:v>0.9</c:v>
                </c:pt>
                <c:pt idx="2">
                  <c:v>1</c:v>
                </c:pt>
                <c:pt idx="3">
                  <c:v>0.96</c:v>
                </c:pt>
                <c:pt idx="4">
                  <c:v>0.96</c:v>
                </c:pt>
                <c:pt idx="5">
                  <c:v>0.97</c:v>
                </c:pt>
                <c:pt idx="6">
                  <c:v>0.85</c:v>
                </c:pt>
                <c:pt idx="7">
                  <c:v>0.73</c:v>
                </c:pt>
                <c:pt idx="8">
                  <c:v>0.96</c:v>
                </c:pt>
                <c:pt idx="9">
                  <c:v>0.96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r"/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5"/>
          <c:min val="0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trailing-foot lift consistency, d′ (separation of the three heights)</a:t>
                </a:r>
              </a:p>
            </c:rich>
          </c:tx>
          <c:layout/>
          <c:overlay val="0"/>
        </c:title>
        <c:numFmt formatCode="0%" sourceLinked="1"/>
        <c:majorTickMark val="none"/>
        <c:minorTickMark val="none"/>
        <c:tickLblPos val="nextTo"/>
        <c:spPr>
          <a:ln w="12700" cap="flat">
            <a:solidFill>
              <a:srgbClr val="C3CAD4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.02"/>
          <c:min val="0.6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B5565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B5565"/>
                    </a:solidFill>
                    <a:latin typeface="+mn-lt"/>
                  </a:rPr>
                  <a:t>accuracy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midCat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 of the machine-learning and biomechanics analyses of the obstacle-crossing study (Tests 101-110). All analyses run in MATLAB; reports and figures are in Results/ML Models/MATLAB. Every accuracy is for a participant the model never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findings and one limit. 92 % = two foot IMUs, person scaling, lead and trail models combined (95 % CI 87-96). 0.7 s = median time from the lead-foot apex to the trailing toe-off (683 ms). 86 % = camera-free pipeline (detect, pair, classify); 83.5 % if missed crossings are counted as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260 obstacle crossings had complete IMU and camera data (include_ml); 303 were recorded. Generic model = features scaled only to the person's level walk and leg length. Person scaling = each feature scaled by the person's own median and IQR over their crossings; it uses no height labels. Crossing order was never used as a feature.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1: the biomechanics. These results explain why the models behave as they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Mixed-effects model, random intercept and slope per participant, 260 crossings. Lead foot lift +10.08 mm per cm (9.38-10.78); trailing +11.12 mm per cm (9.66-12.59). Camera safety margin: lead -0.71 mm per cm (p = 0.185), trailing -2.32 mm per cm (p = 0.055): neither significant. Lead thigh +1.19 deg per cm; trailing shank -1.19 deg per cm (heel-up).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 squared = share of the within-person variance explained by obstacle height (left panels) or width (right panels), at each 2 % of the swing (toe-off to heel-strike). Peaks: trailing foot height 0.76 at 20 %, trailing shank tilt 0.66 at 4 %, lead foot height 0.62 at 48 %, lead thigh tilt 0.45 at 62 %. Width stays at or below 0.08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logistic model identifies the participant from the features of one crossing with 99.2 % balanced accuracy (5-fold; chance 10 %). In 99 of the 110 features the person explains more variance than the obstacle height. t-SNE of the 110 features: silhouette by participant 0.48 and by height -0.04 for the raw features; by height 0.26 after person scaling.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margin = the lift predicted by each participant's own dose-response line at the cohort's mean obstacle height. Between-person SD 64 mm (lead) and 76 mm (trailing) against steps of 98 and 105 mm between neighbouring heights (ratios 0.66 and 0.72). Correlation with the level-walk value: 0.43 lead, -0.22 trailing; with leg length 0.20 and 0.04.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45 % of the 303 crossings were led with the dominant leg (lab sheet); the IMU recovers the leading leg in 100 % of crossings. Coupling: correlations of the crossing-to-crossing deviations from each participant x obstacle mean are r = 0.11, -0.12, -0.05 and -0.07 for the pairs tested. First crossing of a new obstacle: +11.7 mm lead lift (CI 4.7-19.9) above the participant x obstacle mean.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2: recognising obstacle height. Three levels, chance 33 %.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results leave-one-participant-out. Generic: 57 summary features of the leading leg, logistic regression, 62.1 %. Clearance-shape features: 13 features of how long and how far the lead foot stays high, apex position and foot tilt at the apex (72.8 %, p = 0.003). Fair nested selection = the setting is chosen inside the training folds only: generic settings 69.4 % (CI 58-80); all 36 settings 91.5 % (CI 86-97). Two foot IMUs with person scaling 92.3 % (CI 87-96). Permutation tests p &lt;= 0.003.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bar is a random forest on one signal only, person scaling, leading or trailing leg. Foot tilt 88.1 / 83.4 %, foot trajectory (ZHC) 84.9 / 84.5 %, thigh tilt 77.4 / 44.2 %, shank tilt 49.8 / 78.2 %, foot acceleration 36.9 / 54.0 % (lead / trail).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Lead-leg data up to x % of its swing, random forest. With person scaling: 52.1 % at lead toe-off, about 78-80 % by the lead-foot apex (median 54 % of the swing, 683 ms before the trailing toe-off), 88.5 % at 70 %, 85.8 % at lead landing (417 ms before). The generic model stays at 40-65 %. Median times over 260 crossings.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Regression: lead + trail vote, person scaling, random forest: mean absolute error 2.37 cm, r = 0.91; rounding to the nearest height gives 85.2 %. CNN: two convolution layers on the six raw swing curves of each leg (51 samples each). Person scaling: 79.9 % lead, 83.1 % trail, 87.7 % combined; width 56.0 %. Generic (level) scaling: 54.4 % for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Width (chance 50 %): generic forest, leading leg 61.0 %; person scaling, leading leg, logistic 64.6 % (p = 0.003); within each height 60.5 %; out-of-plane features only 53.8 %; camera foot placement 57.6 %. Six obstacles (chance 17 %): generic logistic 29.1 %; person scaling, forest, lead + trail 61.2 %.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Camera foot placement relative to the obstacle centre: crossing step (trail toe to lead heel) +37 mm for the 15 cm obstacle, positive in 8 of 10 participants, eta squared 0.02. Width eta squared stays at or below 0.08 in all six swing curves of both legs. Out-of-plane features (sideways tilt and heading of thigh, shank and foot; outward foot path): largest width effect 6 % of the variance; width from these alone 53.4-53.8 %.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3: what a wearable obstacle-cueing device could do with these signals.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 scaling, random forest, lead and trail models combined by soft vote. Thigh pair 80.4 %, shank pair 79.4 %, foot pair 92.3 % (CI 87-96), all six 91.2 % (CI 86-96). One foot IMU: right leg 82.9 %, left leg 90.9 %. The thigh carries the leading-leg information (77 %) and the shank the trailing-leg information (78 %).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Unlabelled = person scaling from n random crossings of the session, tested on the remaining ones. Labelled = physics-informed offset model: a within-person height score (ridge) plus one personal offset estimated from the labelled crossing(s). Alternatives: weighted logistic with one labelled crossing per height 74.6 %; offset from unlabelled crossings by a mixture model 77.0 %. First 5 / 10 / 15 crossings in the blocked order: 60.4 / 66.5 / 67.9 %.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participant's crossings were shuffled 30 times. The device uses the generic model for the first 5 crossings, then person scaling from the crossings walked so far (no labels). Mixed: 71.9, 75.1, 82.9, 87.9, 91.3 % (82.2 % overall). Blocked: 70.0, 46.0, 56.0, 81.2, 90.3 % (69.6 % overall).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7,250 ZVP-to-ZVP strides of both feet; 595 are crossing strides. Detection: random forest on stride features scaled to the person's walking: 98.7 % recall, 97.2 % precision. Pairing: the first foot is the lead. Height: lead and trail forests, soft vote, features scaled to the person's detected crossings. Denominator: 293 crossings with a valid toe-off event (of 303).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Online features up to the lead-foot apex (683 ms before the trailing toe-off) or lead landing (417 ms). Mixed order, person scaling learned causally from earlier crossings. Correct cues after 15 crossings: 75.3 % at the apex, 83.5 % at landing. With p &gt;= 0.6, 79.1 % and 82.0 % of the given cues are right, but 30 % and 25 % of crossings get no cue. Labels below 2 % are hidden (the 1.2 % no-cue shares).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foot IMUs, person scaling, random forest. Left: answer only when the top class probability reaches the threshold; coverage 100, 94, 79, 67, 46 % with accuracy 92.3, 93.9, 96.6, 97.7, 98.3 %. Right: each unseen participant predicted by models trained on n random other participants (10 draws per n): 88.5 % with 2 people to 92.3 % with 9. The remaining errors come from person-to-person differences, which calibration addresses.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d' = separation of the three heights in units of the within-height SD, per participant. Lead d' relates weakly to person-scaled accuracy (r = 0.25). The generic model behaves differently: its accuracy falls with trailing consistency (r = -0.66), because its errors come from how far a person's personal margin is from the group. n = 10, so these correlations are indicative.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Toe clearance: regression of the trailing clearance has a mean absolute error of 85 mm against 84 mm for predicting the mean; r = 0.04; within-person r median 0.28. Near-contact detection: AUC 0.63-0.73 depending on the clearance threshold (0.73 for clearance &lt;= 0 mm, 15 events). Lead features do not predict trailing clearance (r = -0.14). Self-training on the new person: 54.0-67.1 %.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MATLAB and Python implementations of the same models: logistic mean absolute difference 0.0 points (max 0.4), forest 0.9 (max 2.2). Permutation tests shuffle the labels within each participant. The clearance-shape features came from a few biomechanically guided iterations after the first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Take-home messages and next steps. Width cannot be cued from body-worn IMUs; a cueing device would focus on obstacle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2237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72237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7315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Obstacle crossing with wearable IMUs  ·  machine-learning results  ·  n = 10 young adults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12-1.png"/><Relationship Id="rId3" Type="http://schemas.openxmlformats.org/officeDocument/2006/relationships/image" Target="../media/image-12-2.png"/><Relationship Id="rId4" Type="http://schemas.openxmlformats.org/officeDocument/2006/relationships/image" Target="../media/image-12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18-1.png"/><Relationship Id="rId3" Type="http://schemas.openxmlformats.org/officeDocument/2006/relationships/image" Target="../media/image-18-2.png"/><Relationship Id="rId4" Type="http://schemas.openxmlformats.org/officeDocument/2006/relationships/image" Target="../media/image-18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.xml"/><Relationship Id="rId2" Type="http://schemas.openxmlformats.org/officeDocument/2006/relationships/chart" Target="/ppt/charts/chart11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slideLayout" Target="../slideLayouts/slideLayout4.xml"/><Relationship Id="rId1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371600"/>
            <a:ext cx="7223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What wearable IMUs reveal about obstacle crossing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7223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Machine-learning and biomechanics results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10 young adults  ·  Tests 101–110</a:t>
            </a:r>
            <a:endParaRPr lang="en-US" sz="2000" dirty="0"/>
          </a:p>
        </p:txBody>
      </p:sp>
      <p:sp>
        <p:nvSpPr>
          <p:cNvPr id="4" name="presenter"/>
          <p:cNvSpPr txBox="1"/>
          <p:nvPr/>
        </p:nvSpPr>
        <p:spPr>
          <a:xfrm>
            <a:off x="731520" y="525780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Ehsan Sharafian  ·  30 October 2026</a:t>
            </a:r>
            <a:endParaRPr lang="en-US" sz="1400" dirty="0"/>
          </a:p>
        </p:txBody>
      </p:sp>
      <p:sp>
        <p:nvSpPr>
          <p:cNvPr id="5" name="title foot circle"/>
          <p:cNvSpPr/>
          <p:nvPr/>
        </p:nvSpPr>
        <p:spPr>
          <a:xfrm>
            <a:off x="8732520" y="1234440"/>
            <a:ext cx="2560320" cy="25603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title fo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6997" y="1848917"/>
            <a:ext cx="1331366" cy="1331366"/>
          </a:xfrm>
          <a:prstGeom prst="rect">
            <a:avLst/>
          </a:prstGeom>
        </p:spPr>
      </p:pic>
      <p:sp>
        <p:nvSpPr>
          <p:cNvPr id="7" name="title ruler circle"/>
          <p:cNvSpPr/>
          <p:nvPr/>
        </p:nvSpPr>
        <p:spPr>
          <a:xfrm>
            <a:off x="8183880" y="4069080"/>
            <a:ext cx="1280160" cy="12801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8" name="title ruler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118" y="4376318"/>
            <a:ext cx="665683" cy="665683"/>
          </a:xfrm>
          <a:prstGeom prst="rect">
            <a:avLst/>
          </a:prstGeom>
        </p:spPr>
      </p:pic>
      <p:sp>
        <p:nvSpPr>
          <p:cNvPr id="9" name="title watch circle"/>
          <p:cNvSpPr/>
          <p:nvPr/>
        </p:nvSpPr>
        <p:spPr>
          <a:xfrm>
            <a:off x="9829800" y="4389120"/>
            <a:ext cx="960120" cy="9601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0" name="title watch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0229" y="4619549"/>
            <a:ext cx="499262" cy="4992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answer in brief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Obstacle height can be read from two foot IMUs; obstacle width cannot.</a:t>
            </a:r>
            <a:endParaRPr lang="en-US" sz="1800" dirty="0"/>
          </a:p>
        </p:txBody>
      </p:sp>
      <p:sp>
        <p:nvSpPr>
          <p:cNvPr id="4" name="message card 1"/>
          <p:cNvSpPr/>
          <p:nvPr/>
        </p:nvSpPr>
        <p:spPr>
          <a:xfrm>
            <a:off x="548640" y="173736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message 1 circle"/>
          <p:cNvSpPr/>
          <p:nvPr/>
        </p:nvSpPr>
        <p:spPr>
          <a:xfrm>
            <a:off x="822960" y="201168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messag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176272"/>
            <a:ext cx="356616" cy="356616"/>
          </a:xfrm>
          <a:prstGeom prst="rect">
            <a:avLst/>
          </a:prstGeom>
        </p:spPr>
      </p:pic>
      <p:sp>
        <p:nvSpPr>
          <p:cNvPr id="7" name="message 1 value"/>
          <p:cNvSpPr txBox="1"/>
          <p:nvPr/>
        </p:nvSpPr>
        <p:spPr>
          <a:xfrm>
            <a:off x="822960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92 %</a:t>
            </a:r>
            <a:endParaRPr lang="en-US" sz="4000" dirty="0"/>
          </a:p>
        </p:txBody>
      </p:sp>
      <p:sp>
        <p:nvSpPr>
          <p:cNvPr id="8" name="message 1 label"/>
          <p:cNvSpPr txBox="1"/>
          <p:nvPr/>
        </p:nvSpPr>
        <p:spPr>
          <a:xfrm>
            <a:off x="822960" y="354787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obstacle height (3 levels) recognised on a new person once scaled to their crossings</a:t>
            </a:r>
            <a:endParaRPr lang="en-US" sz="1400" dirty="0"/>
          </a:p>
        </p:txBody>
      </p:sp>
      <p:sp>
        <p:nvSpPr>
          <p:cNvPr id="9" name="message card 2"/>
          <p:cNvSpPr/>
          <p:nvPr/>
        </p:nvSpPr>
        <p:spPr>
          <a:xfrm>
            <a:off x="3392424" y="173736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message 2 circle"/>
          <p:cNvSpPr/>
          <p:nvPr/>
        </p:nvSpPr>
        <p:spPr>
          <a:xfrm>
            <a:off x="3666744" y="20116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messag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176272"/>
            <a:ext cx="356616" cy="356616"/>
          </a:xfrm>
          <a:prstGeom prst="rect">
            <a:avLst/>
          </a:prstGeom>
        </p:spPr>
      </p:pic>
      <p:sp>
        <p:nvSpPr>
          <p:cNvPr id="12" name="message 2 value"/>
          <p:cNvSpPr txBox="1"/>
          <p:nvPr/>
        </p:nvSpPr>
        <p:spPr>
          <a:xfrm>
            <a:off x="3666744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+10 mm</a:t>
            </a:r>
            <a:endParaRPr lang="en-US" sz="4000" dirty="0"/>
          </a:p>
        </p:txBody>
      </p:sp>
      <p:sp>
        <p:nvSpPr>
          <p:cNvPr id="13" name="message 2 label"/>
          <p:cNvSpPr txBox="1"/>
          <p:nvPr/>
        </p:nvSpPr>
        <p:spPr>
          <a:xfrm>
            <a:off x="3666744" y="354787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foot lift per cm of obstacle; the safety margin stays constant</a:t>
            </a:r>
            <a:endParaRPr lang="en-US" sz="1400" dirty="0"/>
          </a:p>
        </p:txBody>
      </p:sp>
      <p:sp>
        <p:nvSpPr>
          <p:cNvPr id="14" name="message card 3"/>
          <p:cNvSpPr/>
          <p:nvPr/>
        </p:nvSpPr>
        <p:spPr>
          <a:xfrm>
            <a:off x="6236208" y="173736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message 3 circle"/>
          <p:cNvSpPr/>
          <p:nvPr/>
        </p:nvSpPr>
        <p:spPr>
          <a:xfrm>
            <a:off x="6510528" y="2011680"/>
            <a:ext cx="685800" cy="6858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messag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176272"/>
            <a:ext cx="356616" cy="356616"/>
          </a:xfrm>
          <a:prstGeom prst="rect">
            <a:avLst/>
          </a:prstGeom>
        </p:spPr>
      </p:pic>
      <p:sp>
        <p:nvSpPr>
          <p:cNvPr id="17" name="message 3 value"/>
          <p:cNvSpPr txBox="1"/>
          <p:nvPr/>
        </p:nvSpPr>
        <p:spPr>
          <a:xfrm>
            <a:off x="6510528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0.7 s</a:t>
            </a:r>
            <a:endParaRPr lang="en-US" sz="4000" dirty="0"/>
          </a:p>
        </p:txBody>
      </p:sp>
      <p:sp>
        <p:nvSpPr>
          <p:cNvPr id="18" name="message 3 label"/>
          <p:cNvSpPr txBox="1"/>
          <p:nvPr/>
        </p:nvSpPr>
        <p:spPr>
          <a:xfrm>
            <a:off x="6510528" y="354787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time: height is ~80 % known at the lead-foot apex, before the trailing foot lifts</a:t>
            </a:r>
            <a:endParaRPr lang="en-US" sz="1400" dirty="0"/>
          </a:p>
        </p:txBody>
      </p:sp>
      <p:sp>
        <p:nvSpPr>
          <p:cNvPr id="19" name="message card 4"/>
          <p:cNvSpPr/>
          <p:nvPr/>
        </p:nvSpPr>
        <p:spPr>
          <a:xfrm>
            <a:off x="9079992" y="1737360"/>
            <a:ext cx="2560320" cy="315468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0" name="message 4 circle"/>
          <p:cNvSpPr/>
          <p:nvPr/>
        </p:nvSpPr>
        <p:spPr>
          <a:xfrm>
            <a:off x="9354312" y="20116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1" name="messag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8904" y="2176272"/>
            <a:ext cx="356616" cy="356616"/>
          </a:xfrm>
          <a:prstGeom prst="rect">
            <a:avLst/>
          </a:prstGeom>
        </p:spPr>
      </p:pic>
      <p:sp>
        <p:nvSpPr>
          <p:cNvPr id="22" name="message 4 value"/>
          <p:cNvSpPr txBox="1"/>
          <p:nvPr/>
        </p:nvSpPr>
        <p:spPr>
          <a:xfrm>
            <a:off x="9354312" y="283464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86 %</a:t>
            </a:r>
            <a:endParaRPr lang="en-US" sz="4000" dirty="0"/>
          </a:p>
        </p:txBody>
      </p:sp>
      <p:sp>
        <p:nvSpPr>
          <p:cNvPr id="23" name="message 4 label"/>
          <p:cNvSpPr txBox="1"/>
          <p:nvPr/>
        </p:nvSpPr>
        <p:spPr>
          <a:xfrm>
            <a:off x="9354312" y="354787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end to end without a camera: crossing found, legs paired, height correct</a:t>
            </a:r>
            <a:endParaRPr lang="en-US" sz="1400" dirty="0"/>
          </a:p>
        </p:txBody>
      </p:sp>
      <p:sp>
        <p:nvSpPr>
          <p:cNvPr id="24" name="limit band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5" name="limit circle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6" name="limit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5502859"/>
            <a:ext cx="332842" cy="332842"/>
          </a:xfrm>
          <a:prstGeom prst="rect">
            <a:avLst/>
          </a:prstGeom>
        </p:spPr>
      </p:pic>
      <p:sp>
        <p:nvSpPr>
          <p:cNvPr id="27" name="limit text"/>
          <p:cNvSpPr txBox="1"/>
          <p:nvPr/>
        </p:nvSpPr>
        <p:spPr>
          <a:xfrm>
            <a:off x="1691640" y="5166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Limits: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obstacle width (5 vs 15 cm) is barely recognisable (best 65 %, chance 50 %) because people cross both widths alike, and the toe-clearance margin cannot be estimated.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Study design and evaluation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Every accuracy in this deck is for a participant the model never saw in training.</a:t>
            </a:r>
            <a:endParaRPr lang="en-US" sz="1800" dirty="0"/>
          </a:p>
        </p:txBody>
      </p:sp>
      <p:sp>
        <p:nvSpPr>
          <p:cNvPr id="4" name="study 1 circle"/>
          <p:cNvSpPr/>
          <p:nvPr/>
        </p:nvSpPr>
        <p:spPr>
          <a:xfrm>
            <a:off x="548640" y="17373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ud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873423"/>
            <a:ext cx="294803" cy="294803"/>
          </a:xfrm>
          <a:prstGeom prst="rect">
            <a:avLst/>
          </a:prstGeom>
        </p:spPr>
      </p:pic>
      <p:sp>
        <p:nvSpPr>
          <p:cNvPr id="6" name="study text 1"/>
          <p:cNvSpPr txBox="1"/>
          <p:nvPr/>
        </p:nvSpPr>
        <p:spPr>
          <a:xfrm>
            <a:off x="1298448" y="171907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10 young adults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260 obstacle crossings used for ML (303 recorded), about 5 per obstacle</a:t>
            </a:r>
            <a:endParaRPr lang="en-US" sz="1600" dirty="0"/>
          </a:p>
        </p:txBody>
      </p:sp>
      <p:sp>
        <p:nvSpPr>
          <p:cNvPr id="7" name="study 2 circle"/>
          <p:cNvSpPr/>
          <p:nvPr/>
        </p:nvSpPr>
        <p:spPr>
          <a:xfrm>
            <a:off x="548640" y="2670048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stud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03" y="2806111"/>
            <a:ext cx="294803" cy="294803"/>
          </a:xfrm>
          <a:prstGeom prst="rect">
            <a:avLst/>
          </a:prstGeom>
        </p:spPr>
      </p:pic>
      <p:sp>
        <p:nvSpPr>
          <p:cNvPr id="9" name="study text 2"/>
          <p:cNvSpPr txBox="1"/>
          <p:nvPr/>
        </p:nvSpPr>
        <p:spPr>
          <a:xfrm>
            <a:off x="1298448" y="26517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 Movella Dot IMUs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thigh, shank and foot of both legs; camera motion capture as the reference</a:t>
            </a:r>
            <a:endParaRPr lang="en-US" sz="1600" dirty="0"/>
          </a:p>
        </p:txBody>
      </p:sp>
      <p:sp>
        <p:nvSpPr>
          <p:cNvPr id="10" name="study 3 circle"/>
          <p:cNvSpPr/>
          <p:nvPr/>
        </p:nvSpPr>
        <p:spPr>
          <a:xfrm>
            <a:off x="548640" y="3602736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ud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03" y="3738799"/>
            <a:ext cx="294803" cy="294803"/>
          </a:xfrm>
          <a:prstGeom prst="rect">
            <a:avLst/>
          </a:prstGeom>
        </p:spPr>
      </p:pic>
      <p:sp>
        <p:nvSpPr>
          <p:cNvPr id="12" name="study text 3"/>
          <p:cNvSpPr txBox="1"/>
          <p:nvPr/>
        </p:nvSpPr>
        <p:spPr>
          <a:xfrm>
            <a:off x="1298448" y="3584448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6 obstacles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3 heights (10 / 20 / 30 % of leg length) × 2 widths (5 / 15 cm)</a:t>
            </a:r>
            <a:endParaRPr lang="en-US" sz="1600" dirty="0"/>
          </a:p>
        </p:txBody>
      </p:sp>
      <p:sp>
        <p:nvSpPr>
          <p:cNvPr id="13" name="ground"/>
          <p:cNvSpPr/>
          <p:nvPr/>
        </p:nvSpPr>
        <p:spPr>
          <a:xfrm>
            <a:off x="685800" y="5870448"/>
            <a:ext cx="502920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</a:ln>
        </p:spPr>
      </p:sp>
      <p:sp>
        <p:nvSpPr>
          <p:cNvPr id="14" name="width label 1"/>
          <p:cNvSpPr txBox="1"/>
          <p:nvPr/>
        </p:nvSpPr>
        <p:spPr>
          <a:xfrm>
            <a:off x="91440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width 5 cm</a:t>
            </a:r>
            <a:endParaRPr lang="en-US" sz="1200" dirty="0"/>
          </a:p>
        </p:txBody>
      </p:sp>
      <p:sp>
        <p:nvSpPr>
          <p:cNvPr id="15" name="obstacle 1-1"/>
          <p:cNvSpPr/>
          <p:nvPr/>
        </p:nvSpPr>
        <p:spPr>
          <a:xfrm>
            <a:off x="1051560" y="5596128"/>
            <a:ext cx="137160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6" name="height label 1-1"/>
          <p:cNvSpPr txBox="1"/>
          <p:nvPr/>
        </p:nvSpPr>
        <p:spPr>
          <a:xfrm>
            <a:off x="80010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10 %</a:t>
            </a:r>
            <a:endParaRPr lang="en-US" sz="1200" dirty="0"/>
          </a:p>
        </p:txBody>
      </p:sp>
      <p:sp>
        <p:nvSpPr>
          <p:cNvPr id="17" name="obstacle 1-2"/>
          <p:cNvSpPr/>
          <p:nvPr/>
        </p:nvSpPr>
        <p:spPr>
          <a:xfrm>
            <a:off x="1783080" y="5321808"/>
            <a:ext cx="137160" cy="548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8" name="height label 1-2"/>
          <p:cNvSpPr txBox="1"/>
          <p:nvPr/>
        </p:nvSpPr>
        <p:spPr>
          <a:xfrm>
            <a:off x="153162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20 %</a:t>
            </a:r>
            <a:endParaRPr lang="en-US" sz="1200" dirty="0"/>
          </a:p>
        </p:txBody>
      </p:sp>
      <p:sp>
        <p:nvSpPr>
          <p:cNvPr id="19" name="obstacle 1-3"/>
          <p:cNvSpPr/>
          <p:nvPr/>
        </p:nvSpPr>
        <p:spPr>
          <a:xfrm>
            <a:off x="2514600" y="5047488"/>
            <a:ext cx="13716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0" name="height label 1-3"/>
          <p:cNvSpPr txBox="1"/>
          <p:nvPr/>
        </p:nvSpPr>
        <p:spPr>
          <a:xfrm>
            <a:off x="226314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30 %</a:t>
            </a:r>
            <a:endParaRPr lang="en-US" sz="1200" dirty="0"/>
          </a:p>
        </p:txBody>
      </p:sp>
      <p:sp>
        <p:nvSpPr>
          <p:cNvPr id="21" name="width label 2"/>
          <p:cNvSpPr txBox="1"/>
          <p:nvPr/>
        </p:nvSpPr>
        <p:spPr>
          <a:xfrm>
            <a:off x="3200400" y="4681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width 15 cm</a:t>
            </a:r>
            <a:endParaRPr lang="en-US" sz="1200" dirty="0"/>
          </a:p>
        </p:txBody>
      </p:sp>
      <p:sp>
        <p:nvSpPr>
          <p:cNvPr id="22" name="obstacle 2-1"/>
          <p:cNvSpPr/>
          <p:nvPr/>
        </p:nvSpPr>
        <p:spPr>
          <a:xfrm>
            <a:off x="3337560" y="5596128"/>
            <a:ext cx="411480" cy="27432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height label 2-1"/>
          <p:cNvSpPr txBox="1"/>
          <p:nvPr/>
        </p:nvSpPr>
        <p:spPr>
          <a:xfrm>
            <a:off x="322326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10 %</a:t>
            </a:r>
            <a:endParaRPr lang="en-US" sz="1200" dirty="0"/>
          </a:p>
        </p:txBody>
      </p:sp>
      <p:sp>
        <p:nvSpPr>
          <p:cNvPr id="24" name="obstacle 2-2"/>
          <p:cNvSpPr/>
          <p:nvPr/>
        </p:nvSpPr>
        <p:spPr>
          <a:xfrm>
            <a:off x="4069080" y="5321808"/>
            <a:ext cx="411480" cy="5486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5" name="height label 2-2"/>
          <p:cNvSpPr txBox="1"/>
          <p:nvPr/>
        </p:nvSpPr>
        <p:spPr>
          <a:xfrm>
            <a:off x="395478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20 %</a:t>
            </a:r>
            <a:endParaRPr lang="en-US" sz="1200" dirty="0"/>
          </a:p>
        </p:txBody>
      </p:sp>
      <p:sp>
        <p:nvSpPr>
          <p:cNvPr id="26" name="obstacle 2-3"/>
          <p:cNvSpPr/>
          <p:nvPr/>
        </p:nvSpPr>
        <p:spPr>
          <a:xfrm>
            <a:off x="4800600" y="5047488"/>
            <a:ext cx="411480" cy="82296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7" name="height label 2-3"/>
          <p:cNvSpPr txBox="1"/>
          <p:nvPr/>
        </p:nvSpPr>
        <p:spPr>
          <a:xfrm>
            <a:off x="4686300" y="591616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30 %</a:t>
            </a:r>
            <a:endParaRPr lang="en-US" sz="1200" dirty="0"/>
          </a:p>
        </p:txBody>
      </p:sp>
      <p:sp>
        <p:nvSpPr>
          <p:cNvPr id="28" name="evaluation card"/>
          <p:cNvSpPr/>
          <p:nvPr/>
        </p:nvSpPr>
        <p:spPr>
          <a:xfrm>
            <a:off x="6172200" y="1783080"/>
            <a:ext cx="5468112" cy="438912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/>
        </p:spPr>
      </p:sp>
      <p:sp>
        <p:nvSpPr>
          <p:cNvPr id="29" name="evaluation header"/>
          <p:cNvSpPr txBox="1"/>
          <p:nvPr/>
        </p:nvSpPr>
        <p:spPr>
          <a:xfrm>
            <a:off x="64465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How the models were tested</a:t>
            </a:r>
            <a:endParaRPr lang="en-US" sz="2000" dirty="0"/>
          </a:p>
        </p:txBody>
      </p:sp>
      <p:sp>
        <p:nvSpPr>
          <p:cNvPr id="30" name="evaluation 1 circle"/>
          <p:cNvSpPr/>
          <p:nvPr/>
        </p:nvSpPr>
        <p:spPr>
          <a:xfrm>
            <a:off x="6446520" y="2542032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evaluation 1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2634204"/>
            <a:ext cx="199705" cy="199705"/>
          </a:xfrm>
          <a:prstGeom prst="rect">
            <a:avLst/>
          </a:prstGeom>
        </p:spPr>
      </p:pic>
      <p:sp>
        <p:nvSpPr>
          <p:cNvPr id="32" name="evaluation text 1"/>
          <p:cNvSpPr txBox="1"/>
          <p:nvPr/>
        </p:nvSpPr>
        <p:spPr>
          <a:xfrm>
            <a:off x="6995160" y="251460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Leave-one-participant-out: train on 9 people, test on the 10th, for all 10</a:t>
            </a:r>
            <a:endParaRPr lang="en-US" sz="1400" dirty="0"/>
          </a:p>
        </p:txBody>
      </p:sp>
      <p:sp>
        <p:nvSpPr>
          <p:cNvPr id="33" name="evaluation 2 circle"/>
          <p:cNvSpPr/>
          <p:nvPr/>
        </p:nvSpPr>
        <p:spPr>
          <a:xfrm>
            <a:off x="644652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4" name="evaluation 2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8692" y="3338292"/>
            <a:ext cx="199705" cy="199705"/>
          </a:xfrm>
          <a:prstGeom prst="rect">
            <a:avLst/>
          </a:prstGeom>
        </p:spPr>
      </p:pic>
      <p:sp>
        <p:nvSpPr>
          <p:cNvPr id="35" name="evaluation text 2"/>
          <p:cNvSpPr txBox="1"/>
          <p:nvPr/>
        </p:nvSpPr>
        <p:spPr>
          <a:xfrm>
            <a:off x="6995160" y="3218688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Balanced accuracy; chance 33 % (height), 50 % (width), 17 % (6 obstacles)</a:t>
            </a:r>
            <a:endParaRPr lang="en-US" sz="1400" dirty="0"/>
          </a:p>
        </p:txBody>
      </p:sp>
      <p:sp>
        <p:nvSpPr>
          <p:cNvPr id="36" name="evaluation 3 circle"/>
          <p:cNvSpPr/>
          <p:nvPr/>
        </p:nvSpPr>
        <p:spPr>
          <a:xfrm>
            <a:off x="6446520" y="3950208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7" name="evaluation 3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692" y="4042380"/>
            <a:ext cx="199705" cy="199705"/>
          </a:xfrm>
          <a:prstGeom prst="rect">
            <a:avLst/>
          </a:prstGeom>
        </p:spPr>
      </p:pic>
      <p:sp>
        <p:nvSpPr>
          <p:cNvPr id="38" name="evaluation text 3"/>
          <p:cNvSpPr txBox="1"/>
          <p:nvPr/>
        </p:nvSpPr>
        <p:spPr>
          <a:xfrm>
            <a:off x="6995160" y="3922776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95 % CI by participant bootstrap; permutation tests shuffle labels within each person</a:t>
            </a:r>
            <a:endParaRPr lang="en-US" sz="1400" dirty="0"/>
          </a:p>
        </p:txBody>
      </p:sp>
      <p:sp>
        <p:nvSpPr>
          <p:cNvPr id="39" name="evaluation 4 circle"/>
          <p:cNvSpPr/>
          <p:nvPr/>
        </p:nvSpPr>
        <p:spPr>
          <a:xfrm>
            <a:off x="6446520" y="4654296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evaluation 4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8692" y="4746468"/>
            <a:ext cx="199705" cy="199705"/>
          </a:xfrm>
          <a:prstGeom prst="rect">
            <a:avLst/>
          </a:prstGeom>
        </p:spPr>
      </p:pic>
      <p:sp>
        <p:nvSpPr>
          <p:cNvPr id="41" name="evaluation text 4"/>
          <p:cNvSpPr txBox="1"/>
          <p:nvPr/>
        </p:nvSpPr>
        <p:spPr>
          <a:xfrm>
            <a:off x="6995160" y="4626864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Leading and trailing legs modelled separately, then combined by soft vote</a:t>
            </a:r>
            <a:endParaRPr lang="en-US" sz="1400" dirty="0"/>
          </a:p>
        </p:txBody>
      </p:sp>
      <p:sp>
        <p:nvSpPr>
          <p:cNvPr id="42" name="evaluation 5 circle"/>
          <p:cNvSpPr/>
          <p:nvPr/>
        </p:nvSpPr>
        <p:spPr>
          <a:xfrm>
            <a:off x="6446520" y="5358384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3" name="evaluation 5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8692" y="5450556"/>
            <a:ext cx="199705" cy="199705"/>
          </a:xfrm>
          <a:prstGeom prst="rect">
            <a:avLst/>
          </a:prstGeom>
        </p:spPr>
      </p:pic>
      <p:sp>
        <p:nvSpPr>
          <p:cNvPr id="44" name="evaluation text 5"/>
          <p:cNvSpPr txBox="1"/>
          <p:nvPr/>
        </p:nvSpPr>
        <p:spPr>
          <a:xfrm>
            <a:off x="6995160" y="5330952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 scaling: each feature scaled by the person's own crossings (median / IQR, no labels)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How people cross an obstacle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How the crossing scales with obstacle height, where the information sits, and what makes each person different</a:t>
            </a:r>
            <a:endParaRPr lang="en-US" sz="20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73152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5" name="section circle"/>
          <p:cNvSpPr/>
          <p:nvPr/>
        </p:nvSpPr>
        <p:spPr>
          <a:xfrm>
            <a:off x="8915400" y="2011680"/>
            <a:ext cx="2468880" cy="24688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931" y="2604211"/>
            <a:ext cx="1283818" cy="12838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Foot lift scales 1:1 with obstacle height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People raise each foot by about the obstacle height and keep their safety margin constant.</a:t>
            </a:r>
            <a:endParaRPr lang="en-US" sz="1800" dirty="0"/>
          </a:p>
        </p:txBody>
      </p:sp>
      <p:pic>
        <p:nvPicPr>
          <p:cNvPr id="4" name="dose-response figure" descr="Foot lift against obstacle height for the leading and trailing foot, one line per participa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858000" cy="3553630"/>
          </a:xfrm>
          <a:prstGeom prst="rect">
            <a:avLst/>
          </a:prstGeom>
        </p:spPr>
      </p:pic>
      <p:sp>
        <p:nvSpPr>
          <p:cNvPr id="5" name="figure caption"/>
          <p:cNvSpPr txBox="1"/>
          <p:nvPr/>
        </p:nvSpPr>
        <p:spPr>
          <a:xfrm>
            <a:off x="548640" y="5321808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One line per participant; slopes from a mixed model (random intercept and slope per person).</a:t>
            </a:r>
            <a:endParaRPr lang="en-US" sz="1200" dirty="0"/>
          </a:p>
        </p:txBody>
      </p:sp>
      <p:sp>
        <p:nvSpPr>
          <p:cNvPr id="6" name="mechanism"/>
          <p:cNvSpPr txBox="1"/>
          <p:nvPr/>
        </p:nvSpPr>
        <p:spPr>
          <a:xfrm>
            <a:off x="548640" y="578815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Mechanism: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thigh flexion +1.2° per cm; trailing heel-up (shank tilt −1.2° per cm).</a:t>
            </a:r>
            <a:endParaRPr lang="en-US" sz="1400" dirty="0"/>
          </a:p>
        </p:txBody>
      </p:sp>
      <p:sp>
        <p:nvSpPr>
          <p:cNvPr id="7" name="lead slope value"/>
          <p:cNvSpPr txBox="1"/>
          <p:nvPr/>
        </p:nvSpPr>
        <p:spPr>
          <a:xfrm>
            <a:off x="7818120" y="169164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+10.1 mm</a:t>
            </a:r>
            <a:endParaRPr lang="en-US" sz="4000" dirty="0"/>
          </a:p>
        </p:txBody>
      </p:sp>
      <p:sp>
        <p:nvSpPr>
          <p:cNvPr id="8" name="lead slope label"/>
          <p:cNvSpPr txBox="1"/>
          <p:nvPr/>
        </p:nvSpPr>
        <p:spPr>
          <a:xfrm>
            <a:off x="7818120" y="240487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lead foot lift per cm of obstacle (95 % CI 9.4–10.8)</a:t>
            </a:r>
            <a:endParaRPr lang="en-US" sz="1400" dirty="0"/>
          </a:p>
        </p:txBody>
      </p:sp>
      <p:sp>
        <p:nvSpPr>
          <p:cNvPr id="9" name="trail slope value"/>
          <p:cNvSpPr txBox="1"/>
          <p:nvPr/>
        </p:nvSpPr>
        <p:spPr>
          <a:xfrm>
            <a:off x="7818120" y="301752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+11.1 mm</a:t>
            </a:r>
            <a:endParaRPr lang="en-US" sz="4000" dirty="0"/>
          </a:p>
        </p:txBody>
      </p:sp>
      <p:sp>
        <p:nvSpPr>
          <p:cNvPr id="10" name="trail slope label"/>
          <p:cNvSpPr txBox="1"/>
          <p:nvPr/>
        </p:nvSpPr>
        <p:spPr>
          <a:xfrm>
            <a:off x="7818120" y="3730752"/>
            <a:ext cx="3822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trailing foot lift per cm (CI 9.7–12.6)</a:t>
            </a:r>
            <a:endParaRPr lang="en-US" sz="1400" dirty="0"/>
          </a:p>
        </p:txBody>
      </p:sp>
      <p:sp>
        <p:nvSpPr>
          <p:cNvPr id="11" name="margin slope value"/>
          <p:cNvSpPr txBox="1"/>
          <p:nvPr/>
        </p:nvSpPr>
        <p:spPr>
          <a:xfrm>
            <a:off x="7818120" y="4343400"/>
            <a:ext cx="3822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−0.7 mm</a:t>
            </a:r>
            <a:endParaRPr lang="en-US" sz="4000" dirty="0"/>
          </a:p>
        </p:txBody>
      </p:sp>
      <p:sp>
        <p:nvSpPr>
          <p:cNvPr id="12" name="margin slope label"/>
          <p:cNvSpPr txBox="1"/>
          <p:nvPr/>
        </p:nvSpPr>
        <p:spPr>
          <a:xfrm>
            <a:off x="7818120" y="5056632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change in the lead safety margin per cm: not significant (CI −1.8 to +0.4); trailing −2.3 mm, n.s.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Height is encoded mid-swing; width is not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Share of within-person variance explained by the obstacle (eta²) at each moment of the swing.</a:t>
            </a:r>
            <a:endParaRPr lang="en-US" sz="1800" dirty="0"/>
          </a:p>
        </p:txBody>
      </p:sp>
      <p:pic>
        <p:nvPicPr>
          <p:cNvPr id="4" name="eta squared heat map" descr="Heat maps of eta squared over the swing for six signals, lead and trailing limb, height and widt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8229600" cy="3376725"/>
          </a:xfrm>
          <a:prstGeom prst="rect">
            <a:avLst/>
          </a:prstGeom>
        </p:spPr>
      </p:pic>
      <p:sp>
        <p:nvSpPr>
          <p:cNvPr id="5" name="width band"/>
          <p:cNvSpPr/>
          <p:nvPr/>
        </p:nvSpPr>
        <p:spPr>
          <a:xfrm>
            <a:off x="548640" y="5303520"/>
            <a:ext cx="822960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/>
        </p:spPr>
      </p:sp>
      <p:sp>
        <p:nvSpPr>
          <p:cNvPr id="6" name="width circle"/>
          <p:cNvSpPr/>
          <p:nvPr/>
        </p:nvSpPr>
        <p:spPr>
          <a:xfrm>
            <a:off x="777240" y="5468112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7" name="width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914" y="5599786"/>
            <a:ext cx="285293" cy="285293"/>
          </a:xfrm>
          <a:prstGeom prst="rect">
            <a:avLst/>
          </a:prstGeom>
        </p:spPr>
      </p:pic>
      <p:sp>
        <p:nvSpPr>
          <p:cNvPr id="8" name="width text"/>
          <p:cNvSpPr txBox="1"/>
          <p:nvPr/>
        </p:nvSpPr>
        <p:spPr>
          <a:xfrm>
            <a:off x="1508760" y="5303520"/>
            <a:ext cx="7086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Width: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eta² ≤ 0.08 in every signal at every moment (right panels); the crossing barely changes with width.</a:t>
            </a:r>
            <a:endParaRPr lang="en-US" sz="1400" dirty="0"/>
          </a:p>
        </p:txBody>
      </p:sp>
      <p:sp>
        <p:nvSpPr>
          <p:cNvPr id="9" name="eta 1 value"/>
          <p:cNvSpPr txBox="1"/>
          <p:nvPr/>
        </p:nvSpPr>
        <p:spPr>
          <a:xfrm>
            <a:off x="9098280" y="16916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0.62</a:t>
            </a:r>
            <a:endParaRPr lang="en-US" sz="3000" dirty="0"/>
          </a:p>
        </p:txBody>
      </p:sp>
      <p:sp>
        <p:nvSpPr>
          <p:cNvPr id="10" name="eta 1 label"/>
          <p:cNvSpPr txBox="1"/>
          <p:nvPr/>
        </p:nvSpPr>
        <p:spPr>
          <a:xfrm>
            <a:off x="9098280" y="220370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 foot height around the apex (48 %)</a:t>
            </a:r>
            <a:endParaRPr lang="en-US" sz="1200" dirty="0"/>
          </a:p>
        </p:txBody>
      </p:sp>
      <p:sp>
        <p:nvSpPr>
          <p:cNvPr id="11" name="eta 2 value"/>
          <p:cNvSpPr txBox="1"/>
          <p:nvPr/>
        </p:nvSpPr>
        <p:spPr>
          <a:xfrm>
            <a:off x="9098280" y="28072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0.45</a:t>
            </a:r>
            <a:endParaRPr lang="en-US" sz="3000" dirty="0"/>
          </a:p>
        </p:txBody>
      </p:sp>
      <p:sp>
        <p:nvSpPr>
          <p:cNvPr id="12" name="eta 2 label"/>
          <p:cNvSpPr txBox="1"/>
          <p:nvPr/>
        </p:nvSpPr>
        <p:spPr>
          <a:xfrm>
            <a:off x="9098280" y="3319272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lead thigh tilt (62 % of swing)</a:t>
            </a:r>
            <a:endParaRPr lang="en-US" sz="1200" dirty="0"/>
          </a:p>
        </p:txBody>
      </p:sp>
      <p:sp>
        <p:nvSpPr>
          <p:cNvPr id="13" name="eta 3 value"/>
          <p:cNvSpPr txBox="1"/>
          <p:nvPr/>
        </p:nvSpPr>
        <p:spPr>
          <a:xfrm>
            <a:off x="9098280" y="3922776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0.76</a:t>
            </a:r>
            <a:endParaRPr lang="en-US" sz="3000" dirty="0"/>
          </a:p>
        </p:txBody>
      </p:sp>
      <p:sp>
        <p:nvSpPr>
          <p:cNvPr id="14" name="eta 3 label"/>
          <p:cNvSpPr txBox="1"/>
          <p:nvPr/>
        </p:nvSpPr>
        <p:spPr>
          <a:xfrm>
            <a:off x="9098280" y="443484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trailing foot height, early swing (20 %)</a:t>
            </a:r>
            <a:endParaRPr lang="en-US" sz="1200" dirty="0"/>
          </a:p>
        </p:txBody>
      </p:sp>
      <p:sp>
        <p:nvSpPr>
          <p:cNvPr id="15" name="eta 4 value"/>
          <p:cNvSpPr txBox="1"/>
          <p:nvPr/>
        </p:nvSpPr>
        <p:spPr>
          <a:xfrm>
            <a:off x="9098280" y="50383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0.66</a:t>
            </a:r>
            <a:endParaRPr lang="en-US" sz="3000" dirty="0"/>
          </a:p>
        </p:txBody>
      </p:sp>
      <p:sp>
        <p:nvSpPr>
          <p:cNvPr id="16" name="eta 4 label"/>
          <p:cNvSpPr txBox="1"/>
          <p:nvPr/>
        </p:nvSpPr>
        <p:spPr>
          <a:xfrm>
            <a:off x="9098280" y="555040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trailing shank tilt at push-off (4 %)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Every walker has a strong signature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Raw crossings cluster by person; only after person scaling do they order by obstacle height.</a:t>
            </a:r>
            <a:endParaRPr lang="en-US" sz="1800" dirty="0"/>
          </a:p>
        </p:txBody>
      </p:sp>
      <p:sp>
        <p:nvSpPr>
          <p:cNvPr id="4" name="signature 1 circle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ign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1919143"/>
            <a:ext cx="294803" cy="294803"/>
          </a:xfrm>
          <a:prstGeom prst="rect">
            <a:avLst/>
          </a:prstGeom>
        </p:spPr>
      </p:pic>
      <p:sp>
        <p:nvSpPr>
          <p:cNvPr id="6" name="signature 1 value"/>
          <p:cNvSpPr txBox="1"/>
          <p:nvPr/>
        </p:nvSpPr>
        <p:spPr>
          <a:xfrm>
            <a:off x="1280160" y="1627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99.2 %</a:t>
            </a:r>
            <a:endParaRPr lang="en-US" sz="3200" dirty="0"/>
          </a:p>
        </p:txBody>
      </p:sp>
      <p:sp>
        <p:nvSpPr>
          <p:cNvPr id="7" name="signature 1 label"/>
          <p:cNvSpPr txBox="1"/>
          <p:nvPr/>
        </p:nvSpPr>
        <p:spPr>
          <a:xfrm>
            <a:off x="1280160" y="22311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crossings matched to the right person from one crossing (chance 10 %)</a:t>
            </a:r>
            <a:endParaRPr lang="en-US" sz="1400" dirty="0"/>
          </a:p>
        </p:txBody>
      </p:sp>
      <p:sp>
        <p:nvSpPr>
          <p:cNvPr id="8" name="signature 2 circle"/>
          <p:cNvSpPr/>
          <p:nvPr/>
        </p:nvSpPr>
        <p:spPr>
          <a:xfrm>
            <a:off x="4357116" y="1783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sign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3179" y="1919143"/>
            <a:ext cx="294803" cy="294803"/>
          </a:xfrm>
          <a:prstGeom prst="rect">
            <a:avLst/>
          </a:prstGeom>
        </p:spPr>
      </p:pic>
      <p:sp>
        <p:nvSpPr>
          <p:cNvPr id="10" name="signature 2 value"/>
          <p:cNvSpPr txBox="1"/>
          <p:nvPr/>
        </p:nvSpPr>
        <p:spPr>
          <a:xfrm>
            <a:off x="5088636" y="1627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 of 110</a:t>
            </a:r>
            <a:endParaRPr lang="en-US" sz="3200" dirty="0"/>
          </a:p>
        </p:txBody>
      </p:sp>
      <p:sp>
        <p:nvSpPr>
          <p:cNvPr id="11" name="signature 2 label"/>
          <p:cNvSpPr txBox="1"/>
          <p:nvPr/>
        </p:nvSpPr>
        <p:spPr>
          <a:xfrm>
            <a:off x="5088636" y="22311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features vary more between people than between obstacle heights</a:t>
            </a:r>
            <a:endParaRPr lang="en-US" sz="1400" dirty="0"/>
          </a:p>
        </p:txBody>
      </p:sp>
      <p:sp>
        <p:nvSpPr>
          <p:cNvPr id="12" name="signature 3 circle"/>
          <p:cNvSpPr/>
          <p:nvPr/>
        </p:nvSpPr>
        <p:spPr>
          <a:xfrm>
            <a:off x="8165592" y="1783080"/>
            <a:ext cx="566928" cy="566928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3" name="sign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1655" y="1919143"/>
            <a:ext cx="294803" cy="294803"/>
          </a:xfrm>
          <a:prstGeom prst="rect">
            <a:avLst/>
          </a:prstGeom>
        </p:spPr>
      </p:pic>
      <p:sp>
        <p:nvSpPr>
          <p:cNvPr id="14" name="signature 3 value"/>
          <p:cNvSpPr txBox="1"/>
          <p:nvPr/>
        </p:nvSpPr>
        <p:spPr>
          <a:xfrm>
            <a:off x="8897112" y="16276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0.48</a:t>
            </a:r>
            <a:endParaRPr lang="en-US" sz="3200" dirty="0"/>
          </a:p>
        </p:txBody>
      </p:sp>
      <p:sp>
        <p:nvSpPr>
          <p:cNvPr id="15" name="signature 3 label"/>
          <p:cNvSpPr txBox="1"/>
          <p:nvPr/>
        </p:nvSpPr>
        <p:spPr>
          <a:xfrm>
            <a:off x="8897112" y="2231136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cluster strength by person (silhouette); by height only 0.26, after person scaling</a:t>
            </a:r>
            <a:endParaRPr lang="en-US" sz="1400" dirty="0"/>
          </a:p>
        </p:txBody>
      </p:sp>
      <p:pic>
        <p:nvPicPr>
          <p:cNvPr id="16" name="t-SNE figure" descr="t-SNE map of all crossings, coloured by participant (left) and by obstacle height after person scaling (right)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154680"/>
            <a:ext cx="7022780" cy="3017520"/>
          </a:xfrm>
          <a:prstGeom prst="rect">
            <a:avLst/>
          </a:prstGeom>
        </p:spPr>
      </p:pic>
      <p:sp>
        <p:nvSpPr>
          <p:cNvPr id="17" name="signature note"/>
          <p:cNvSpPr/>
          <p:nvPr/>
        </p:nvSpPr>
        <p:spPr>
          <a:xfrm>
            <a:off x="7863840" y="3154680"/>
            <a:ext cx="3776472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/>
        </p:spPr>
      </p:sp>
      <p:sp>
        <p:nvSpPr>
          <p:cNvPr id="18" name="signature note circle"/>
          <p:cNvSpPr/>
          <p:nvPr/>
        </p:nvSpPr>
        <p:spPr>
          <a:xfrm>
            <a:off x="809244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9" name="signature no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3141" y="3503981"/>
            <a:ext cx="261518" cy="261518"/>
          </a:xfrm>
          <a:prstGeom prst="rect">
            <a:avLst/>
          </a:prstGeom>
        </p:spPr>
      </p:pic>
      <p:sp>
        <p:nvSpPr>
          <p:cNvPr id="20" name="signature note text"/>
          <p:cNvSpPr txBox="1"/>
          <p:nvPr/>
        </p:nvSpPr>
        <p:spPr>
          <a:xfrm>
            <a:off x="8092440" y="4023360"/>
            <a:ext cx="3337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means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generic model sees the person first and the obstacle second, so it stalls at 62–73 %. Scaling each feature to the person removes the signature and lifts accuracy to ~90 %.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personal margin caps generic models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Each person's extra lift for any obstacle varies by two-thirds of the step between heights.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9436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argin 1 circle"/>
          <p:cNvSpPr/>
          <p:nvPr/>
        </p:nvSpPr>
        <p:spPr>
          <a:xfrm>
            <a:off x="685800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margi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4063" y="1964863"/>
            <a:ext cx="294803" cy="294803"/>
          </a:xfrm>
          <a:prstGeom prst="rect">
            <a:avLst/>
          </a:prstGeom>
        </p:spPr>
      </p:pic>
      <p:sp>
        <p:nvSpPr>
          <p:cNvPr id="7" name="margin text 1"/>
          <p:cNvSpPr txBox="1"/>
          <p:nvPr/>
        </p:nvSpPr>
        <p:spPr>
          <a:xfrm>
            <a:off x="7607808" y="1810512"/>
            <a:ext cx="4032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Hard to predict in advance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 = 0.43 with the person's normal walking and 0.20 with leg length (lead foot)</a:t>
            </a:r>
            <a:endParaRPr lang="en-US" sz="1600" dirty="0"/>
          </a:p>
        </p:txBody>
      </p:sp>
      <p:sp>
        <p:nvSpPr>
          <p:cNvPr id="8" name="margin 2 circle"/>
          <p:cNvSpPr/>
          <p:nvPr/>
        </p:nvSpPr>
        <p:spPr>
          <a:xfrm>
            <a:off x="6858000" y="320040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margi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063" y="3336463"/>
            <a:ext cx="294803" cy="294803"/>
          </a:xfrm>
          <a:prstGeom prst="rect">
            <a:avLst/>
          </a:prstGeom>
        </p:spPr>
      </p:pic>
      <p:sp>
        <p:nvSpPr>
          <p:cNvPr id="10" name="margin text 2"/>
          <p:cNvSpPr txBox="1"/>
          <p:nvPr/>
        </p:nvSpPr>
        <p:spPr>
          <a:xfrm>
            <a:off x="7607808" y="3182112"/>
            <a:ext cx="4032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Why generic models stall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an unseen person's offset pushes crossings toward a neighbouring height: 62–73 %</a:t>
            </a:r>
            <a:endParaRPr lang="en-US" sz="1600" dirty="0"/>
          </a:p>
        </p:txBody>
      </p:sp>
      <p:sp>
        <p:nvSpPr>
          <p:cNvPr id="11" name="margin 3 circle"/>
          <p:cNvSpPr/>
          <p:nvPr/>
        </p:nvSpPr>
        <p:spPr>
          <a:xfrm>
            <a:off x="6858000" y="45720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margi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063" y="4708063"/>
            <a:ext cx="294803" cy="294803"/>
          </a:xfrm>
          <a:prstGeom prst="rect">
            <a:avLst/>
          </a:prstGeom>
        </p:spPr>
      </p:pic>
      <p:sp>
        <p:nvSpPr>
          <p:cNvPr id="13" name="margin text 3"/>
          <p:cNvSpPr txBox="1"/>
          <p:nvPr/>
        </p:nvSpPr>
        <p:spPr>
          <a:xfrm>
            <a:off x="7607808" y="4553712"/>
            <a:ext cx="40325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fixes it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few of the person's own crossings, labelled or not, reveal the offset: ~90 %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Lead leg, coupling and first encounters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Crossing strategy is not fixed by dominance, and each leg adapts on its own.</a:t>
            </a:r>
            <a:endParaRPr lang="en-US" sz="1800" dirty="0"/>
          </a:p>
        </p:txBody>
      </p:sp>
      <p:sp>
        <p:nvSpPr>
          <p:cNvPr id="4" name="strategy card 1"/>
          <p:cNvSpPr/>
          <p:nvPr/>
        </p:nvSpPr>
        <p:spPr>
          <a:xfrm>
            <a:off x="548640" y="1737360"/>
            <a:ext cx="3474720" cy="44348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trategy 1 circle"/>
          <p:cNvSpPr/>
          <p:nvPr/>
        </p:nvSpPr>
        <p:spPr>
          <a:xfrm>
            <a:off x="86868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rategy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2278685"/>
            <a:ext cx="380390" cy="380390"/>
          </a:xfrm>
          <a:prstGeom prst="rect">
            <a:avLst/>
          </a:prstGeom>
        </p:spPr>
      </p:pic>
      <p:sp>
        <p:nvSpPr>
          <p:cNvPr id="7" name="strategy 1 value"/>
          <p:cNvSpPr txBox="1"/>
          <p:nvPr/>
        </p:nvSpPr>
        <p:spPr>
          <a:xfrm>
            <a:off x="868680" y="3108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45 %</a:t>
            </a:r>
            <a:endParaRPr lang="en-US" sz="4000" dirty="0"/>
          </a:p>
        </p:txBody>
      </p:sp>
      <p:sp>
        <p:nvSpPr>
          <p:cNvPr id="8" name="strategy 1 label"/>
          <p:cNvSpPr txBox="1"/>
          <p:nvPr/>
        </p:nvSpPr>
        <p:spPr>
          <a:xfrm>
            <a:off x="868680" y="382219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crossings were led with the dominant leg; most people alternate</a:t>
            </a:r>
            <a:endParaRPr lang="en-US" sz="1400" dirty="0"/>
          </a:p>
        </p:txBody>
      </p:sp>
      <p:sp>
        <p:nvSpPr>
          <p:cNvPr id="9" name="strategy note 1"/>
          <p:cNvSpPr txBox="1"/>
          <p:nvPr/>
        </p:nvSpPr>
        <p:spPr>
          <a:xfrm>
            <a:off x="868680" y="48006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A device needs a sensor on each foot (the IMU tells lead from trail 100 %).</a:t>
            </a:r>
            <a:endParaRPr lang="en-US" sz="1400" dirty="0"/>
          </a:p>
        </p:txBody>
      </p:sp>
      <p:sp>
        <p:nvSpPr>
          <p:cNvPr id="10" name="strategy card 2"/>
          <p:cNvSpPr/>
          <p:nvPr/>
        </p:nvSpPr>
        <p:spPr>
          <a:xfrm>
            <a:off x="4357116" y="1737360"/>
            <a:ext cx="3474720" cy="44348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1" name="strategy 2 circle"/>
          <p:cNvSpPr/>
          <p:nvPr/>
        </p:nvSpPr>
        <p:spPr>
          <a:xfrm>
            <a:off x="4677156" y="210312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strategy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2721" y="2278685"/>
            <a:ext cx="380390" cy="380390"/>
          </a:xfrm>
          <a:prstGeom prst="rect">
            <a:avLst/>
          </a:prstGeom>
        </p:spPr>
      </p:pic>
      <p:sp>
        <p:nvSpPr>
          <p:cNvPr id="13" name="strategy 2 value"/>
          <p:cNvSpPr txBox="1"/>
          <p:nvPr/>
        </p:nvSpPr>
        <p:spPr>
          <a:xfrm>
            <a:off x="4677156" y="3108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 ≈ 0.1</a:t>
            </a:r>
            <a:endParaRPr lang="en-US" sz="4000" dirty="0"/>
          </a:p>
        </p:txBody>
      </p:sp>
      <p:sp>
        <p:nvSpPr>
          <p:cNvPr id="14" name="strategy 2 label"/>
          <p:cNvSpPr txBox="1"/>
          <p:nvPr/>
        </p:nvSpPr>
        <p:spPr>
          <a:xfrm>
            <a:off x="4677156" y="382219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between the two legs' lift deviations within a crossing</a:t>
            </a:r>
            <a:endParaRPr lang="en-US" sz="1400" dirty="0"/>
          </a:p>
        </p:txBody>
      </p:sp>
      <p:sp>
        <p:nvSpPr>
          <p:cNvPr id="15" name="strategy note 2"/>
          <p:cNvSpPr txBox="1"/>
          <p:nvPr/>
        </p:nvSpPr>
        <p:spPr>
          <a:xfrm>
            <a:off x="4677156" y="48006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The trailing foot does not correct the lead foot: each leg carries its own information.</a:t>
            </a:r>
            <a:endParaRPr lang="en-US" sz="1400" dirty="0"/>
          </a:p>
        </p:txBody>
      </p:sp>
      <p:sp>
        <p:nvSpPr>
          <p:cNvPr id="16" name="strategy card 3"/>
          <p:cNvSpPr/>
          <p:nvPr/>
        </p:nvSpPr>
        <p:spPr>
          <a:xfrm>
            <a:off x="8165592" y="1737360"/>
            <a:ext cx="3474720" cy="443484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7" name="strategy 3 circle"/>
          <p:cNvSpPr/>
          <p:nvPr/>
        </p:nvSpPr>
        <p:spPr>
          <a:xfrm>
            <a:off x="8485632" y="210312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strategy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1197" y="2278685"/>
            <a:ext cx="380390" cy="380390"/>
          </a:xfrm>
          <a:prstGeom prst="rect">
            <a:avLst/>
          </a:prstGeom>
        </p:spPr>
      </p:pic>
      <p:sp>
        <p:nvSpPr>
          <p:cNvPr id="19" name="strategy 3 value"/>
          <p:cNvSpPr txBox="1"/>
          <p:nvPr/>
        </p:nvSpPr>
        <p:spPr>
          <a:xfrm>
            <a:off x="8485632" y="31089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+12 mm</a:t>
            </a:r>
            <a:endParaRPr lang="en-US" sz="4000" dirty="0"/>
          </a:p>
        </p:txBody>
      </p:sp>
      <p:sp>
        <p:nvSpPr>
          <p:cNvPr id="20" name="strategy 3 label"/>
          <p:cNvSpPr txBox="1"/>
          <p:nvPr/>
        </p:nvSpPr>
        <p:spPr>
          <a:xfrm>
            <a:off x="8485632" y="382219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lead-foot lift on the first crossing of a new obstacle (CI +5 to +20)</a:t>
            </a:r>
            <a:endParaRPr lang="en-US" sz="1400" dirty="0"/>
          </a:p>
        </p:txBody>
      </p:sp>
      <p:sp>
        <p:nvSpPr>
          <p:cNvPr id="21" name="strategy note 3"/>
          <p:cNvSpPr txBox="1"/>
          <p:nvPr/>
        </p:nvSpPr>
        <p:spPr>
          <a:xfrm>
            <a:off x="8485632" y="4800600"/>
            <a:ext cx="2834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tx2"/>
                </a:solidFill>
              </a:rPr>
              <a:t>People are more cautious at a first encounter, then settle.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Recognising obstacle height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Accuracy on a person the model has never seen: generic vs person-scaled models, sensors, timing and precision</a:t>
            </a:r>
            <a:endParaRPr lang="en-US" sz="20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73152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5" name="section circle"/>
          <p:cNvSpPr/>
          <p:nvPr/>
        </p:nvSpPr>
        <p:spPr>
          <a:xfrm>
            <a:off x="8915400" y="2011680"/>
            <a:ext cx="2468880" cy="24688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931" y="2604211"/>
            <a:ext cx="1283818" cy="12838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Height accuracy rises from 62 % to 92 %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Obstacle height (3 levels, chance 33 %) on an unseen participant; balanced accuracy.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635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eneric note"/>
          <p:cNvSpPr/>
          <p:nvPr/>
        </p:nvSpPr>
        <p:spPr>
          <a:xfrm>
            <a:off x="8503920" y="1691640"/>
            <a:ext cx="3136392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6" name="generic note circle"/>
          <p:cNvSpPr/>
          <p:nvPr/>
        </p:nvSpPr>
        <p:spPr>
          <a:xfrm>
            <a:off x="8686800" y="187452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7" name="generic note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6528" y="1984248"/>
            <a:ext cx="237744" cy="237744"/>
          </a:xfrm>
          <a:prstGeom prst="rect">
            <a:avLst/>
          </a:prstGeom>
        </p:spPr>
      </p:pic>
      <p:sp>
        <p:nvSpPr>
          <p:cNvPr id="8" name="generic note head"/>
          <p:cNvSpPr txBox="1"/>
          <p:nvPr/>
        </p:nvSpPr>
        <p:spPr>
          <a:xfrm>
            <a:off x="9281160" y="18745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Generic (grey)</a:t>
            </a:r>
            <a:endParaRPr lang="en-US" sz="1600" dirty="0"/>
          </a:p>
        </p:txBody>
      </p:sp>
      <p:sp>
        <p:nvSpPr>
          <p:cNvPr id="9" name="generic note body"/>
          <p:cNvSpPr txBox="1"/>
          <p:nvPr/>
        </p:nvSpPr>
        <p:spPr>
          <a:xfrm>
            <a:off x="8686800" y="24688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ceiling of 62–73 %: the person's offset shifts every crossing</a:t>
            </a:r>
            <a:endParaRPr lang="en-US" sz="1400" dirty="0"/>
          </a:p>
        </p:txBody>
      </p:sp>
      <p:sp>
        <p:nvSpPr>
          <p:cNvPr id="10" name="scaled note"/>
          <p:cNvSpPr/>
          <p:nvPr/>
        </p:nvSpPr>
        <p:spPr>
          <a:xfrm>
            <a:off x="8503920" y="3749040"/>
            <a:ext cx="3136392" cy="2423160"/>
          </a:xfrm>
          <a:prstGeom prst="roundRect">
            <a:avLst>
              <a:gd name="adj" fmla="val 4528"/>
            </a:avLst>
          </a:prstGeom>
          <a:solidFill>
            <a:schemeClr val="bg2"/>
          </a:solidFill>
          <a:ln/>
        </p:spPr>
      </p:sp>
      <p:sp>
        <p:nvSpPr>
          <p:cNvPr id="11" name="scaled note circle"/>
          <p:cNvSpPr/>
          <p:nvPr/>
        </p:nvSpPr>
        <p:spPr>
          <a:xfrm>
            <a:off x="8686800" y="393192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scaled note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28" y="4041648"/>
            <a:ext cx="237744" cy="237744"/>
          </a:xfrm>
          <a:prstGeom prst="rect">
            <a:avLst/>
          </a:prstGeom>
        </p:spPr>
      </p:pic>
      <p:sp>
        <p:nvSpPr>
          <p:cNvPr id="13" name="scaled note head"/>
          <p:cNvSpPr txBox="1"/>
          <p:nvPr/>
        </p:nvSpPr>
        <p:spPr>
          <a:xfrm>
            <a:off x="9281160" y="3931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Person-scaled (orange)</a:t>
            </a:r>
            <a:endParaRPr lang="en-US" sz="1600" dirty="0"/>
          </a:p>
        </p:txBody>
      </p:sp>
      <p:sp>
        <p:nvSpPr>
          <p:cNvPr id="14" name="scaled note body"/>
          <p:cNvSpPr txBox="1"/>
          <p:nvPr/>
        </p:nvSpPr>
        <p:spPr>
          <a:xfrm>
            <a:off x="8686800" y="4526280"/>
            <a:ext cx="2788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+20 points, with no labels. Fair nested choice: 91.5 % (CI 86–97); weakest person 73 %.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foot carries both legs' information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Height accuracy from one signal at a time (person scaling, random forest).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egment 1 circle"/>
          <p:cNvSpPr/>
          <p:nvPr/>
        </p:nvSpPr>
        <p:spPr>
          <a:xfrm>
            <a:off x="8183880" y="18745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egment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164" y="2001804"/>
            <a:ext cx="275783" cy="275783"/>
          </a:xfrm>
          <a:prstGeom prst="rect">
            <a:avLst/>
          </a:prstGeom>
        </p:spPr>
      </p:pic>
      <p:sp>
        <p:nvSpPr>
          <p:cNvPr id="7" name="segment text 1"/>
          <p:cNvSpPr txBox="1"/>
          <p:nvPr/>
        </p:nvSpPr>
        <p:spPr>
          <a:xfrm>
            <a:off x="8869680" y="1856232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Leading leg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thigh lifts the foot over: thigh tilt alone 77 %</a:t>
            </a:r>
            <a:endParaRPr lang="en-US" sz="1600" dirty="0"/>
          </a:p>
        </p:txBody>
      </p:sp>
      <p:sp>
        <p:nvSpPr>
          <p:cNvPr id="8" name="segment 2 circle"/>
          <p:cNvSpPr/>
          <p:nvPr/>
        </p:nvSpPr>
        <p:spPr>
          <a:xfrm>
            <a:off x="8183880" y="324612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segment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164" y="3373404"/>
            <a:ext cx="275783" cy="275783"/>
          </a:xfrm>
          <a:prstGeom prst="rect">
            <a:avLst/>
          </a:prstGeom>
        </p:spPr>
      </p:pic>
      <p:sp>
        <p:nvSpPr>
          <p:cNvPr id="10" name="segment text 2"/>
          <p:cNvSpPr txBox="1"/>
          <p:nvPr/>
        </p:nvSpPr>
        <p:spPr>
          <a:xfrm>
            <a:off x="8869680" y="3227832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Trailing leg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push-off with heel-up: shank tilt alone 78 %</a:t>
            </a:r>
            <a:endParaRPr lang="en-US" sz="1600" dirty="0"/>
          </a:p>
        </p:txBody>
      </p:sp>
      <p:sp>
        <p:nvSpPr>
          <p:cNvPr id="11" name="segment 3 circle"/>
          <p:cNvSpPr/>
          <p:nvPr/>
        </p:nvSpPr>
        <p:spPr>
          <a:xfrm>
            <a:off x="8183880" y="4617720"/>
            <a:ext cx="530352" cy="53035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segment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1164" y="4745004"/>
            <a:ext cx="275783" cy="275783"/>
          </a:xfrm>
          <a:prstGeom prst="rect">
            <a:avLst/>
          </a:prstGeom>
        </p:spPr>
      </p:pic>
      <p:sp>
        <p:nvSpPr>
          <p:cNvPr id="13" name="segment text 3"/>
          <p:cNvSpPr txBox="1"/>
          <p:nvPr/>
        </p:nvSpPr>
        <p:spPr>
          <a:xfrm>
            <a:off x="8869680" y="4599432"/>
            <a:ext cx="2770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Foot IMU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tilt and path carry both legs (83–88 %); acceleration alone is weak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Height is known 0.7 s before trail toe-off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Accuracy from the leading leg's data up to each moment of its swing (forest; chance 33 %).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4980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imeline"/>
          <p:cNvSpPr/>
          <p:nvPr/>
        </p:nvSpPr>
        <p:spPr>
          <a:xfrm>
            <a:off x="8686800" y="1938528"/>
            <a:ext cx="0" cy="3703320"/>
          </a:xfrm>
          <a:prstGeom prst="line">
            <a:avLst/>
          </a:prstGeom>
          <a:noFill/>
          <a:ln w="19050">
            <a:solidFill>
              <a:schemeClr val="accent6"/>
            </a:solidFill>
            <a:prstDash val="solid"/>
          </a:ln>
        </p:spPr>
      </p:sp>
      <p:sp>
        <p:nvSpPr>
          <p:cNvPr id="6" name="timeline node 1"/>
          <p:cNvSpPr/>
          <p:nvPr/>
        </p:nvSpPr>
        <p:spPr>
          <a:xfrm>
            <a:off x="8531352" y="1783080"/>
            <a:ext cx="310896" cy="310896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7" name="timeline text 1"/>
          <p:cNvSpPr txBox="1"/>
          <p:nvPr/>
        </p:nvSpPr>
        <p:spPr>
          <a:xfrm>
            <a:off x="9052560" y="1746504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Lead toe-off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983 ms before trail toe-off · 52 %</a:t>
            </a:r>
            <a:endParaRPr lang="en-US" sz="1600" dirty="0"/>
          </a:p>
        </p:txBody>
      </p:sp>
      <p:sp>
        <p:nvSpPr>
          <p:cNvPr id="8" name="timeline node 2"/>
          <p:cNvSpPr/>
          <p:nvPr/>
        </p:nvSpPr>
        <p:spPr>
          <a:xfrm>
            <a:off x="8531352" y="3017520"/>
            <a:ext cx="310896" cy="310896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9" name="timeline text 2"/>
          <p:cNvSpPr txBox="1"/>
          <p:nvPr/>
        </p:nvSpPr>
        <p:spPr>
          <a:xfrm>
            <a:off x="9052560" y="2980944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Lead foot apex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683 ms before · about 80 %</a:t>
            </a:r>
            <a:endParaRPr lang="en-US" sz="1600" dirty="0"/>
          </a:p>
        </p:txBody>
      </p:sp>
      <p:sp>
        <p:nvSpPr>
          <p:cNvPr id="10" name="timeline node 3"/>
          <p:cNvSpPr/>
          <p:nvPr/>
        </p:nvSpPr>
        <p:spPr>
          <a:xfrm>
            <a:off x="8531352" y="4251960"/>
            <a:ext cx="310896" cy="310896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1" name="timeline text 3"/>
          <p:cNvSpPr txBox="1"/>
          <p:nvPr/>
        </p:nvSpPr>
        <p:spPr>
          <a:xfrm>
            <a:off x="9052560" y="4215384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Lead landing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417 ms before · 86 %</a:t>
            </a:r>
            <a:endParaRPr lang="en-US" sz="1600" dirty="0"/>
          </a:p>
        </p:txBody>
      </p:sp>
      <p:sp>
        <p:nvSpPr>
          <p:cNvPr id="12" name="timeline node 4"/>
          <p:cNvSpPr/>
          <p:nvPr/>
        </p:nvSpPr>
        <p:spPr>
          <a:xfrm>
            <a:off x="8531352" y="5486400"/>
            <a:ext cx="310896" cy="310896"/>
          </a:xfrm>
          <a:prstGeom prst="ellipse">
            <a:avLst/>
          </a:prstGeom>
          <a:solidFill>
            <a:schemeClr val="tx2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3" name="timeline text 4"/>
          <p:cNvSpPr txBox="1"/>
          <p:nvPr/>
        </p:nvSpPr>
        <p:spPr>
          <a:xfrm>
            <a:off x="9052560" y="5449824"/>
            <a:ext cx="25877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Trailing toe-off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cue must arrive by now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Height in centimetres and from raw curves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further checks: predict height as a number, and learn straight from the swing curves.</a:t>
            </a:r>
            <a:endParaRPr lang="en-US" sz="1800" dirty="0"/>
          </a:p>
        </p:txBody>
      </p:sp>
      <p:sp>
        <p:nvSpPr>
          <p:cNvPr id="4" name="panel 1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5" name="panel 1 circle"/>
          <p:cNvSpPr/>
          <p:nvPr/>
        </p:nvSpPr>
        <p:spPr>
          <a:xfrm>
            <a:off x="822960" y="196596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anel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02023"/>
            <a:ext cx="294803" cy="294803"/>
          </a:xfrm>
          <a:prstGeom prst="rect">
            <a:avLst/>
          </a:prstGeom>
        </p:spPr>
      </p:pic>
      <p:sp>
        <p:nvSpPr>
          <p:cNvPr id="7" name="panel head 1"/>
          <p:cNvSpPr txBox="1"/>
          <p:nvPr/>
        </p:nvSpPr>
        <p:spPr>
          <a:xfrm>
            <a:off x="1554480" y="1965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Height as a number (regression)</a:t>
            </a:r>
            <a:endParaRPr lang="en-US" sz="2000" dirty="0"/>
          </a:p>
        </p:txBody>
      </p:sp>
      <p:sp>
        <p:nvSpPr>
          <p:cNvPr id="8" name="panel 1 stat 1 value"/>
          <p:cNvSpPr txBox="1"/>
          <p:nvPr/>
        </p:nvSpPr>
        <p:spPr>
          <a:xfrm>
            <a:off x="822960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2.4 cm</a:t>
            </a:r>
            <a:endParaRPr lang="en-US" sz="3200" dirty="0"/>
          </a:p>
        </p:txBody>
      </p:sp>
      <p:sp>
        <p:nvSpPr>
          <p:cNvPr id="9" name="panel 1 stat 1 label"/>
          <p:cNvSpPr txBox="1"/>
          <p:nvPr/>
        </p:nvSpPr>
        <p:spPr>
          <a:xfrm>
            <a:off x="822960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mean absolute error</a:t>
            </a:r>
            <a:endParaRPr lang="en-US" sz="1200" dirty="0"/>
          </a:p>
        </p:txBody>
      </p:sp>
      <p:sp>
        <p:nvSpPr>
          <p:cNvPr id="10" name="panel 1 stat 2 value"/>
          <p:cNvSpPr txBox="1"/>
          <p:nvPr/>
        </p:nvSpPr>
        <p:spPr>
          <a:xfrm>
            <a:off x="2496312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0.91</a:t>
            </a:r>
            <a:endParaRPr lang="en-US" sz="3200" dirty="0"/>
          </a:p>
        </p:txBody>
      </p:sp>
      <p:sp>
        <p:nvSpPr>
          <p:cNvPr id="11" name="panel 1 stat 2 label"/>
          <p:cNvSpPr txBox="1"/>
          <p:nvPr/>
        </p:nvSpPr>
        <p:spPr>
          <a:xfrm>
            <a:off x="2496312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correlation r</a:t>
            </a:r>
            <a:endParaRPr lang="en-US" sz="1200" dirty="0"/>
          </a:p>
        </p:txBody>
      </p:sp>
      <p:sp>
        <p:nvSpPr>
          <p:cNvPr id="12" name="panel 1 stat 3 value"/>
          <p:cNvSpPr txBox="1"/>
          <p:nvPr/>
        </p:nvSpPr>
        <p:spPr>
          <a:xfrm>
            <a:off x="4169664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85 %</a:t>
            </a:r>
            <a:endParaRPr lang="en-US" sz="3200" dirty="0"/>
          </a:p>
        </p:txBody>
      </p:sp>
      <p:sp>
        <p:nvSpPr>
          <p:cNvPr id="13" name="panel 1 stat 3 label"/>
          <p:cNvSpPr txBox="1"/>
          <p:nvPr/>
        </p:nvSpPr>
        <p:spPr>
          <a:xfrm>
            <a:off x="4169664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nearest height right</a:t>
            </a:r>
            <a:endParaRPr lang="en-US" sz="1200" dirty="0"/>
          </a:p>
        </p:txBody>
      </p:sp>
      <p:sp>
        <p:nvSpPr>
          <p:cNvPr id="14" name="panel note 1"/>
          <p:cNvSpPr txBox="1"/>
          <p:nvPr/>
        </p:nvSpPr>
        <p:spPr>
          <a:xfrm>
            <a:off x="822960" y="4343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Neighbouring heights differ by 8.3–10.6 cm (10 % of leg length): the typical error is about a quarter of a step.</a:t>
            </a:r>
            <a:endParaRPr lang="en-US" sz="1400" dirty="0"/>
          </a:p>
        </p:txBody>
      </p:sp>
      <p:sp>
        <p:nvSpPr>
          <p:cNvPr id="15" name="panel method 1"/>
          <p:cNvSpPr txBox="1"/>
          <p:nvPr/>
        </p:nvSpPr>
        <p:spPr>
          <a:xfrm>
            <a:off x="822960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Two foot IMUs, lead + trail vote, person scaling, random forest.</a:t>
            </a:r>
            <a:endParaRPr lang="en-US" sz="1200" dirty="0"/>
          </a:p>
        </p:txBody>
      </p:sp>
      <p:sp>
        <p:nvSpPr>
          <p:cNvPr id="16" name="panel 2"/>
          <p:cNvSpPr/>
          <p:nvPr/>
        </p:nvSpPr>
        <p:spPr>
          <a:xfrm>
            <a:off x="6245352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chemeClr val="bg2"/>
          </a:solidFill>
          <a:ln/>
        </p:spPr>
      </p:sp>
      <p:sp>
        <p:nvSpPr>
          <p:cNvPr id="17" name="panel 2 circle"/>
          <p:cNvSpPr/>
          <p:nvPr/>
        </p:nvSpPr>
        <p:spPr>
          <a:xfrm>
            <a:off x="6519672" y="196596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panel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5735" y="2102023"/>
            <a:ext cx="294803" cy="294803"/>
          </a:xfrm>
          <a:prstGeom prst="rect">
            <a:avLst/>
          </a:prstGeom>
        </p:spPr>
      </p:pic>
      <p:sp>
        <p:nvSpPr>
          <p:cNvPr id="19" name="panel head 2"/>
          <p:cNvSpPr txBox="1"/>
          <p:nvPr/>
        </p:nvSpPr>
        <p:spPr>
          <a:xfrm>
            <a:off x="7251192" y="196596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Deep learning on raw curves</a:t>
            </a:r>
            <a:endParaRPr lang="en-US" sz="2000" dirty="0"/>
          </a:p>
        </p:txBody>
      </p:sp>
      <p:sp>
        <p:nvSpPr>
          <p:cNvPr id="20" name="panel 2 stat 1 value"/>
          <p:cNvSpPr txBox="1"/>
          <p:nvPr/>
        </p:nvSpPr>
        <p:spPr>
          <a:xfrm>
            <a:off x="6519672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88 %</a:t>
            </a:r>
            <a:endParaRPr lang="en-US" sz="3200" dirty="0"/>
          </a:p>
        </p:txBody>
      </p:sp>
      <p:sp>
        <p:nvSpPr>
          <p:cNvPr id="21" name="panel 2 stat 1 label"/>
          <p:cNvSpPr txBox="1"/>
          <p:nvPr/>
        </p:nvSpPr>
        <p:spPr>
          <a:xfrm>
            <a:off x="6519672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height, person-scaled</a:t>
            </a:r>
            <a:endParaRPr lang="en-US" sz="1200" dirty="0"/>
          </a:p>
        </p:txBody>
      </p:sp>
      <p:sp>
        <p:nvSpPr>
          <p:cNvPr id="22" name="panel 2 stat 2 value"/>
          <p:cNvSpPr txBox="1"/>
          <p:nvPr/>
        </p:nvSpPr>
        <p:spPr>
          <a:xfrm>
            <a:off x="8193024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56 %</a:t>
            </a:r>
            <a:endParaRPr lang="en-US" sz="3200" dirty="0"/>
          </a:p>
        </p:txBody>
      </p:sp>
      <p:sp>
        <p:nvSpPr>
          <p:cNvPr id="23" name="panel 2 stat 2 label"/>
          <p:cNvSpPr txBox="1"/>
          <p:nvPr/>
        </p:nvSpPr>
        <p:spPr>
          <a:xfrm>
            <a:off x="8193024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width (chance 50 %)</a:t>
            </a:r>
            <a:endParaRPr lang="en-US" sz="1200" dirty="0"/>
          </a:p>
        </p:txBody>
      </p:sp>
      <p:sp>
        <p:nvSpPr>
          <p:cNvPr id="24" name="panel 2 stat 3 value"/>
          <p:cNvSpPr txBox="1"/>
          <p:nvPr/>
        </p:nvSpPr>
        <p:spPr>
          <a:xfrm>
            <a:off x="9866376" y="28803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54 %</a:t>
            </a:r>
            <a:endParaRPr lang="en-US" sz="3200" dirty="0"/>
          </a:p>
        </p:txBody>
      </p:sp>
      <p:sp>
        <p:nvSpPr>
          <p:cNvPr id="25" name="panel 2 stat 3 label"/>
          <p:cNvSpPr txBox="1"/>
          <p:nvPr/>
        </p:nvSpPr>
        <p:spPr>
          <a:xfrm>
            <a:off x="9866376" y="3483864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height, generic</a:t>
            </a:r>
            <a:endParaRPr lang="en-US" sz="1200" dirty="0"/>
          </a:p>
        </p:txBody>
      </p:sp>
      <p:sp>
        <p:nvSpPr>
          <p:cNvPr id="26" name="panel note 2"/>
          <p:cNvSpPr txBox="1"/>
          <p:nvPr/>
        </p:nvSpPr>
        <p:spPr>
          <a:xfrm>
            <a:off x="6519672" y="43434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 hand-made features: the information is in the curves. At n = 10 the compact clearance features stay ahead (92 %).</a:t>
            </a:r>
            <a:endParaRPr lang="en-US" sz="1400" dirty="0"/>
          </a:p>
        </p:txBody>
      </p:sp>
      <p:sp>
        <p:nvSpPr>
          <p:cNvPr id="27" name="panel method 2"/>
          <p:cNvSpPr txBox="1"/>
          <p:nvPr/>
        </p:nvSpPr>
        <p:spPr>
          <a:xfrm>
            <a:off x="6519672" y="5440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1D convolutional network on the six swing curves of each leg (51 samples each).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Obstacle width is barely recognisable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Width (5 vs 15 cm, chance 50 %) stays near chance with every sensor and model.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7665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ix obstacles card"/>
          <p:cNvSpPr/>
          <p:nvPr/>
        </p:nvSpPr>
        <p:spPr>
          <a:xfrm>
            <a:off x="7635240" y="1691640"/>
            <a:ext cx="4005072" cy="4480560"/>
          </a:xfrm>
          <a:prstGeom prst="roundRect">
            <a:avLst>
              <a:gd name="adj" fmla="val 2740"/>
            </a:avLst>
          </a:prstGeom>
          <a:solidFill>
            <a:schemeClr val="bg2"/>
          </a:solidFill>
          <a:ln/>
        </p:spPr>
      </p:sp>
      <p:sp>
        <p:nvSpPr>
          <p:cNvPr id="6" name="six obstacles circle"/>
          <p:cNvSpPr/>
          <p:nvPr/>
        </p:nvSpPr>
        <p:spPr>
          <a:xfrm>
            <a:off x="7863840" y="1920240"/>
            <a:ext cx="530352" cy="53035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six obstacle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1124" y="2047524"/>
            <a:ext cx="275783" cy="275783"/>
          </a:xfrm>
          <a:prstGeom prst="rect">
            <a:avLst/>
          </a:prstGeom>
        </p:spPr>
      </p:pic>
      <p:sp>
        <p:nvSpPr>
          <p:cNvPr id="8" name="six head"/>
          <p:cNvSpPr txBox="1"/>
          <p:nvPr/>
        </p:nvSpPr>
        <p:spPr>
          <a:xfrm>
            <a:off x="8549640" y="192024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All 6 obstacles at once</a:t>
            </a:r>
            <a:endParaRPr lang="en-US" sz="1800" dirty="0"/>
          </a:p>
        </p:txBody>
      </p:sp>
      <p:sp>
        <p:nvSpPr>
          <p:cNvPr id="9" name="six chance"/>
          <p:cNvSpPr txBox="1"/>
          <p:nvPr/>
        </p:nvSpPr>
        <p:spPr>
          <a:xfrm>
            <a:off x="8549640" y="2450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chance 17 %</a:t>
            </a:r>
            <a:endParaRPr lang="en-US" sz="1200" dirty="0"/>
          </a:p>
        </p:txBody>
      </p:sp>
      <p:sp>
        <p:nvSpPr>
          <p:cNvPr id="10" name="six generic value"/>
          <p:cNvSpPr txBox="1"/>
          <p:nvPr/>
        </p:nvSpPr>
        <p:spPr>
          <a:xfrm>
            <a:off x="7863840" y="28346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29 %</a:t>
            </a:r>
            <a:endParaRPr lang="en-US" sz="4000" dirty="0"/>
          </a:p>
        </p:txBody>
      </p:sp>
      <p:sp>
        <p:nvSpPr>
          <p:cNvPr id="11" name="six generic label"/>
          <p:cNvSpPr txBox="1"/>
          <p:nvPr/>
        </p:nvSpPr>
        <p:spPr>
          <a:xfrm>
            <a:off x="7863840" y="354787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generic</a:t>
            </a:r>
            <a:endParaRPr lang="en-US" sz="1400" dirty="0"/>
          </a:p>
        </p:txBody>
      </p:sp>
      <p:sp>
        <p:nvSpPr>
          <p:cNvPr id="12" name="six arrow"/>
          <p:cNvSpPr/>
          <p:nvPr/>
        </p:nvSpPr>
        <p:spPr>
          <a:xfrm>
            <a:off x="9372600" y="3172968"/>
            <a:ext cx="502920" cy="32918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six scaled value"/>
          <p:cNvSpPr txBox="1"/>
          <p:nvPr/>
        </p:nvSpPr>
        <p:spPr>
          <a:xfrm>
            <a:off x="10012680" y="283464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61 %</a:t>
            </a:r>
            <a:endParaRPr lang="en-US" sz="4000" dirty="0"/>
          </a:p>
        </p:txBody>
      </p:sp>
      <p:sp>
        <p:nvSpPr>
          <p:cNvPr id="14" name="six scaled label"/>
          <p:cNvSpPr txBox="1"/>
          <p:nvPr/>
        </p:nvSpPr>
        <p:spPr>
          <a:xfrm>
            <a:off x="10012680" y="3547872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person-scaled</a:t>
            </a:r>
            <a:endParaRPr lang="en-US" sz="1400" dirty="0"/>
          </a:p>
        </p:txBody>
      </p:sp>
      <p:sp>
        <p:nvSpPr>
          <p:cNvPr id="15" name="six note"/>
          <p:cNvSpPr txBox="1"/>
          <p:nvPr/>
        </p:nvSpPr>
        <p:spPr>
          <a:xfrm>
            <a:off x="7863840" y="416052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these, the height part is right 91 % of the time and the width part 63 %: height is recognised, width adds little beyond guessing.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People cross both widths the same way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limit is behavioural, not the sensor: a 10 cm wider obstacle barely changes the crossing.</a:t>
            </a:r>
            <a:endParaRPr lang="en-US" sz="1800" dirty="0"/>
          </a:p>
        </p:txBody>
      </p:sp>
      <p:sp>
        <p:nvSpPr>
          <p:cNvPr id="4" name="width card 1"/>
          <p:cNvSpPr/>
          <p:nvPr/>
        </p:nvSpPr>
        <p:spPr>
          <a:xfrm>
            <a:off x="548640" y="1737360"/>
            <a:ext cx="3493008" cy="2075688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5" name="width stat 1 value"/>
          <p:cNvSpPr txBox="1"/>
          <p:nvPr/>
        </p:nvSpPr>
        <p:spPr>
          <a:xfrm>
            <a:off x="822960" y="196596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+4 cm</a:t>
            </a:r>
            <a:endParaRPr lang="en-US" sz="3600" dirty="0"/>
          </a:p>
        </p:txBody>
      </p:sp>
      <p:sp>
        <p:nvSpPr>
          <p:cNvPr id="6" name="width stat 1 label"/>
          <p:cNvSpPr txBox="1"/>
          <p:nvPr/>
        </p:nvSpPr>
        <p:spPr>
          <a:xfrm>
            <a:off x="822960" y="2615184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longer crossing step for a 10 cm wider obstacle (camera; 8 of 10 people)</a:t>
            </a:r>
            <a:endParaRPr lang="en-US" sz="1400" dirty="0"/>
          </a:p>
        </p:txBody>
      </p:sp>
      <p:sp>
        <p:nvSpPr>
          <p:cNvPr id="7" name="width card 2"/>
          <p:cNvSpPr/>
          <p:nvPr/>
        </p:nvSpPr>
        <p:spPr>
          <a:xfrm>
            <a:off x="4325112" y="1737360"/>
            <a:ext cx="3493008" cy="2075688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8" name="width stat 2 value"/>
          <p:cNvSpPr txBox="1"/>
          <p:nvPr/>
        </p:nvSpPr>
        <p:spPr>
          <a:xfrm>
            <a:off x="4599432" y="1965960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 0.08</a:t>
            </a:r>
            <a:endParaRPr lang="en-US" sz="3600" dirty="0"/>
          </a:p>
        </p:txBody>
      </p:sp>
      <p:sp>
        <p:nvSpPr>
          <p:cNvPr id="9" name="width stat 2 label"/>
          <p:cNvSpPr txBox="1"/>
          <p:nvPr/>
        </p:nvSpPr>
        <p:spPr>
          <a:xfrm>
            <a:off x="4599432" y="2615184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share of within-person variance due to width in any swing curve (height: up to 0.76)</a:t>
            </a:r>
            <a:endParaRPr lang="en-US" sz="1400" dirty="0"/>
          </a:p>
        </p:txBody>
      </p:sp>
      <p:sp>
        <p:nvSpPr>
          <p:cNvPr id="10" name="width card 3"/>
          <p:cNvSpPr/>
          <p:nvPr/>
        </p:nvSpPr>
        <p:spPr>
          <a:xfrm>
            <a:off x="548640" y="4096512"/>
            <a:ext cx="3493008" cy="2075688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1" name="width stat 3 value"/>
          <p:cNvSpPr txBox="1"/>
          <p:nvPr/>
        </p:nvSpPr>
        <p:spPr>
          <a:xfrm>
            <a:off x="822960" y="4325112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≤ 0.06</a:t>
            </a:r>
            <a:endParaRPr lang="en-US" sz="3600" dirty="0"/>
          </a:p>
        </p:txBody>
      </p:sp>
      <p:sp>
        <p:nvSpPr>
          <p:cNvPr id="12" name="width stat 3 label"/>
          <p:cNvSpPr txBox="1"/>
          <p:nvPr/>
        </p:nvSpPr>
        <p:spPr>
          <a:xfrm>
            <a:off x="822960" y="4974336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same for sideways tilt, twist and the outward foot path</a:t>
            </a:r>
            <a:endParaRPr lang="en-US" sz="1400" dirty="0"/>
          </a:p>
        </p:txBody>
      </p:sp>
      <p:sp>
        <p:nvSpPr>
          <p:cNvPr id="13" name="width card 4"/>
          <p:cNvSpPr/>
          <p:nvPr/>
        </p:nvSpPr>
        <p:spPr>
          <a:xfrm>
            <a:off x="4325112" y="4096512"/>
            <a:ext cx="3493008" cy="2075688"/>
          </a:xfrm>
          <a:prstGeom prst="roundRect">
            <a:avLst>
              <a:gd name="adj" fmla="val 5286"/>
            </a:avLst>
          </a:prstGeom>
          <a:solidFill>
            <a:schemeClr val="bg2"/>
          </a:solidFill>
          <a:ln/>
        </p:spPr>
      </p:sp>
      <p:sp>
        <p:nvSpPr>
          <p:cNvPr id="14" name="width stat 4 value"/>
          <p:cNvSpPr txBox="1"/>
          <p:nvPr/>
        </p:nvSpPr>
        <p:spPr>
          <a:xfrm>
            <a:off x="4599432" y="4325112"/>
            <a:ext cx="2944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57.6 %</a:t>
            </a:r>
            <a:endParaRPr lang="en-US" sz="3600" dirty="0"/>
          </a:p>
        </p:txBody>
      </p:sp>
      <p:sp>
        <p:nvSpPr>
          <p:cNvPr id="15" name="width stat 4 label"/>
          <p:cNvSpPr txBox="1"/>
          <p:nvPr/>
        </p:nvSpPr>
        <p:spPr>
          <a:xfrm>
            <a:off x="4599432" y="4974336"/>
            <a:ext cx="29443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width from the camera's own foot placement (chance 50 %)</a:t>
            </a:r>
            <a:endParaRPr lang="en-US" sz="1400" dirty="0"/>
          </a:p>
        </p:txBody>
      </p:sp>
      <p:sp>
        <p:nvSpPr>
          <p:cNvPr id="16" name="width meaning"/>
          <p:cNvSpPr/>
          <p:nvPr/>
        </p:nvSpPr>
        <p:spPr>
          <a:xfrm>
            <a:off x="8138160" y="1737360"/>
            <a:ext cx="3502152" cy="4434840"/>
          </a:xfrm>
          <a:prstGeom prst="roundRect">
            <a:avLst>
              <a:gd name="adj" fmla="val 3133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17" name="width meaning circle"/>
          <p:cNvSpPr/>
          <p:nvPr/>
        </p:nvSpPr>
        <p:spPr>
          <a:xfrm>
            <a:off x="8412480" y="2011680"/>
            <a:ext cx="566928" cy="56692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width meaning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8543" y="2147743"/>
            <a:ext cx="294803" cy="294803"/>
          </a:xfrm>
          <a:prstGeom prst="rect">
            <a:avLst/>
          </a:prstGeom>
        </p:spPr>
      </p:pic>
      <p:sp>
        <p:nvSpPr>
          <p:cNvPr id="19" name="width meaning text"/>
          <p:cNvSpPr txBox="1"/>
          <p:nvPr/>
        </p:nvSpPr>
        <p:spPr>
          <a:xfrm>
            <a:off x="8412480" y="274320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What it means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 wearable can tell how high to lift the foot, not how far to step. Width cues would need a sensor that sees the obstacle itself.</a:t>
            </a:r>
            <a:endParaRPr lang="en-US" sz="1600" dirty="0"/>
          </a:p>
        </p:txBody>
      </p:sp>
      <p:sp>
        <p:nvSpPr>
          <p:cNvPr id="20" name="peak share head"/>
          <p:cNvSpPr txBox="1"/>
          <p:nvPr/>
        </p:nvSpPr>
        <p:spPr>
          <a:xfrm>
            <a:off x="8412480" y="4526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Largest share of within-person variance</a:t>
            </a:r>
            <a:endParaRPr lang="en-US" sz="1200" dirty="0"/>
          </a:p>
        </p:txBody>
      </p:sp>
      <p:sp>
        <p:nvSpPr>
          <p:cNvPr id="21" name="peak label 1"/>
          <p:cNvSpPr txBox="1"/>
          <p:nvPr/>
        </p:nvSpPr>
        <p:spPr>
          <a:xfrm>
            <a:off x="8412480" y="4937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height</a:t>
            </a:r>
            <a:endParaRPr lang="en-US" sz="1200" dirty="0"/>
          </a:p>
        </p:txBody>
      </p:sp>
      <p:sp>
        <p:nvSpPr>
          <p:cNvPr id="22" name="peak bar 1"/>
          <p:cNvSpPr/>
          <p:nvPr/>
        </p:nvSpPr>
        <p:spPr>
          <a:xfrm>
            <a:off x="9098280" y="4965192"/>
            <a:ext cx="1667866" cy="21945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3" name="peak value 1"/>
          <p:cNvSpPr txBox="1"/>
          <p:nvPr/>
        </p:nvSpPr>
        <p:spPr>
          <a:xfrm>
            <a:off x="10839298" y="49377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0.76</a:t>
            </a:r>
            <a:endParaRPr lang="en-US" sz="1200" dirty="0"/>
          </a:p>
        </p:txBody>
      </p:sp>
      <p:sp>
        <p:nvSpPr>
          <p:cNvPr id="24" name="peak label 2"/>
          <p:cNvSpPr txBox="1"/>
          <p:nvPr/>
        </p:nvSpPr>
        <p:spPr>
          <a:xfrm>
            <a:off x="8412480" y="53949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width</a:t>
            </a:r>
            <a:endParaRPr lang="en-US" sz="1200" dirty="0"/>
          </a:p>
        </p:txBody>
      </p:sp>
      <p:sp>
        <p:nvSpPr>
          <p:cNvPr id="25" name="peak bar 2"/>
          <p:cNvSpPr/>
          <p:nvPr/>
        </p:nvSpPr>
        <p:spPr>
          <a:xfrm>
            <a:off x="9098280" y="5422392"/>
            <a:ext cx="175565" cy="219456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26" name="peak value 2"/>
          <p:cNvSpPr txBox="1"/>
          <p:nvPr/>
        </p:nvSpPr>
        <p:spPr>
          <a:xfrm>
            <a:off x="9346997" y="5394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≤ 0.08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514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Toward a wearable cueing device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Which sensors, how much calibration, real sessions, no camera, and real-time cues</a:t>
            </a:r>
            <a:endParaRPr lang="en-US" sz="2000" dirty="0"/>
          </a:p>
        </p:txBody>
      </p:sp>
      <p:sp>
        <p:nvSpPr>
          <p:cNvPr id="4" name="section number"/>
          <p:cNvSpPr txBox="1"/>
          <p:nvPr/>
        </p:nvSpPr>
        <p:spPr>
          <a:xfrm>
            <a:off x="731520" y="14173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5" name="section circle"/>
          <p:cNvSpPr/>
          <p:nvPr/>
        </p:nvSpPr>
        <p:spPr>
          <a:xfrm>
            <a:off x="8915400" y="2011680"/>
            <a:ext cx="2468880" cy="24688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sect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7931" y="2604211"/>
            <a:ext cx="1283818" cy="12838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Two foot IMUs are enough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Height accuracy by sensor set (person scaling; lead and trail models combined).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ensor 1 circle"/>
          <p:cNvSpPr/>
          <p:nvPr/>
        </p:nvSpPr>
        <p:spPr>
          <a:xfrm>
            <a:off x="8092440" y="1874520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sensor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9724" y="2001804"/>
            <a:ext cx="275783" cy="275783"/>
          </a:xfrm>
          <a:prstGeom prst="rect">
            <a:avLst/>
          </a:prstGeom>
        </p:spPr>
      </p:pic>
      <p:sp>
        <p:nvSpPr>
          <p:cNvPr id="7" name="sensor text 1"/>
          <p:cNvSpPr txBox="1"/>
          <p:nvPr/>
        </p:nvSpPr>
        <p:spPr>
          <a:xfrm>
            <a:off x="8778240" y="1856232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Best site: the foot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tilt and path of both legs: 92.3 % (CI 87–96)</a:t>
            </a:r>
            <a:endParaRPr lang="en-US" sz="1600" dirty="0"/>
          </a:p>
        </p:txBody>
      </p:sp>
      <p:sp>
        <p:nvSpPr>
          <p:cNvPr id="8" name="sensor 2 circle"/>
          <p:cNvSpPr/>
          <p:nvPr/>
        </p:nvSpPr>
        <p:spPr>
          <a:xfrm>
            <a:off x="8092440" y="3246120"/>
            <a:ext cx="530352" cy="530352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9" name="sensor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9724" y="3373404"/>
            <a:ext cx="275783" cy="275783"/>
          </a:xfrm>
          <a:prstGeom prst="rect">
            <a:avLst/>
          </a:prstGeom>
        </p:spPr>
      </p:pic>
      <p:sp>
        <p:nvSpPr>
          <p:cNvPr id="10" name="sensor text 2"/>
          <p:cNvSpPr txBox="1"/>
          <p:nvPr/>
        </p:nvSpPr>
        <p:spPr>
          <a:xfrm>
            <a:off x="8778240" y="3227832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More sensors don't help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all six IMUs: 91.2 %</a:t>
            </a:r>
            <a:endParaRPr lang="en-US" sz="1600" dirty="0"/>
          </a:p>
        </p:txBody>
      </p:sp>
      <p:sp>
        <p:nvSpPr>
          <p:cNvPr id="11" name="sensor 3 circle"/>
          <p:cNvSpPr/>
          <p:nvPr/>
        </p:nvSpPr>
        <p:spPr>
          <a:xfrm>
            <a:off x="8092440" y="4617720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ensor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724" y="4745004"/>
            <a:ext cx="275783" cy="275783"/>
          </a:xfrm>
          <a:prstGeom prst="rect">
            <a:avLst/>
          </a:prstGeom>
        </p:spPr>
      </p:pic>
      <p:sp>
        <p:nvSpPr>
          <p:cNvPr id="13" name="sensor text 3"/>
          <p:cNvSpPr txBox="1"/>
          <p:nvPr/>
        </p:nvSpPr>
        <p:spPr>
          <a:xfrm>
            <a:off x="8778240" y="4599432"/>
            <a:ext cx="28620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One foot only: 83–91 %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it leads in some crossings and trails in others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little calibration goes a long way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Two foot IMUs on a new user: accuracy by what the device knows about that person.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6352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key dot 1"/>
          <p:cNvSpPr/>
          <p:nvPr/>
        </p:nvSpPr>
        <p:spPr>
          <a:xfrm>
            <a:off x="8503920" y="1856232"/>
            <a:ext cx="274320" cy="27432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6" name="key text 1"/>
          <p:cNvSpPr txBox="1"/>
          <p:nvPr/>
        </p:nvSpPr>
        <p:spPr>
          <a:xfrm>
            <a:off x="8961120" y="1783080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No calibration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generic model only</a:t>
            </a:r>
            <a:endParaRPr lang="en-US" sz="1600" dirty="0"/>
          </a:p>
        </p:txBody>
      </p:sp>
      <p:sp>
        <p:nvSpPr>
          <p:cNvPr id="7" name="key dot 2"/>
          <p:cNvSpPr/>
          <p:nvPr/>
        </p:nvSpPr>
        <p:spPr>
          <a:xfrm>
            <a:off x="8503920" y="288036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key text 2"/>
          <p:cNvSpPr txBox="1"/>
          <p:nvPr/>
        </p:nvSpPr>
        <p:spPr>
          <a:xfrm>
            <a:off x="8961120" y="2807208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Unlabelled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device just watches the user cross (random crossings)</a:t>
            </a:r>
            <a:endParaRPr lang="en-US" sz="1600" dirty="0"/>
          </a:p>
        </p:txBody>
      </p:sp>
      <p:sp>
        <p:nvSpPr>
          <p:cNvPr id="9" name="key dot 3"/>
          <p:cNvSpPr/>
          <p:nvPr/>
        </p:nvSpPr>
        <p:spPr>
          <a:xfrm>
            <a:off x="8503920" y="3904488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key text 3"/>
          <p:cNvSpPr txBox="1"/>
          <p:nvPr/>
        </p:nvSpPr>
        <p:spPr>
          <a:xfrm>
            <a:off x="8961120" y="3831336"/>
            <a:ext cx="2679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Labelled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 user confirms the height once (physics-informed offset model)</a:t>
            </a:r>
            <a:endParaRPr lang="en-US" sz="1600" dirty="0"/>
          </a:p>
        </p:txBody>
      </p:sp>
      <p:sp>
        <p:nvSpPr>
          <p:cNvPr id="11" name="blocked note"/>
          <p:cNvSpPr/>
          <p:nvPr/>
        </p:nvSpPr>
        <p:spPr>
          <a:xfrm>
            <a:off x="8503920" y="4937760"/>
            <a:ext cx="3136392" cy="123444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</p:sp>
      <p:sp>
        <p:nvSpPr>
          <p:cNvPr id="12" name="blocked note text"/>
          <p:cNvSpPr txBox="1"/>
          <p:nvPr/>
        </p:nvSpPr>
        <p:spPr>
          <a:xfrm>
            <a:off x="8686800" y="4937760"/>
            <a:ext cx="28163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 the blocked study order, the first 15 crossings give only 67.9 %: they cover 1–2 obstacles.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In mixed order the device learns quickly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Sessions shuffled 30×: the device starts generic, then scales to the crossings it has seen.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22376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mixed early value"/>
          <p:cNvSpPr txBox="1"/>
          <p:nvPr/>
        </p:nvSpPr>
        <p:spPr>
          <a:xfrm>
            <a:off x="8092440" y="169164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79 %</a:t>
            </a:r>
            <a:endParaRPr lang="en-US" sz="4000" dirty="0"/>
          </a:p>
        </p:txBody>
      </p:sp>
      <p:sp>
        <p:nvSpPr>
          <p:cNvPr id="6" name="mixed early label"/>
          <p:cNvSpPr txBox="1"/>
          <p:nvPr/>
        </p:nvSpPr>
        <p:spPr>
          <a:xfrm>
            <a:off x="8092440" y="240487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order, crossings 6–15 (blocked order: 51 %)</a:t>
            </a:r>
            <a:endParaRPr lang="en-US" sz="1400" dirty="0"/>
          </a:p>
        </p:txBody>
      </p:sp>
      <p:sp>
        <p:nvSpPr>
          <p:cNvPr id="7" name="mixed late value"/>
          <p:cNvSpPr txBox="1"/>
          <p:nvPr/>
        </p:nvSpPr>
        <p:spPr>
          <a:xfrm>
            <a:off x="8092440" y="3017520"/>
            <a:ext cx="35478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90 %</a:t>
            </a:r>
            <a:endParaRPr lang="en-US" sz="4000" dirty="0"/>
          </a:p>
        </p:txBody>
      </p:sp>
      <p:sp>
        <p:nvSpPr>
          <p:cNvPr id="8" name="mixed late label"/>
          <p:cNvSpPr txBox="1"/>
          <p:nvPr/>
        </p:nvSpPr>
        <p:spPr>
          <a:xfrm>
            <a:off x="8092440" y="3730752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mixed order, from crossing 16 on (blocked: 89 %)</a:t>
            </a:r>
            <a:endParaRPr lang="en-US" sz="1400" dirty="0"/>
          </a:p>
        </p:txBody>
      </p:sp>
      <p:sp>
        <p:nvSpPr>
          <p:cNvPr id="9" name="mixed note"/>
          <p:cNvSpPr/>
          <p:nvPr/>
        </p:nvSpPr>
        <p:spPr>
          <a:xfrm>
            <a:off x="8092440" y="4434840"/>
            <a:ext cx="3547872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</p:sp>
      <p:sp>
        <p:nvSpPr>
          <p:cNvPr id="10" name="mixed note text"/>
          <p:cNvSpPr txBox="1"/>
          <p:nvPr/>
        </p:nvSpPr>
        <p:spPr>
          <a:xfrm>
            <a:off x="8321040" y="4434840"/>
            <a:ext cx="3108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blocked early history covers 1–2 obstacles and biases the scaling, so the study's blocked-order numbers are pessimistic for real use.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No camera needed: 86 % end to end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From 7,250 raw strides: find the crossings, pair lead and trail strides, classify the height.</a:t>
            </a:r>
            <a:endParaRPr lang="en-US" sz="1800" dirty="0"/>
          </a:p>
        </p:txBody>
      </p:sp>
      <p:sp>
        <p:nvSpPr>
          <p:cNvPr id="4" name="step card 1"/>
          <p:cNvSpPr/>
          <p:nvPr/>
        </p:nvSpPr>
        <p:spPr>
          <a:xfrm>
            <a:off x="548640" y="1783080"/>
            <a:ext cx="2514600" cy="3108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5" name="step 1 circle"/>
          <p:cNvSpPr/>
          <p:nvPr/>
        </p:nvSpPr>
        <p:spPr>
          <a:xfrm>
            <a:off x="822960" y="20299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7801" y="2174809"/>
            <a:ext cx="313822" cy="313822"/>
          </a:xfrm>
          <a:prstGeom prst="rect">
            <a:avLst/>
          </a:prstGeom>
        </p:spPr>
      </p:pic>
      <p:sp>
        <p:nvSpPr>
          <p:cNvPr id="7" name="step head 1"/>
          <p:cNvSpPr txBox="1"/>
          <p:nvPr/>
        </p:nvSpPr>
        <p:spPr>
          <a:xfrm>
            <a:off x="1572768" y="202996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· Detect</a:t>
            </a:r>
            <a:endParaRPr lang="en-US" sz="1600" dirty="0"/>
          </a:p>
        </p:txBody>
      </p:sp>
      <p:sp>
        <p:nvSpPr>
          <p:cNvPr id="8" name="step 1 value"/>
          <p:cNvSpPr txBox="1"/>
          <p:nvPr/>
        </p:nvSpPr>
        <p:spPr>
          <a:xfrm>
            <a:off x="822960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98.7 %</a:t>
            </a:r>
            <a:endParaRPr lang="en-US" sz="3400" dirty="0"/>
          </a:p>
        </p:txBody>
      </p:sp>
      <p:sp>
        <p:nvSpPr>
          <p:cNvPr id="9" name="step 1 label"/>
          <p:cNvSpPr txBox="1"/>
          <p:nvPr/>
        </p:nvSpPr>
        <p:spPr>
          <a:xfrm>
            <a:off x="822960" y="34107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crossing strides found; 97.2 % of detections are real</a:t>
            </a:r>
            <a:endParaRPr lang="en-US" sz="1400" dirty="0"/>
          </a:p>
        </p:txBody>
      </p:sp>
      <p:sp>
        <p:nvSpPr>
          <p:cNvPr id="10" name="flow arrow 1"/>
          <p:cNvSpPr/>
          <p:nvPr/>
        </p:nvSpPr>
        <p:spPr>
          <a:xfrm>
            <a:off x="3136392" y="3172968"/>
            <a:ext cx="201168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1" name="step card 2"/>
          <p:cNvSpPr/>
          <p:nvPr/>
        </p:nvSpPr>
        <p:spPr>
          <a:xfrm>
            <a:off x="3408883" y="1783080"/>
            <a:ext cx="2514600" cy="3108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2" name="step 2 circle"/>
          <p:cNvSpPr/>
          <p:nvPr/>
        </p:nvSpPr>
        <p:spPr>
          <a:xfrm>
            <a:off x="3683203" y="20299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8044" y="2174809"/>
            <a:ext cx="313822" cy="313822"/>
          </a:xfrm>
          <a:prstGeom prst="rect">
            <a:avLst/>
          </a:prstGeom>
        </p:spPr>
      </p:pic>
      <p:sp>
        <p:nvSpPr>
          <p:cNvPr id="14" name="step head 2"/>
          <p:cNvSpPr txBox="1"/>
          <p:nvPr/>
        </p:nvSpPr>
        <p:spPr>
          <a:xfrm>
            <a:off x="4433011" y="202996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· Pair</a:t>
            </a:r>
            <a:endParaRPr lang="en-US" sz="1600" dirty="0"/>
          </a:p>
        </p:txBody>
      </p:sp>
      <p:sp>
        <p:nvSpPr>
          <p:cNvPr id="15" name="step 2 value"/>
          <p:cNvSpPr txBox="1"/>
          <p:nvPr/>
        </p:nvSpPr>
        <p:spPr>
          <a:xfrm>
            <a:off x="3683203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95.2 %</a:t>
            </a:r>
            <a:endParaRPr lang="en-US" sz="3400" dirty="0"/>
          </a:p>
        </p:txBody>
      </p:sp>
      <p:sp>
        <p:nvSpPr>
          <p:cNvPr id="16" name="step 2 label"/>
          <p:cNvSpPr txBox="1"/>
          <p:nvPr/>
        </p:nvSpPr>
        <p:spPr>
          <a:xfrm>
            <a:off x="3683203" y="34107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crossings with the right lead and trail strides (first foot = lead)</a:t>
            </a:r>
            <a:endParaRPr lang="en-US" sz="1400" dirty="0"/>
          </a:p>
        </p:txBody>
      </p:sp>
      <p:sp>
        <p:nvSpPr>
          <p:cNvPr id="17" name="flow arrow 2"/>
          <p:cNvSpPr/>
          <p:nvPr/>
        </p:nvSpPr>
        <p:spPr>
          <a:xfrm>
            <a:off x="5996635" y="3172968"/>
            <a:ext cx="201168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18" name="step card 3"/>
          <p:cNvSpPr/>
          <p:nvPr/>
        </p:nvSpPr>
        <p:spPr>
          <a:xfrm>
            <a:off x="6269126" y="1783080"/>
            <a:ext cx="2514600" cy="3108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9" name="step 3 circle"/>
          <p:cNvSpPr/>
          <p:nvPr/>
        </p:nvSpPr>
        <p:spPr>
          <a:xfrm>
            <a:off x="6543446" y="2029968"/>
            <a:ext cx="603504" cy="603504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8287" y="2174809"/>
            <a:ext cx="313822" cy="313822"/>
          </a:xfrm>
          <a:prstGeom prst="rect">
            <a:avLst/>
          </a:prstGeom>
        </p:spPr>
      </p:pic>
      <p:sp>
        <p:nvSpPr>
          <p:cNvPr id="21" name="step head 3"/>
          <p:cNvSpPr txBox="1"/>
          <p:nvPr/>
        </p:nvSpPr>
        <p:spPr>
          <a:xfrm>
            <a:off x="7293254" y="202996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· Classify</a:t>
            </a:r>
            <a:endParaRPr lang="en-US" sz="1600" dirty="0"/>
          </a:p>
        </p:txBody>
      </p:sp>
      <p:sp>
        <p:nvSpPr>
          <p:cNvPr id="22" name="step 3 value"/>
          <p:cNvSpPr txBox="1"/>
          <p:nvPr/>
        </p:nvSpPr>
        <p:spPr>
          <a:xfrm>
            <a:off x="6543446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90.7 %</a:t>
            </a:r>
            <a:endParaRPr lang="en-US" sz="3400" dirty="0"/>
          </a:p>
        </p:txBody>
      </p:sp>
      <p:sp>
        <p:nvSpPr>
          <p:cNvPr id="23" name="step 3 label"/>
          <p:cNvSpPr txBox="1"/>
          <p:nvPr/>
        </p:nvSpPr>
        <p:spPr>
          <a:xfrm>
            <a:off x="6543446" y="34107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found crossings get the right height</a:t>
            </a:r>
            <a:endParaRPr lang="en-US" sz="1400" dirty="0"/>
          </a:p>
        </p:txBody>
      </p:sp>
      <p:sp>
        <p:nvSpPr>
          <p:cNvPr id="24" name="flow arrow 3"/>
          <p:cNvSpPr/>
          <p:nvPr/>
        </p:nvSpPr>
        <p:spPr>
          <a:xfrm>
            <a:off x="8856878" y="3172968"/>
            <a:ext cx="201168" cy="329184"/>
          </a:xfrm>
          <a:prstGeom prst="chevron">
            <a:avLst/>
          </a:prstGeom>
          <a:solidFill>
            <a:schemeClr val="accent6"/>
          </a:solidFill>
          <a:ln/>
        </p:spPr>
      </p:sp>
      <p:sp>
        <p:nvSpPr>
          <p:cNvPr id="25" name="step card 4"/>
          <p:cNvSpPr/>
          <p:nvPr/>
        </p:nvSpPr>
        <p:spPr>
          <a:xfrm>
            <a:off x="9129370" y="1783080"/>
            <a:ext cx="2514600" cy="310896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26" name="step 4 circle"/>
          <p:cNvSpPr/>
          <p:nvPr/>
        </p:nvSpPr>
        <p:spPr>
          <a:xfrm>
            <a:off x="9403690" y="2029968"/>
            <a:ext cx="603504" cy="60350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7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8531" y="2174809"/>
            <a:ext cx="313822" cy="313822"/>
          </a:xfrm>
          <a:prstGeom prst="rect">
            <a:avLst/>
          </a:prstGeom>
        </p:spPr>
      </p:pic>
      <p:sp>
        <p:nvSpPr>
          <p:cNvPr id="28" name="step head 4"/>
          <p:cNvSpPr txBox="1"/>
          <p:nvPr/>
        </p:nvSpPr>
        <p:spPr>
          <a:xfrm>
            <a:off x="10153498" y="2029968"/>
            <a:ext cx="14173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End to end</a:t>
            </a:r>
            <a:endParaRPr lang="en-US" sz="1600" dirty="0"/>
          </a:p>
        </p:txBody>
      </p:sp>
      <p:sp>
        <p:nvSpPr>
          <p:cNvPr id="29" name="step 4 value"/>
          <p:cNvSpPr txBox="1"/>
          <p:nvPr/>
        </p:nvSpPr>
        <p:spPr>
          <a:xfrm>
            <a:off x="9403690" y="27889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86.3 %</a:t>
            </a:r>
            <a:endParaRPr lang="en-US" sz="3400" dirty="0"/>
          </a:p>
        </p:txBody>
      </p:sp>
      <p:sp>
        <p:nvSpPr>
          <p:cNvPr id="30" name="step 4 label"/>
          <p:cNvSpPr txBox="1"/>
          <p:nvPr/>
        </p:nvSpPr>
        <p:spPr>
          <a:xfrm>
            <a:off x="9403690" y="3410712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fully correct; 83.5 % of every crossing walked</a:t>
            </a:r>
            <a:endParaRPr lang="en-US" sz="1400" dirty="0"/>
          </a:p>
        </p:txBody>
      </p:sp>
      <p:sp>
        <p:nvSpPr>
          <p:cNvPr id="31" name="stream note"/>
          <p:cNvSpPr/>
          <p:nvPr/>
        </p:nvSpPr>
        <p:spPr>
          <a:xfrm>
            <a:off x="548640" y="5166360"/>
            <a:ext cx="11091672" cy="1005840"/>
          </a:xfrm>
          <a:prstGeom prst="roundRect">
            <a:avLst>
              <a:gd name="adj" fmla="val 10909"/>
            </a:avLst>
          </a:prstGeom>
          <a:solidFill>
            <a:schemeClr val="accent4">
              <a:alpha val="15000"/>
            </a:schemeClr>
          </a:solidFill>
          <a:ln/>
        </p:spPr>
      </p:sp>
      <p:sp>
        <p:nvSpPr>
          <p:cNvPr id="32" name="stream note circle"/>
          <p:cNvSpPr/>
          <p:nvPr/>
        </p:nvSpPr>
        <p:spPr>
          <a:xfrm>
            <a:off x="822960" y="534924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3" name="stream note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579" y="5502859"/>
            <a:ext cx="332842" cy="332842"/>
          </a:xfrm>
          <a:prstGeom prst="rect">
            <a:avLst/>
          </a:prstGeom>
        </p:spPr>
      </p:pic>
      <p:sp>
        <p:nvSpPr>
          <p:cNvPr id="34" name="stream note text"/>
          <p:cNvSpPr txBox="1"/>
          <p:nvPr/>
        </p:nvSpPr>
        <p:spPr>
          <a:xfrm>
            <a:off x="1691640" y="516636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Scaling must come from crossings: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scaling to the person's normal walking instead gives only 52.9 % end to end. About 1.4 false crossings per person per session.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Real-time cue: about 3 in 4 correct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Only the leading leg's data exist when the cue is sent (mixed order, learning as it goes).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3152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cue timing"/>
          <p:cNvSpPr txBox="1"/>
          <p:nvPr/>
        </p:nvSpPr>
        <p:spPr>
          <a:xfrm>
            <a:off x="548640" y="57607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Time left before the trailing foot lifts: 683 ms at the lead-foot apex, 417 ms at lead landing.</a:t>
            </a:r>
            <a:endParaRPr lang="en-US" sz="1400" dirty="0"/>
          </a:p>
        </p:txBody>
      </p:sp>
      <p:sp>
        <p:nvSpPr>
          <p:cNvPr id="6" name="cue detect value"/>
          <p:cNvSpPr txBox="1"/>
          <p:nvPr/>
        </p:nvSpPr>
        <p:spPr>
          <a:xfrm>
            <a:off x="8183880" y="169164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99 %</a:t>
            </a:r>
            <a:endParaRPr lang="en-US" sz="4000" dirty="0"/>
          </a:p>
        </p:txBody>
      </p:sp>
      <p:sp>
        <p:nvSpPr>
          <p:cNvPr id="7" name="cue detect label"/>
          <p:cNvSpPr txBox="1"/>
          <p:nvPr/>
        </p:nvSpPr>
        <p:spPr>
          <a:xfrm>
            <a:off x="8183880" y="240487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leading-leg crossings detected at the foot apex, online</a:t>
            </a:r>
            <a:endParaRPr lang="en-US" sz="1400" dirty="0"/>
          </a:p>
        </p:txBody>
      </p:sp>
      <p:sp>
        <p:nvSpPr>
          <p:cNvPr id="8" name="cue false value"/>
          <p:cNvSpPr txBox="1"/>
          <p:nvPr/>
        </p:nvSpPr>
        <p:spPr>
          <a:xfrm>
            <a:off x="8183880" y="301752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4000" dirty="0"/>
          </a:p>
        </p:txBody>
      </p:sp>
      <p:sp>
        <p:nvSpPr>
          <p:cNvPr id="9" name="cue false label"/>
          <p:cNvSpPr txBox="1"/>
          <p:nvPr/>
        </p:nvSpPr>
        <p:spPr>
          <a:xfrm>
            <a:off x="8183880" y="3730752"/>
            <a:ext cx="3456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false detections per session (~725 strides)</a:t>
            </a:r>
            <a:endParaRPr lang="en-US" sz="1400" dirty="0"/>
          </a:p>
        </p:txBody>
      </p:sp>
      <p:sp>
        <p:nvSpPr>
          <p:cNvPr id="10" name="cue confident value"/>
          <p:cNvSpPr txBox="1"/>
          <p:nvPr/>
        </p:nvSpPr>
        <p:spPr>
          <a:xfrm>
            <a:off x="8183880" y="4343400"/>
            <a:ext cx="3456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79–82 %</a:t>
            </a:r>
            <a:endParaRPr lang="en-US" sz="4000" dirty="0"/>
          </a:p>
        </p:txBody>
      </p:sp>
      <p:sp>
        <p:nvSpPr>
          <p:cNvPr id="11" name="cue confident label"/>
          <p:cNvSpPr txBox="1"/>
          <p:nvPr/>
        </p:nvSpPr>
        <p:spPr>
          <a:xfrm>
            <a:off x="8183880" y="5056632"/>
            <a:ext cx="34564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cues are right when the device cues only if confident (p ≥ 0.6)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Confidence helps; more people barely 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Answering only when confident buys accuracy; the learning curve is flat from 2–3 people.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440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199632" y="1691640"/>
          <a:ext cx="54406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Errors follow trailing-foot consistency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Per participant: person-scaled accuracy vs how consistently they lift the trailing foot (d′).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704088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r trail value"/>
          <p:cNvSpPr txBox="1"/>
          <p:nvPr/>
        </p:nvSpPr>
        <p:spPr>
          <a:xfrm>
            <a:off x="7909560" y="169164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 = 0.77</a:t>
            </a:r>
            <a:endParaRPr lang="en-US" sz="3600" dirty="0"/>
          </a:p>
        </p:txBody>
      </p:sp>
      <p:sp>
        <p:nvSpPr>
          <p:cNvPr id="6" name="r trail label"/>
          <p:cNvSpPr txBox="1"/>
          <p:nvPr/>
        </p:nvSpPr>
        <p:spPr>
          <a:xfrm>
            <a:off x="7909560" y="2404872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accuracy vs trailing d′ over the 10 participants (lead d′: r = 0.25)</a:t>
            </a:r>
            <a:endParaRPr lang="en-US" sz="1400" dirty="0"/>
          </a:p>
        </p:txBody>
      </p:sp>
      <p:sp>
        <p:nvSpPr>
          <p:cNvPr id="7" name="p108 value"/>
          <p:cNvSpPr txBox="1"/>
          <p:nvPr/>
        </p:nvSpPr>
        <p:spPr>
          <a:xfrm>
            <a:off x="7909560" y="320040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5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73 %</a:t>
            </a:r>
            <a:endParaRPr lang="en-US" sz="3600" dirty="0"/>
          </a:p>
        </p:txBody>
      </p:sp>
      <p:sp>
        <p:nvSpPr>
          <p:cNvPr id="8" name="p108 label"/>
          <p:cNvSpPr txBox="1"/>
          <p:nvPr/>
        </p:nvSpPr>
        <p:spPr>
          <a:xfrm>
            <a:off x="7909560" y="3913632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participant 108, with the least consistent trailing lift (d′ 0.9 vs 2.1–4.5)</a:t>
            </a:r>
            <a:endParaRPr lang="en-US" sz="1400" dirty="0"/>
          </a:p>
        </p:txBody>
      </p:sp>
      <p:sp>
        <p:nvSpPr>
          <p:cNvPr id="9" name="r generic value"/>
          <p:cNvSpPr txBox="1"/>
          <p:nvPr/>
        </p:nvSpPr>
        <p:spPr>
          <a:xfrm>
            <a:off x="7909560" y="4709160"/>
            <a:ext cx="3730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 = −0.66</a:t>
            </a:r>
            <a:endParaRPr lang="en-US" sz="3600" dirty="0"/>
          </a:p>
        </p:txBody>
      </p:sp>
      <p:sp>
        <p:nvSpPr>
          <p:cNvPr id="10" name="r generic label"/>
          <p:cNvSpPr txBox="1"/>
          <p:nvPr/>
        </p:nvSpPr>
        <p:spPr>
          <a:xfrm>
            <a:off x="7909560" y="5422392"/>
            <a:ext cx="37307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the generic model: its errors come from the personal offset instead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the IMUs could not do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Negative results, reported as findings.</a:t>
            </a:r>
            <a:endParaRPr lang="en-US" sz="1800" dirty="0"/>
          </a:p>
        </p:txBody>
      </p:sp>
      <p:sp>
        <p:nvSpPr>
          <p:cNvPr id="4" name="limit card 1"/>
          <p:cNvSpPr/>
          <p:nvPr/>
        </p:nvSpPr>
        <p:spPr>
          <a:xfrm>
            <a:off x="548640" y="16916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5" name="limit 1 circle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6" name="limi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040941"/>
            <a:ext cx="261518" cy="261518"/>
          </a:xfrm>
          <a:prstGeom prst="rect">
            <a:avLst/>
          </a:prstGeom>
        </p:spPr>
      </p:pic>
      <p:sp>
        <p:nvSpPr>
          <p:cNvPr id="7" name="limit head 1"/>
          <p:cNvSpPr txBox="1"/>
          <p:nvPr/>
        </p:nvSpPr>
        <p:spPr>
          <a:xfrm>
            <a:off x="141732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Obstacle width</a:t>
            </a:r>
            <a:endParaRPr lang="en-US" sz="1600" dirty="0"/>
          </a:p>
        </p:txBody>
      </p:sp>
      <p:sp>
        <p:nvSpPr>
          <p:cNvPr id="8" name="limit body 1"/>
          <p:cNvSpPr txBox="1"/>
          <p:nvPr/>
        </p:nvSpPr>
        <p:spPr>
          <a:xfrm>
            <a:off x="777240" y="258775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best 65 % (chance 50 %): people cross both widths alike</a:t>
            </a:r>
            <a:endParaRPr lang="en-US" sz="1400" dirty="0"/>
          </a:p>
        </p:txBody>
      </p:sp>
      <p:sp>
        <p:nvSpPr>
          <p:cNvPr id="9" name="limit card 2"/>
          <p:cNvSpPr/>
          <p:nvPr/>
        </p:nvSpPr>
        <p:spPr>
          <a:xfrm>
            <a:off x="4347972" y="16916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0" name="limit 2 circle"/>
          <p:cNvSpPr/>
          <p:nvPr/>
        </p:nvSpPr>
        <p:spPr>
          <a:xfrm>
            <a:off x="4576572" y="192024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1" name="limi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273" y="2040941"/>
            <a:ext cx="261518" cy="261518"/>
          </a:xfrm>
          <a:prstGeom prst="rect">
            <a:avLst/>
          </a:prstGeom>
        </p:spPr>
      </p:pic>
      <p:sp>
        <p:nvSpPr>
          <p:cNvPr id="12" name="limit head 2"/>
          <p:cNvSpPr txBox="1"/>
          <p:nvPr/>
        </p:nvSpPr>
        <p:spPr>
          <a:xfrm>
            <a:off x="5216652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Toe-clearance margin</a:t>
            </a:r>
            <a:endParaRPr lang="en-US" sz="1600" dirty="0"/>
          </a:p>
        </p:txBody>
      </p:sp>
      <p:sp>
        <p:nvSpPr>
          <p:cNvPr id="13" name="limit body 2"/>
          <p:cNvSpPr txBox="1"/>
          <p:nvPr/>
        </p:nvSpPr>
        <p:spPr>
          <a:xfrm>
            <a:off x="4576572" y="258775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not estimable from the IMUs (r ≈ 0.04; within a person 0.28)</a:t>
            </a:r>
            <a:endParaRPr lang="en-US" sz="1400" dirty="0"/>
          </a:p>
        </p:txBody>
      </p:sp>
      <p:sp>
        <p:nvSpPr>
          <p:cNvPr id="14" name="limit card 3"/>
          <p:cNvSpPr/>
          <p:nvPr/>
        </p:nvSpPr>
        <p:spPr>
          <a:xfrm>
            <a:off x="8147304" y="169164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15" name="limit 3 circle"/>
          <p:cNvSpPr/>
          <p:nvPr/>
        </p:nvSpPr>
        <p:spPr>
          <a:xfrm>
            <a:off x="8375904" y="192024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limi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6605" y="2040941"/>
            <a:ext cx="261518" cy="261518"/>
          </a:xfrm>
          <a:prstGeom prst="rect">
            <a:avLst/>
          </a:prstGeom>
        </p:spPr>
      </p:pic>
      <p:sp>
        <p:nvSpPr>
          <p:cNvPr id="17" name="limit head 3"/>
          <p:cNvSpPr txBox="1"/>
          <p:nvPr/>
        </p:nvSpPr>
        <p:spPr>
          <a:xfrm>
            <a:off x="9015984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Near-contact detection</a:t>
            </a:r>
            <a:endParaRPr lang="en-US" sz="1600" dirty="0"/>
          </a:p>
        </p:txBody>
      </p:sp>
      <p:sp>
        <p:nvSpPr>
          <p:cNvPr id="18" name="limit body 3"/>
          <p:cNvSpPr txBox="1"/>
          <p:nvPr/>
        </p:nvSpPr>
        <p:spPr>
          <a:xfrm>
            <a:off x="8375904" y="258775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weak: AUC 0.63–0.73 for low-clearance crossings</a:t>
            </a:r>
            <a:endParaRPr lang="en-US" sz="1400" dirty="0"/>
          </a:p>
        </p:txBody>
      </p:sp>
      <p:sp>
        <p:nvSpPr>
          <p:cNvPr id="19" name="limit card 4"/>
          <p:cNvSpPr/>
          <p:nvPr/>
        </p:nvSpPr>
        <p:spPr>
          <a:xfrm>
            <a:off x="548640" y="406908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0" name="limit 4 circle"/>
          <p:cNvSpPr/>
          <p:nvPr/>
        </p:nvSpPr>
        <p:spPr>
          <a:xfrm>
            <a:off x="777240" y="4297680"/>
            <a:ext cx="502920" cy="5029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1" name="limi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418381"/>
            <a:ext cx="261518" cy="261518"/>
          </a:xfrm>
          <a:prstGeom prst="rect">
            <a:avLst/>
          </a:prstGeom>
        </p:spPr>
      </p:pic>
      <p:sp>
        <p:nvSpPr>
          <p:cNvPr id="22" name="limit head 4"/>
          <p:cNvSpPr txBox="1"/>
          <p:nvPr/>
        </p:nvSpPr>
        <p:spPr>
          <a:xfrm>
            <a:off x="1417320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Self-training</a:t>
            </a:r>
            <a:endParaRPr lang="en-US" sz="1600" dirty="0"/>
          </a:p>
        </p:txBody>
      </p:sp>
      <p:sp>
        <p:nvSpPr>
          <p:cNvPr id="23" name="limit body 4"/>
          <p:cNvSpPr txBox="1"/>
          <p:nvPr/>
        </p:nvSpPr>
        <p:spPr>
          <a:xfrm>
            <a:off x="777240" y="496519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letting the model label the new user's crossings made it worse: 54–67 %</a:t>
            </a:r>
            <a:endParaRPr lang="en-US" sz="1400" dirty="0"/>
          </a:p>
        </p:txBody>
      </p:sp>
      <p:sp>
        <p:nvSpPr>
          <p:cNvPr id="24" name="limit card 5"/>
          <p:cNvSpPr/>
          <p:nvPr/>
        </p:nvSpPr>
        <p:spPr>
          <a:xfrm>
            <a:off x="4347972" y="406908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25" name="limit 5 circle"/>
          <p:cNvSpPr/>
          <p:nvPr/>
        </p:nvSpPr>
        <p:spPr>
          <a:xfrm>
            <a:off x="4576572" y="42976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6" name="limit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273" y="4418381"/>
            <a:ext cx="261518" cy="261518"/>
          </a:xfrm>
          <a:prstGeom prst="rect">
            <a:avLst/>
          </a:prstGeom>
        </p:spPr>
      </p:pic>
      <p:sp>
        <p:nvSpPr>
          <p:cNvPr id="27" name="limit head 5"/>
          <p:cNvSpPr txBox="1"/>
          <p:nvPr/>
        </p:nvSpPr>
        <p:spPr>
          <a:xfrm>
            <a:off x="5216652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Previous normal stride</a:t>
            </a:r>
            <a:endParaRPr lang="en-US" sz="1600" dirty="0"/>
          </a:p>
        </p:txBody>
      </p:sp>
      <p:sp>
        <p:nvSpPr>
          <p:cNvPr id="28" name="limit body 5"/>
          <p:cNvSpPr txBox="1"/>
          <p:nvPr/>
        </p:nvSpPr>
        <p:spPr>
          <a:xfrm>
            <a:off x="4576572" y="496519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 a personal reference gives only ~60 %: the margin is not visible in ordinary walking</a:t>
            </a:r>
            <a:endParaRPr lang="en-US" sz="1400" dirty="0"/>
          </a:p>
        </p:txBody>
      </p:sp>
      <p:sp>
        <p:nvSpPr>
          <p:cNvPr id="29" name="limit card 6"/>
          <p:cNvSpPr/>
          <p:nvPr/>
        </p:nvSpPr>
        <p:spPr>
          <a:xfrm>
            <a:off x="8147304" y="4069080"/>
            <a:ext cx="3493008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/>
        </p:spPr>
      </p:sp>
      <p:sp>
        <p:nvSpPr>
          <p:cNvPr id="30" name="limit 6 circle"/>
          <p:cNvSpPr/>
          <p:nvPr/>
        </p:nvSpPr>
        <p:spPr>
          <a:xfrm>
            <a:off x="8375904" y="42976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limit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6605" y="4418381"/>
            <a:ext cx="261518" cy="261518"/>
          </a:xfrm>
          <a:prstGeom prst="rect">
            <a:avLst/>
          </a:prstGeom>
        </p:spPr>
      </p:pic>
      <p:sp>
        <p:nvSpPr>
          <p:cNvPr id="32" name="limit head 6"/>
          <p:cNvSpPr txBox="1"/>
          <p:nvPr/>
        </p:nvSpPr>
        <p:spPr>
          <a:xfrm>
            <a:off x="9015984" y="42976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Offset from unlabelled crossings</a:t>
            </a:r>
            <a:endParaRPr lang="en-US" sz="1600" dirty="0"/>
          </a:p>
        </p:txBody>
      </p:sp>
      <p:sp>
        <p:nvSpPr>
          <p:cNvPr id="33" name="limit body 6"/>
          <p:cNvSpPr txBox="1"/>
          <p:nvPr/>
        </p:nvSpPr>
        <p:spPr>
          <a:xfrm>
            <a:off x="8375904" y="4965192"/>
            <a:ext cx="3035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mixture model reaches 77 %, below simple person scaling (92 %)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far to trust these numbers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033272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The checks are strict, but n = 10 young adults: these are feasibility results.</a:t>
            </a:r>
            <a:endParaRPr lang="en-US" sz="1800" dirty="0"/>
          </a:p>
        </p:txBody>
      </p:sp>
      <p:sp>
        <p:nvSpPr>
          <p:cNvPr id="4" name="trust card 1"/>
          <p:cNvSpPr/>
          <p:nvPr/>
        </p:nvSpPr>
        <p:spPr>
          <a:xfrm>
            <a:off x="548640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5" name="trust 1 circle"/>
          <p:cNvSpPr/>
          <p:nvPr/>
        </p:nvSpPr>
        <p:spPr>
          <a:xfrm>
            <a:off x="822960" y="19202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6" name="trus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056303"/>
            <a:ext cx="294803" cy="294803"/>
          </a:xfrm>
          <a:prstGeom prst="rect">
            <a:avLst/>
          </a:prstGeom>
        </p:spPr>
      </p:pic>
      <p:sp>
        <p:nvSpPr>
          <p:cNvPr id="7" name="trust head 1"/>
          <p:cNvSpPr txBox="1"/>
          <p:nvPr/>
        </p:nvSpPr>
        <p:spPr>
          <a:xfrm>
            <a:off x="1554480" y="1920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Checks passed</a:t>
            </a:r>
            <a:endParaRPr lang="en-US" sz="2000" dirty="0"/>
          </a:p>
        </p:txBody>
      </p:sp>
      <p:sp>
        <p:nvSpPr>
          <p:cNvPr id="8" name="trust 1 item 1 circle"/>
          <p:cNvSpPr/>
          <p:nvPr/>
        </p:nvSpPr>
        <p:spPr>
          <a:xfrm>
            <a:off x="868680" y="2734056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trust 1 item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8906" y="2804282"/>
            <a:ext cx="152156" cy="152156"/>
          </a:xfrm>
          <a:prstGeom prst="rect">
            <a:avLst/>
          </a:prstGeom>
        </p:spPr>
      </p:pic>
      <p:sp>
        <p:nvSpPr>
          <p:cNvPr id="10" name="trust 1 text 1"/>
          <p:cNvSpPr txBox="1"/>
          <p:nvPr/>
        </p:nvSpPr>
        <p:spPr>
          <a:xfrm>
            <a:off x="1325880" y="2697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Leave-one-participant-out everywhere; participant-bootstrap 95 % CIs</a:t>
            </a:r>
            <a:endParaRPr lang="en-US" sz="1400" dirty="0"/>
          </a:p>
        </p:txBody>
      </p:sp>
      <p:sp>
        <p:nvSpPr>
          <p:cNvPr id="11" name="trust 1 item 2 circle"/>
          <p:cNvSpPr/>
          <p:nvPr/>
        </p:nvSpPr>
        <p:spPr>
          <a:xfrm>
            <a:off x="868680" y="3410712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2" name="trust 1 item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3480938"/>
            <a:ext cx="152156" cy="152156"/>
          </a:xfrm>
          <a:prstGeom prst="rect">
            <a:avLst/>
          </a:prstGeom>
        </p:spPr>
      </p:pic>
      <p:sp>
        <p:nvSpPr>
          <p:cNvPr id="13" name="trust 1 text 2"/>
          <p:cNvSpPr txBox="1"/>
          <p:nvPr/>
        </p:nvSpPr>
        <p:spPr>
          <a:xfrm>
            <a:off x="1325880" y="337413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Permutation tests (labels shuffled within each person): p ≤ 0.003</a:t>
            </a:r>
            <a:endParaRPr lang="en-US" sz="1400" dirty="0"/>
          </a:p>
        </p:txBody>
      </p:sp>
      <p:sp>
        <p:nvSpPr>
          <p:cNvPr id="14" name="trust 1 item 3 circle"/>
          <p:cNvSpPr/>
          <p:nvPr/>
        </p:nvSpPr>
        <p:spPr>
          <a:xfrm>
            <a:off x="868680" y="4087368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trust 1 item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4157594"/>
            <a:ext cx="152156" cy="152156"/>
          </a:xfrm>
          <a:prstGeom prst="rect">
            <a:avLst/>
          </a:prstGeom>
        </p:spPr>
      </p:pic>
      <p:sp>
        <p:nvSpPr>
          <p:cNvPr id="16" name="trust 1 text 3"/>
          <p:cNvSpPr txBox="1"/>
          <p:nvPr/>
        </p:nvSpPr>
        <p:spPr>
          <a:xfrm>
            <a:off x="1325880" y="405079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Fair nested selection of settings: 91.5 % (CI 86–97)</a:t>
            </a:r>
            <a:endParaRPr lang="en-US" sz="1400" dirty="0"/>
          </a:p>
        </p:txBody>
      </p:sp>
      <p:sp>
        <p:nvSpPr>
          <p:cNvPr id="17" name="trust 1 item 4 circle"/>
          <p:cNvSpPr/>
          <p:nvPr/>
        </p:nvSpPr>
        <p:spPr>
          <a:xfrm>
            <a:off x="868680" y="4764024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trust 1 item 4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834250"/>
            <a:ext cx="152156" cy="152156"/>
          </a:xfrm>
          <a:prstGeom prst="rect">
            <a:avLst/>
          </a:prstGeom>
        </p:spPr>
      </p:pic>
      <p:sp>
        <p:nvSpPr>
          <p:cNvPr id="19" name="trust 1 text 4"/>
          <p:cNvSpPr txBox="1"/>
          <p:nvPr/>
        </p:nvSpPr>
        <p:spPr>
          <a:xfrm>
            <a:off x="1325880" y="472744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MATLAB and Python agree: mean difference 0.0 (logistic) and 0.9 points (forest)</a:t>
            </a:r>
            <a:endParaRPr lang="en-US" sz="1400" dirty="0"/>
          </a:p>
        </p:txBody>
      </p:sp>
      <p:sp>
        <p:nvSpPr>
          <p:cNvPr id="20" name="trust 1 item 5 circle"/>
          <p:cNvSpPr/>
          <p:nvPr/>
        </p:nvSpPr>
        <p:spPr>
          <a:xfrm>
            <a:off x="868680" y="5440680"/>
            <a:ext cx="292608" cy="29260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trust 1 item 5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510906"/>
            <a:ext cx="152156" cy="152156"/>
          </a:xfrm>
          <a:prstGeom prst="rect">
            <a:avLst/>
          </a:prstGeom>
        </p:spPr>
      </p:pic>
      <p:sp>
        <p:nvSpPr>
          <p:cNvPr id="22" name="trust 1 text 5"/>
          <p:cNvSpPr txBox="1"/>
          <p:nvPr/>
        </p:nvSpPr>
        <p:spPr>
          <a:xfrm>
            <a:off x="1325880" y="5404104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Crossing order was never used as a feature</a:t>
            </a:r>
            <a:endParaRPr lang="en-US" sz="1400" dirty="0"/>
          </a:p>
        </p:txBody>
      </p:sp>
      <p:sp>
        <p:nvSpPr>
          <p:cNvPr id="23" name="trust card 2"/>
          <p:cNvSpPr/>
          <p:nvPr/>
        </p:nvSpPr>
        <p:spPr>
          <a:xfrm>
            <a:off x="6245352" y="169164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/>
        </p:spPr>
      </p:sp>
      <p:sp>
        <p:nvSpPr>
          <p:cNvPr id="24" name="trust 2 circle"/>
          <p:cNvSpPr/>
          <p:nvPr/>
        </p:nvSpPr>
        <p:spPr>
          <a:xfrm>
            <a:off x="6519672" y="1920240"/>
            <a:ext cx="566928" cy="56692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5" name="trust 2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5735" y="2056303"/>
            <a:ext cx="294803" cy="294803"/>
          </a:xfrm>
          <a:prstGeom prst="rect">
            <a:avLst/>
          </a:prstGeom>
        </p:spPr>
      </p:pic>
      <p:sp>
        <p:nvSpPr>
          <p:cNvPr id="26" name="trust head 2"/>
          <p:cNvSpPr txBox="1"/>
          <p:nvPr/>
        </p:nvSpPr>
        <p:spPr>
          <a:xfrm>
            <a:off x="7251192" y="19202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Caveats</a:t>
            </a:r>
            <a:endParaRPr lang="en-US" sz="2000" dirty="0"/>
          </a:p>
        </p:txBody>
      </p:sp>
      <p:sp>
        <p:nvSpPr>
          <p:cNvPr id="27" name="trust 2 item 1 circle"/>
          <p:cNvSpPr/>
          <p:nvPr/>
        </p:nvSpPr>
        <p:spPr>
          <a:xfrm>
            <a:off x="6565392" y="2734056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28" name="trust 2 item 1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5618" y="2804282"/>
            <a:ext cx="152156" cy="152156"/>
          </a:xfrm>
          <a:prstGeom prst="rect">
            <a:avLst/>
          </a:prstGeom>
        </p:spPr>
      </p:pic>
      <p:sp>
        <p:nvSpPr>
          <p:cNvPr id="29" name="trust 2 text 1"/>
          <p:cNvSpPr txBox="1"/>
          <p:nvPr/>
        </p:nvSpPr>
        <p:spPr>
          <a:xfrm>
            <a:off x="7022592" y="2697480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 = 10 young adults: confirm on new participants and on older adults</a:t>
            </a:r>
            <a:endParaRPr lang="en-US" sz="1400" dirty="0"/>
          </a:p>
        </p:txBody>
      </p:sp>
      <p:sp>
        <p:nvSpPr>
          <p:cNvPr id="30" name="trust 2 item 2 circle"/>
          <p:cNvSpPr/>
          <p:nvPr/>
        </p:nvSpPr>
        <p:spPr>
          <a:xfrm>
            <a:off x="6565392" y="3410712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1" name="trust 2 item 2 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5618" y="3480938"/>
            <a:ext cx="152156" cy="152156"/>
          </a:xfrm>
          <a:prstGeom prst="rect">
            <a:avLst/>
          </a:prstGeom>
        </p:spPr>
      </p:pic>
      <p:sp>
        <p:nvSpPr>
          <p:cNvPr id="32" name="trust 2 text 2"/>
          <p:cNvSpPr txBox="1"/>
          <p:nvPr/>
        </p:nvSpPr>
        <p:spPr>
          <a:xfrm>
            <a:off x="7022592" y="3374136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Clearance-shape features were designed after the first results: small optimism possible</a:t>
            </a:r>
            <a:endParaRPr lang="en-US" sz="1400" dirty="0"/>
          </a:p>
        </p:txBody>
      </p:sp>
      <p:sp>
        <p:nvSpPr>
          <p:cNvPr id="33" name="trust 2 item 3 circle"/>
          <p:cNvSpPr/>
          <p:nvPr/>
        </p:nvSpPr>
        <p:spPr>
          <a:xfrm>
            <a:off x="6565392" y="4087368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4" name="trust 2 item 3 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35618" y="4157594"/>
            <a:ext cx="152156" cy="152156"/>
          </a:xfrm>
          <a:prstGeom prst="rect">
            <a:avLst/>
          </a:prstGeom>
        </p:spPr>
      </p:pic>
      <p:sp>
        <p:nvSpPr>
          <p:cNvPr id="35" name="trust 2 text 3"/>
          <p:cNvSpPr txBox="1"/>
          <p:nvPr/>
        </p:nvSpPr>
        <p:spPr>
          <a:xfrm>
            <a:off x="7022592" y="4050792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Person scaling assumes the user's crossings cover several heights</a:t>
            </a:r>
            <a:endParaRPr lang="en-US" sz="1400" dirty="0"/>
          </a:p>
        </p:txBody>
      </p:sp>
      <p:sp>
        <p:nvSpPr>
          <p:cNvPr id="36" name="trust 2 item 4 circle"/>
          <p:cNvSpPr/>
          <p:nvPr/>
        </p:nvSpPr>
        <p:spPr>
          <a:xfrm>
            <a:off x="6565392" y="4764024"/>
            <a:ext cx="292608" cy="292608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7" name="trust 2 item 4 icon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35618" y="4834250"/>
            <a:ext cx="152156" cy="152156"/>
          </a:xfrm>
          <a:prstGeom prst="rect">
            <a:avLst/>
          </a:prstGeom>
        </p:spPr>
      </p:pic>
      <p:sp>
        <p:nvSpPr>
          <p:cNvPr id="38" name="trust 2 text 4"/>
          <p:cNvSpPr txBox="1"/>
          <p:nvPr/>
        </p:nvSpPr>
        <p:spPr>
          <a:xfrm>
            <a:off x="7022592" y="4727448"/>
            <a:ext cx="4389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Obstacles ran in blocks; mixed order was simulated by shuffling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98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16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Conclusions and next steps</a:t>
            </a:r>
            <a:endParaRPr lang="en-US" sz="3600" dirty="0"/>
          </a:p>
        </p:txBody>
      </p:sp>
      <p:sp>
        <p:nvSpPr>
          <p:cNvPr id="3" name="conclusion number 1"/>
          <p:cNvSpPr/>
          <p:nvPr/>
        </p:nvSpPr>
        <p:spPr>
          <a:xfrm>
            <a:off x="548640" y="16916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conclusion digit 1"/>
          <p:cNvSpPr txBox="1"/>
          <p:nvPr/>
        </p:nvSpPr>
        <p:spPr>
          <a:xfrm>
            <a:off x="548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conclusion 1"/>
          <p:cNvSpPr txBox="1"/>
          <p:nvPr/>
        </p:nvSpPr>
        <p:spPr>
          <a:xfrm>
            <a:off x="1325880" y="164592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Foot lift scales 1:1 with obstacle height; the safety margin is constant but personal.</a:t>
            </a:r>
            <a:endParaRPr lang="en-US" sz="1800" dirty="0"/>
          </a:p>
        </p:txBody>
      </p:sp>
      <p:sp>
        <p:nvSpPr>
          <p:cNvPr id="6" name="conclusion number 2"/>
          <p:cNvSpPr/>
          <p:nvPr/>
        </p:nvSpPr>
        <p:spPr>
          <a:xfrm>
            <a:off x="548640" y="32004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conclusion digit 2"/>
          <p:cNvSpPr txBox="1"/>
          <p:nvPr/>
        </p:nvSpPr>
        <p:spPr>
          <a:xfrm>
            <a:off x="548640" y="3200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conclusion 2"/>
          <p:cNvSpPr txBox="1"/>
          <p:nvPr/>
        </p:nvSpPr>
        <p:spPr>
          <a:xfrm>
            <a:off x="1325880" y="315468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Two foot IMUs recognise obstacle height on a new person at ~92 % once scaled to their crossings; 80 % with one labelled crossing.</a:t>
            </a:r>
            <a:endParaRPr lang="en-US" sz="1800" dirty="0"/>
          </a:p>
        </p:txBody>
      </p:sp>
      <p:sp>
        <p:nvSpPr>
          <p:cNvPr id="9" name="conclusion number 3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conclusion digit 3"/>
          <p:cNvSpPr txBox="1"/>
          <p:nvPr/>
        </p:nvSpPr>
        <p:spPr>
          <a:xfrm>
            <a:off x="5486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conclusion 3"/>
          <p:cNvSpPr txBox="1"/>
          <p:nvPr/>
        </p:nvSpPr>
        <p:spPr>
          <a:xfrm>
            <a:off x="1325880" y="466344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A camera-free, real-time pipeline is feasible: 86 % end to end, and about 3 in 4 cues correct 0.4–0.7 s ahead.</a:t>
            </a:r>
            <a:endParaRPr lang="en-US" sz="1800" dirty="0"/>
          </a:p>
        </p:txBody>
      </p:sp>
      <p:sp>
        <p:nvSpPr>
          <p:cNvPr id="12" name="next steps card"/>
          <p:cNvSpPr/>
          <p:nvPr/>
        </p:nvSpPr>
        <p:spPr>
          <a:xfrm>
            <a:off x="7315200" y="1691640"/>
            <a:ext cx="4325112" cy="4480560"/>
          </a:xfrm>
          <a:prstGeom prst="roundRect">
            <a:avLst>
              <a:gd name="adj" fmla="val 2537"/>
            </a:avLst>
          </a:prstGeom>
          <a:solidFill>
            <a:schemeClr val="bg1">
              <a:alpha val="10000"/>
            </a:schemeClr>
          </a:solidFill>
          <a:ln/>
        </p:spPr>
      </p:sp>
      <p:sp>
        <p:nvSpPr>
          <p:cNvPr id="13" name="next head"/>
          <p:cNvSpPr txBox="1"/>
          <p:nvPr/>
        </p:nvSpPr>
        <p:spPr>
          <a:xfrm>
            <a:off x="7589520" y="19202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4" name="next 1 circle"/>
          <p:cNvSpPr/>
          <p:nvPr/>
        </p:nvSpPr>
        <p:spPr>
          <a:xfrm>
            <a:off x="7589520" y="2734056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next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8524" y="2813060"/>
            <a:ext cx="171176" cy="171176"/>
          </a:xfrm>
          <a:prstGeom prst="rect">
            <a:avLst/>
          </a:prstGeom>
        </p:spPr>
      </p:pic>
      <p:sp>
        <p:nvSpPr>
          <p:cNvPr id="16" name="next text 1"/>
          <p:cNvSpPr txBox="1"/>
          <p:nvPr/>
        </p:nvSpPr>
        <p:spPr>
          <a:xfrm>
            <a:off x="8092440" y="269748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Record more participants, including older adults</a:t>
            </a:r>
            <a:endParaRPr lang="en-US" sz="1600" dirty="0"/>
          </a:p>
        </p:txBody>
      </p:sp>
      <p:sp>
        <p:nvSpPr>
          <p:cNvPr id="17" name="next 2 circle"/>
          <p:cNvSpPr/>
          <p:nvPr/>
        </p:nvSpPr>
        <p:spPr>
          <a:xfrm>
            <a:off x="7589520" y="3575304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8" name="next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524" y="3654308"/>
            <a:ext cx="171176" cy="171176"/>
          </a:xfrm>
          <a:prstGeom prst="rect">
            <a:avLst/>
          </a:prstGeom>
        </p:spPr>
      </p:pic>
      <p:sp>
        <p:nvSpPr>
          <p:cNvPr id="19" name="next text 2"/>
          <p:cNvSpPr txBox="1"/>
          <p:nvPr/>
        </p:nvSpPr>
        <p:spPr>
          <a:xfrm>
            <a:off x="8092440" y="3538728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Run the obstacles in mixed order to test learning during use live</a:t>
            </a:r>
            <a:endParaRPr lang="en-US" sz="1600" dirty="0"/>
          </a:p>
        </p:txBody>
      </p:sp>
      <p:sp>
        <p:nvSpPr>
          <p:cNvPr id="20" name="next 3 circle"/>
          <p:cNvSpPr/>
          <p:nvPr/>
        </p:nvSpPr>
        <p:spPr>
          <a:xfrm>
            <a:off x="7589520" y="4416552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next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524" y="4495556"/>
            <a:ext cx="171176" cy="171176"/>
          </a:xfrm>
          <a:prstGeom prst="rect">
            <a:avLst/>
          </a:prstGeom>
        </p:spPr>
      </p:pic>
      <p:sp>
        <p:nvSpPr>
          <p:cNvPr id="22" name="next text 3"/>
          <p:cNvSpPr txBox="1"/>
          <p:nvPr/>
        </p:nvSpPr>
        <p:spPr>
          <a:xfrm>
            <a:off x="8092440" y="4379976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Estimate toe height (sensor-to-toe geometry) for clearance</a:t>
            </a:r>
            <a:endParaRPr lang="en-US" sz="1600" dirty="0"/>
          </a:p>
        </p:txBody>
      </p:sp>
      <p:sp>
        <p:nvSpPr>
          <p:cNvPr id="23" name="next 4 circle"/>
          <p:cNvSpPr/>
          <p:nvPr/>
        </p:nvSpPr>
        <p:spPr>
          <a:xfrm>
            <a:off x="7589520" y="5257800"/>
            <a:ext cx="329184" cy="329184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4" name="next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524" y="5336804"/>
            <a:ext cx="171176" cy="171176"/>
          </a:xfrm>
          <a:prstGeom prst="rect">
            <a:avLst/>
          </a:prstGeom>
        </p:spPr>
      </p:pic>
      <p:sp>
        <p:nvSpPr>
          <p:cNvPr id="25" name="next text 4"/>
          <p:cNvSpPr txBox="1"/>
          <p:nvPr/>
        </p:nvSpPr>
        <p:spPr>
          <a:xfrm>
            <a:off x="8092440" y="5221224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Prototype the haptic cue and test it online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9C2C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bstacle Crossing ML">
  <a:themeElements>
    <a:clrScheme name="Obstacle Crossing ML">
      <a:dk1>
        <a:srgbClr val="1B2430"/>
      </a:dk1>
      <a:lt1>
        <a:srgbClr val="FFFFFF"/>
      </a:lt1>
      <a:dk2>
        <a:srgbClr val="0F2A43"/>
      </a:dk2>
      <a:lt2>
        <a:srgbClr val="EEF3F8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34948"/>
      </a:accent5>
      <a:accent6>
        <a:srgbClr val="8A8984"/>
      </a:accent6>
      <a:hlink>
        <a:srgbClr val="2A78D6"/>
      </a:hlink>
      <a:folHlink>
        <a:srgbClr val="6250D6"/>
      </a:folHlink>
    </a:clrScheme>
    <a:fontScheme name="Obstacle Crossing M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wearable IMUs reveal about obstacle crossing</dc:title>
  <dc:subject>Machine-learning and biomechanics results, Tests 101-110</dc:subject>
  <dc:creator>Ehsan Sharafian</dc:creator>
  <cp:lastModifiedBy>Ehsan Sharafian</cp:lastModifiedBy>
  <cp:revision>1</cp:revision>
  <dcterms:created xsi:type="dcterms:W3CDTF">2026-10-31T02:26:30Z</dcterms:created>
  <dcterms:modified xsi:type="dcterms:W3CDTF">2026-10-31T02:26:30Z</dcterms:modified>
</cp:coreProperties>
</file>