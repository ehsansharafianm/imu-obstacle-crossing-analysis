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1" r:id="rId2"/>
    <p:sldId id="282" r:id="rId3"/>
    <p:sldId id="278" r:id="rId4"/>
    <p:sldId id="284" r:id="rId5"/>
    <p:sldId id="268" r:id="rId6"/>
    <p:sldId id="280" r:id="rId7"/>
    <p:sldId id="279" r:id="rId8"/>
    <p:sldId id="276" r:id="rId9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2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3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715DA-E0FE-4B31-9749-10988301A01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33330-F434-48B3-A3AC-F4DE17F9A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6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33330-F434-48B3-A3AC-F4DE17F9A2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48217-9C50-5A83-F114-A0D5A91E4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9C34E-FD31-6F2D-1BAF-E982BDEDB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58825-2115-1F0B-F13D-643F3843F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E8B88-A2E2-CD25-2D91-BD44EA5A2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C0664-AA32-EABA-79A4-4E2C4A78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26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AEEE-4400-19A5-A23E-CCB313AC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A7BEC-F277-184F-184B-E429E209F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99CE2-A535-56EB-5CEB-287D70B80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926BF-A116-C3E2-4312-4B6771B9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E9304-158C-16B3-65EB-8B1236BC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5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335DC-3237-E8F6-3958-55C9F4E26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66536-50CF-A2F8-9A05-B1930A945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A39DF-E120-E756-5D9B-B19E745BA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B7254-4D31-3CFD-42BE-FB252BFA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04468-9A18-5453-8927-9C209D885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6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69BD-CBC3-81E0-9B0B-E8650807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1CE08-8FAA-2F9E-55E6-6D16C3492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63C70-ADF5-0DB6-4F05-D542F0A7D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51C28-49FA-DD03-9480-77071100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23235-CD1C-AA45-E718-36C2FE44F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52885-43FD-67C8-1D3D-ED3873D74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4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51B2-FFDD-8E4F-CCA7-2341EC04E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D1313-6111-CE76-2019-A01B2DCAC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028E4-8B3E-D921-638E-803027F13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56D27A-8A06-E35B-305C-F6B7F6F08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DBE9D1-339A-879E-39B9-48052FEA2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C4D13F-A85A-5808-F943-3F876859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F0C66F-F0FC-8B5F-177F-A9AE39C4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23407-F52A-229B-536B-0129D9F81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51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6E4A-B56F-A708-5D73-7B1D9484D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03E40-8CE9-42A5-722C-95C1EFF9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B2A92-6C8A-6CB8-CB6D-92923CB84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AF1A9-3E8F-8B35-D385-6ED07A52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43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E9B1B0-2804-00D2-6C7E-BAD6465D2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F1DD9-F030-1F61-508B-4C91BAB79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EA0CE-B11E-6C12-EB15-321D80C2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0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B516C-40DA-D89C-A374-4325E780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08E70-739A-DAED-4546-0AD4A8D86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7685B-1B68-1CF2-6100-4A323AA73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F7D6D-8D47-3321-71AF-81D1F9F1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BF065-BD98-4F80-10AE-56885F76C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1E8A9-6A33-08A6-CB96-228B9A88B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3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DC97C-4C0F-3337-FD38-568D82FF6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A8A2EB-99BB-4259-E0EB-1C79D495B8D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E082B-815D-BE45-6B3D-5D469A246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CA526-2DBB-FA71-4AB1-1E729466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D236C-06BA-3B92-68F7-181F386C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70328-C65E-FA43-DCB4-F12931AE7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15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CB05-5885-1070-161D-7599D404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04465-B932-F4D9-0673-01DD2F595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0D4A2-9462-5E7C-EDAE-CB3108C89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60EBC-AFB9-22B5-30A0-F7A04CEA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F1873-A1D1-FF73-9AF8-7F6C9232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68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E8C4EA-3F32-6E51-8263-C08A26B21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94187B-12A7-D41A-BE32-EDC00AF6E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95940-C84D-2E72-F622-51B8A3FE5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F6D96-962D-FBCC-5732-3DFFE53DF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EB7F-7D29-5C89-C847-2063FFD6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E7A898-2DAE-F282-53DE-B05379CEF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F5AF-E1FD-327C-F470-DE41D5D35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27DE3-FCB7-C319-D28F-5D064186F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322D5-21F6-DECA-3816-15DEB5BEE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AC396-7BB0-F4F8-55B6-3092227C7B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35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0DA533-8577-CB22-0758-1BA420BA9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406" y="411474"/>
            <a:ext cx="9345187" cy="60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49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BEB85-959D-3767-9574-6D06964C7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7A6CF-90CE-0C09-5548-066697E93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48" y="282558"/>
            <a:ext cx="11829903" cy="65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055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3E93F9-9884-EE94-166F-87731D447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309" y="344676"/>
            <a:ext cx="6677991" cy="651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01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B98ED-F5A4-4AD9-04B5-DEE21DB91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106E00-9EAA-5B61-496E-814294559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30"/>
            <a:ext cx="12192000" cy="672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268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E3FC1D-AF12-B63C-0269-EF28D1052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742394"/>
              </p:ext>
            </p:extLst>
          </p:nvPr>
        </p:nvGraphicFramePr>
        <p:xfrm>
          <a:off x="562444" y="1101898"/>
          <a:ext cx="10515600" cy="29260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38730">
                  <a:extLst>
                    <a:ext uri="{9D8B030D-6E8A-4147-A177-3AD203B41FA5}">
                      <a16:colId xmlns:a16="http://schemas.microsoft.com/office/drawing/2014/main" val="2668122638"/>
                    </a:ext>
                  </a:extLst>
                </a:gridCol>
                <a:gridCol w="2996119">
                  <a:extLst>
                    <a:ext uri="{9D8B030D-6E8A-4147-A177-3AD203B41FA5}">
                      <a16:colId xmlns:a16="http://schemas.microsoft.com/office/drawing/2014/main" val="1439586092"/>
                    </a:ext>
                  </a:extLst>
                </a:gridCol>
                <a:gridCol w="3151762">
                  <a:extLst>
                    <a:ext uri="{9D8B030D-6E8A-4147-A177-3AD203B41FA5}">
                      <a16:colId xmlns:a16="http://schemas.microsoft.com/office/drawing/2014/main" val="2158087559"/>
                    </a:ext>
                  </a:extLst>
                </a:gridCol>
                <a:gridCol w="2828989">
                  <a:extLst>
                    <a:ext uri="{9D8B030D-6E8A-4147-A177-3AD203B41FA5}">
                      <a16:colId xmlns:a16="http://schemas.microsoft.com/office/drawing/2014/main" val="3789953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Signal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Leading:  % change (Δ°)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Trailing: % change (Δ°)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359461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Joints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Hip flexion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+291% (+42°)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+172% (+25°)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9334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Knee flexion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+173% (+52°)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+139% (+42°)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4251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Ankle plantarflexion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−5% (−3°)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+88% (+41°)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202718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Ankle dorsiflexion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+104% (+8°)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+66% (+5°)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347588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Segments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Thigh forward tilt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+190% (+50°)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+45% (+12°)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1837935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Shank heel-up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+9% (+4°)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+93% (+45°)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42055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Foot toe-down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~0% (0°)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+38% (+26°)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390931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FBB2D31-D922-F62B-656F-2851300029F6}"/>
              </a:ext>
            </a:extLst>
          </p:cNvPr>
          <p:cNvSpPr txBox="1"/>
          <p:nvPr/>
        </p:nvSpPr>
        <p:spPr>
          <a:xfrm>
            <a:off x="3278221" y="669336"/>
            <a:ext cx="4562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Changes from Level Walk</a:t>
            </a:r>
          </a:p>
        </p:txBody>
      </p:sp>
    </p:spTree>
    <p:extLst>
      <p:ext uri="{BB962C8B-B14F-4D97-AF65-F5344CB8AC3E}">
        <p14:creationId xmlns:p14="http://schemas.microsoft.com/office/powerpoint/2010/main" val="3154878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30370C-23E3-EC43-0D7D-56E241C71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796908"/>
              </p:ext>
            </p:extLst>
          </p:nvPr>
        </p:nvGraphicFramePr>
        <p:xfrm>
          <a:off x="838200" y="4000742"/>
          <a:ext cx="10515600" cy="2468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38730">
                  <a:extLst>
                    <a:ext uri="{9D8B030D-6E8A-4147-A177-3AD203B41FA5}">
                      <a16:colId xmlns:a16="http://schemas.microsoft.com/office/drawing/2014/main" val="2668122638"/>
                    </a:ext>
                  </a:extLst>
                </a:gridCol>
                <a:gridCol w="2996119">
                  <a:extLst>
                    <a:ext uri="{9D8B030D-6E8A-4147-A177-3AD203B41FA5}">
                      <a16:colId xmlns:a16="http://schemas.microsoft.com/office/drawing/2014/main" val="1439586092"/>
                    </a:ext>
                  </a:extLst>
                </a:gridCol>
                <a:gridCol w="3151762">
                  <a:extLst>
                    <a:ext uri="{9D8B030D-6E8A-4147-A177-3AD203B41FA5}">
                      <a16:colId xmlns:a16="http://schemas.microsoft.com/office/drawing/2014/main" val="2158087559"/>
                    </a:ext>
                  </a:extLst>
                </a:gridCol>
                <a:gridCol w="2828989">
                  <a:extLst>
                    <a:ext uri="{9D8B030D-6E8A-4147-A177-3AD203B41FA5}">
                      <a16:colId xmlns:a16="http://schemas.microsoft.com/office/drawing/2014/main" val="3789953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Limb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Joint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Lu et al. 2006, young adults (angle at crossing)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Ours (peak)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359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Trailing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Hip flexion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19.5° → 26.9° (+7.4)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33.1° → 46.6° (+13.5)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933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Trailing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Knee flexion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91.9° → 118.9° (+27.0)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67.5° → 76.7° (+9.2)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425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Trailing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Ankle dorsiflexion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1.9° → 7.8° (+5.9)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14.7° → 14.2° (−0.5)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2027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Leading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Hip flexion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about 48° → 63° (+15)*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53.0° → 59.4° (+6.4)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347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Leading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Knee flexion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about 84° → 107° (+24)*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71.9° → 86.8° (+14.9)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37935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9C61462-40F4-19DB-EB53-05EF8246A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931" y="291629"/>
            <a:ext cx="7063338" cy="30422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80498E-8ADC-2622-68A7-B9D7ABAEC8B1}"/>
              </a:ext>
            </a:extLst>
          </p:cNvPr>
          <p:cNvSpPr txBox="1"/>
          <p:nvPr/>
        </p:nvSpPr>
        <p:spPr>
          <a:xfrm>
            <a:off x="3365769" y="3524087"/>
            <a:ext cx="4562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Change from Height1 to Height3</a:t>
            </a:r>
          </a:p>
        </p:txBody>
      </p:sp>
    </p:spTree>
    <p:extLst>
      <p:ext uri="{BB962C8B-B14F-4D97-AF65-F5344CB8AC3E}">
        <p14:creationId xmlns:p14="http://schemas.microsoft.com/office/powerpoint/2010/main" val="3561085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C5E8E84-02A4-2723-D47E-62B25B6FB85A}"/>
              </a:ext>
            </a:extLst>
          </p:cNvPr>
          <p:cNvGrpSpPr/>
          <p:nvPr/>
        </p:nvGrpSpPr>
        <p:grpSpPr>
          <a:xfrm>
            <a:off x="455769" y="430750"/>
            <a:ext cx="10781107" cy="1957433"/>
            <a:chOff x="859276" y="3217682"/>
            <a:chExt cx="10558992" cy="195743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CD88BB3-3F6C-94CC-DEE5-ACF7DC86F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36"/>
            <a:stretch>
              <a:fillRect/>
            </a:stretch>
          </p:blipFill>
          <p:spPr>
            <a:xfrm>
              <a:off x="948832" y="3217682"/>
              <a:ext cx="10469436" cy="1957433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69A452E-CD12-53C4-9F47-11237BB0FF93}"/>
                </a:ext>
              </a:extLst>
            </p:cNvPr>
            <p:cNvGrpSpPr/>
            <p:nvPr/>
          </p:nvGrpSpPr>
          <p:grpSpPr>
            <a:xfrm>
              <a:off x="859276" y="3731013"/>
              <a:ext cx="10546022" cy="930770"/>
              <a:chOff x="512322" y="1906622"/>
              <a:chExt cx="10546022" cy="93077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F40F83D-D786-1C37-C66C-98455C36AF27}"/>
                  </a:ext>
                </a:extLst>
              </p:cNvPr>
              <p:cNvSpPr/>
              <p:nvPr/>
            </p:nvSpPr>
            <p:spPr>
              <a:xfrm>
                <a:off x="2461098" y="1906622"/>
                <a:ext cx="8597246" cy="31128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D22D999-2045-9EA4-408B-D957BADFE5D9}"/>
                  </a:ext>
                </a:extLst>
              </p:cNvPr>
              <p:cNvSpPr/>
              <p:nvPr/>
            </p:nvSpPr>
            <p:spPr>
              <a:xfrm>
                <a:off x="512322" y="2217907"/>
                <a:ext cx="10546021" cy="31128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58E3B02-C030-EEA9-AFB3-959377F6F1B4}"/>
                  </a:ext>
                </a:extLst>
              </p:cNvPr>
              <p:cNvSpPr/>
              <p:nvPr/>
            </p:nvSpPr>
            <p:spPr>
              <a:xfrm>
                <a:off x="550616" y="2526107"/>
                <a:ext cx="2513598" cy="31128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426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7669C1-9111-A743-2C20-3548E6655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560530"/>
              </p:ext>
            </p:extLst>
          </p:nvPr>
        </p:nvGraphicFramePr>
        <p:xfrm>
          <a:off x="633504" y="578472"/>
          <a:ext cx="9915712" cy="536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506">
                  <a:extLst>
                    <a:ext uri="{9D8B030D-6E8A-4147-A177-3AD203B41FA5}">
                      <a16:colId xmlns:a16="http://schemas.microsoft.com/office/drawing/2014/main" val="2399151541"/>
                    </a:ext>
                  </a:extLst>
                </a:gridCol>
                <a:gridCol w="3127350">
                  <a:extLst>
                    <a:ext uri="{9D8B030D-6E8A-4147-A177-3AD203B41FA5}">
                      <a16:colId xmlns:a16="http://schemas.microsoft.com/office/drawing/2014/main" val="40326336"/>
                    </a:ext>
                  </a:extLst>
                </a:gridCol>
                <a:gridCol w="2478928">
                  <a:extLst>
                    <a:ext uri="{9D8B030D-6E8A-4147-A177-3AD203B41FA5}">
                      <a16:colId xmlns:a16="http://schemas.microsoft.com/office/drawing/2014/main" val="3756689570"/>
                    </a:ext>
                  </a:extLst>
                </a:gridCol>
                <a:gridCol w="2478928">
                  <a:extLst>
                    <a:ext uri="{9D8B030D-6E8A-4147-A177-3AD203B41FA5}">
                      <a16:colId xmlns:a16="http://schemas.microsoft.com/office/drawing/2014/main" val="1534996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968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Hip</a:t>
                      </a:r>
                      <a:r>
                        <a:rPr lang="en-US" sz="1600"/>
                        <a:t> (joint)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Peak </a:t>
                      </a:r>
                      <a:r>
                        <a:rPr lang="en-US" sz="1600" b="1"/>
                        <a:t>flexion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It’s the lift of the thigh, the main leading-limb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Peak extension, to show wind-up before the crossing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955666"/>
                  </a:ext>
                </a:extLst>
              </a:tr>
              <a:tr h="20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Knee</a:t>
                      </a:r>
                      <a:r>
                        <a:rPr lang="en-US" sz="1600"/>
                        <a:t> (joint)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Peak </a:t>
                      </a:r>
                      <a:r>
                        <a:rPr lang="en-US" sz="1600" b="1"/>
                        <a:t>flexion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 shortens the limb so the foot clears. It matters for both limbs, especially the trailing one.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ROM adds almost nothing here, because the extension end is near zero and ROM is roughly the flexion peak. Keep it only as a column.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783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Thigh</a:t>
                      </a:r>
                      <a:r>
                        <a:rPr lang="en-US" sz="1600"/>
                        <a:t> (segment)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Peak </a:t>
                      </a:r>
                      <a:r>
                        <a:rPr lang="en-US" sz="1600" b="1"/>
                        <a:t>forward tilt</a:t>
                      </a:r>
                      <a:r>
                        <a:rPr lang="en-US" sz="1600"/>
                        <a:t> and peak </a:t>
                      </a:r>
                      <a:r>
                        <a:rPr lang="en-US" sz="1600" b="1"/>
                        <a:t>backward tilt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Forward tilt is the lift. Backward tilt shows whether a bigger trailing-thigh ROM comes from a wind-up.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ROM as a column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608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Shank</a:t>
                      </a:r>
                      <a:r>
                        <a:rPr lang="en-US" sz="1600"/>
                        <a:t> (segment)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ROM</a:t>
                      </a:r>
                      <a:r>
                        <a:rPr lang="en-US" sz="1600"/>
                        <a:t>, plus the </a:t>
                      </a:r>
                      <a:r>
                        <a:rPr lang="en-US" sz="1600" b="1"/>
                        <a:t>backward</a:t>
                      </a:r>
                      <a:r>
                        <a:rPr lang="en-US" sz="1600"/>
                        <a:t> peak (heel up)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The trailing-limb kick-up is where the shank responded most. ROM gives an offset-free summary.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Forward peak (reach), for the leading limb’s landing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5385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730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EF7585-7C5A-D23D-134E-B58EECA66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628370"/>
              </p:ext>
            </p:extLst>
          </p:nvPr>
        </p:nvGraphicFramePr>
        <p:xfrm>
          <a:off x="881796" y="540636"/>
          <a:ext cx="10057385" cy="43513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1248">
                  <a:extLst>
                    <a:ext uri="{9D8B030D-6E8A-4147-A177-3AD203B41FA5}">
                      <a16:colId xmlns:a16="http://schemas.microsoft.com/office/drawing/2014/main" val="262806189"/>
                    </a:ext>
                  </a:extLst>
                </a:gridCol>
                <a:gridCol w="2167445">
                  <a:extLst>
                    <a:ext uri="{9D8B030D-6E8A-4147-A177-3AD203B41FA5}">
                      <a16:colId xmlns:a16="http://schemas.microsoft.com/office/drawing/2014/main" val="78735960"/>
                    </a:ext>
                  </a:extLst>
                </a:gridCol>
                <a:gridCol w="1337476">
                  <a:extLst>
                    <a:ext uri="{9D8B030D-6E8A-4147-A177-3AD203B41FA5}">
                      <a16:colId xmlns:a16="http://schemas.microsoft.com/office/drawing/2014/main" val="846510296"/>
                    </a:ext>
                  </a:extLst>
                </a:gridCol>
                <a:gridCol w="3691216">
                  <a:extLst>
                    <a:ext uri="{9D8B030D-6E8A-4147-A177-3AD203B41FA5}">
                      <a16:colId xmlns:a16="http://schemas.microsoft.com/office/drawing/2014/main" val="2070662820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named peak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signal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extremum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notes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355134520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Hip peak flexion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hip_flexion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min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flexion is negative here (confirmed: thigh forward-tilt max ↔ hip min)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4131890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Hip peak extension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hip_flexion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max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75613394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Knee peak flexion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knee_angle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min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53039377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Ankle dorsiflexion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ankle_angle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max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57580643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Ankle plantarflexion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ankle_angle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min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17580264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Thigh forward tilt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Thigh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max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+68° @ mid-swing ✓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75472634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Thigh backward tilt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Thigh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min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605310496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Shank backward (heel up)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Shank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min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early swing ✓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64771242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Shank forward (reach)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Shank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max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late swing ✓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7026306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Foot toe-down / toe-up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Foot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min / max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I’ll flag foot to verify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116981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973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505</Words>
  <Application>Microsoft Office PowerPoint</Application>
  <PresentationFormat>Widescreen</PresentationFormat>
  <Paragraphs>113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Ehsan Sharafian Moghaddam</dc:creator>
  <cp:lastModifiedBy>Ehsan Sharafian Moghaddam</cp:lastModifiedBy>
  <cp:revision>17</cp:revision>
  <dcterms:created xsi:type="dcterms:W3CDTF">2026-10-19T19:04:33Z</dcterms:created>
  <dcterms:modified xsi:type="dcterms:W3CDTF">2026-10-21T23:18:54Z</dcterms:modified>
</cp:coreProperties>
</file>